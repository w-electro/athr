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ماسح ذكي يعمل بنموذج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إلى النقش الصخري، فيتعرف عليه الماسح بعينه، ويروي له قصته بصوت مسموع وبلغته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عامة عند المدخل، فيسمي النقش الذي أمامك من بين مئات النقوش على الصخرة الواحدة</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يعمل كاملا داخل المتصفح بحجم 22 ميغابايت، ويتعلم من تصحيح السائح على جهازه فيصيب في المسح التالي</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لكل بديل حد يقف عنده، فاللافتة عامة، والمرشد يحتاج إلى 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201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بنقوش جبة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لا ميزة مضافة إليه، فلا منتج دون النموذج، ونموذج الرؤية DINOv3 من Meta مفتوح المصدر، تعلم أشكال الأشياء من ملايين الصور دون وسم بشري</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فأمام السائح صخرة لا نص، والموقع بلا تغطية، فاخترنا نموذجا يعمل داخل الجهاز لا على السحابة، وبنينا فوقه طبقة القرار: فهرس بصمات من الميدان، وسلم قص يعالج اختلاف الإطار، وحكم يقول لا أعرف بدل أن يخمن</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 السائح على جهازه فيتحسن كلما استعمل، ونوظف الذكاء الاصطناعي مرة ثانية في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لكن السائح يقف أمام الصخرة فلا يعرف ما أمامه ولا كم عمره، ولا تغطية للشبكة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جبة والشويمس من داخل المملكة وخارجها،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وبكل لغة، وموقع في الصحراء المفتوحة، فكل حل يعتمد على السحابة يتوقف هناك، وكل حل بلغة واحدة لا يخدم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أن يفهم ما أمامه بلغته وبصوت مسموع، وللجهة المشغلة تجربة سائح أفضل دون أي تكلفة تشغيل ولا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933459" y="4498848"/>
            <a:ext cx="2480996"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933459"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9043187"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6214720" y="4498848"/>
            <a:ext cx="2480996"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6214720" y="4645152"/>
            <a:ext cx="2480996"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20" name="Text 12"/>
          <p:cNvSpPr/>
          <p:nvPr/>
        </p:nvSpPr>
        <p:spPr>
          <a:xfrm>
            <a:off x="632444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إجابة خاطئة على 175</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صورة من خارج الفهرس</a:t>
            </a:r>
            <a:endParaRPr lang="en-US" sz="1100" dirty="0"/>
          </a:p>
        </p:txBody>
      </p:sp>
      <p:sp>
        <p:nvSpPr>
          <p:cNvPr id="21" name="Shape 13"/>
          <p:cNvSpPr/>
          <p:nvPr/>
        </p:nvSpPr>
        <p:spPr>
          <a:xfrm>
            <a:off x="3495980" y="4498848"/>
            <a:ext cx="2480996"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349598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3" name="Text 15"/>
          <p:cNvSpPr/>
          <p:nvPr/>
        </p:nvSpPr>
        <p:spPr>
          <a:xfrm>
            <a:off x="360570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4" name="Shape 16"/>
          <p:cNvSpPr/>
          <p:nvPr/>
        </p:nvSpPr>
        <p:spPr>
          <a:xfrm>
            <a:off x="777240" y="4498848"/>
            <a:ext cx="2480996" cy="1225296"/>
          </a:xfrm>
          <a:prstGeom prst="roundRect">
            <a:avLst>
              <a:gd name="adj" fmla="val 5970"/>
            </a:avLst>
          </a:prstGeom>
          <a:solidFill>
            <a:srgbClr val="EEF3F9"/>
          </a:solidFill>
          <a:ln w="9525">
            <a:solidFill>
              <a:srgbClr val="D9E2EC"/>
            </a:solidFill>
            <a:prstDash val="solid"/>
          </a:ln>
        </p:spPr>
      </p:sp>
      <p:sp>
        <p:nvSpPr>
          <p:cNvPr id="25" name="Text 17"/>
          <p:cNvSpPr/>
          <p:nvPr/>
        </p:nvSpPr>
        <p:spPr>
          <a:xfrm>
            <a:off x="777240" y="4645152"/>
            <a:ext cx="2480996"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6" name="Text 18"/>
          <p:cNvSpPr/>
          <p:nvPr/>
        </p:nvSpPr>
        <p:spPr>
          <a:xfrm>
            <a:off x="886968" y="5230368"/>
            <a:ext cx="2261540"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7" name="Text 19"/>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ولن نخترع ترجمة لا نملك أصلها الموثق، فنعرض الآن جدول الحروف الرسمي ليقارن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4"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6"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تريد الوصول إلى السائح</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والتطبيق مجاني له دائما</a:t>
            </a:r>
            <a:endParaRPr lang="en-US" sz="1250" dirty="0"/>
          </a:p>
        </p:txBody>
      </p:sp>
      <p:sp>
        <p:nvSpPr>
          <p:cNvPr id="7"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9"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شركاء محليون ندرج مواقعهم في مسار رحلتي برسوم محددة، فالسائح يجوع بعد ساعتين في الموقع، والمطعم يريد أن يصل إليه</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وترخيص سنوي للجهة المشغلة عن كل موقع، ورسوم إعداد لكل موقع جديد، ونسخة بيضاء لمتاحف أخرى</a:t>
            </a:r>
            <a:endParaRPr lang="en-US" sz="1250" dirty="0"/>
          </a:p>
        </p:txBody>
      </p:sp>
      <p:sp>
        <p:nvSpPr>
          <p:cNvPr id="10"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2"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لا يكلفنا السائح الإضافي شيئا، فلا خوادم ولا واجهات برمجية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3"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4"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التعرف والصوت والمحتوى كلها داخل جهاز السائح لا على خادم نملكه</a:t>
            </a:r>
            <a:endParaRPr lang="en-US" sz="1450" dirty="0"/>
          </a:p>
        </p:txBody>
      </p:sp>
      <p:sp>
        <p:nvSpPr>
          <p:cNvPr id="15" name="Shape 12"/>
          <p:cNvSpPr/>
          <p:nvPr/>
        </p:nvSpPr>
        <p:spPr>
          <a:xfrm>
            <a:off x="9037015" y="5138928"/>
            <a:ext cx="2377440" cy="1225296"/>
          </a:xfrm>
          <a:prstGeom prst="roundRect">
            <a:avLst>
              <a:gd name="adj" fmla="val 5970"/>
            </a:avLst>
          </a:prstGeom>
          <a:solidFill>
            <a:srgbClr val="EEF3F9"/>
          </a:solidFill>
          <a:ln w="9525">
            <a:solidFill>
              <a:srgbClr val="D9E2EC"/>
            </a:solidFill>
            <a:prstDash val="solid"/>
          </a:ln>
        </p:spPr>
      </p:sp>
      <p:sp>
        <p:nvSpPr>
          <p:cNvPr id="16" name="Text 13"/>
          <p:cNvSpPr/>
          <p:nvPr/>
        </p:nvSpPr>
        <p:spPr>
          <a:xfrm>
            <a:off x="9037015" y="5285232"/>
            <a:ext cx="237744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7" name="Text 14"/>
          <p:cNvSpPr/>
          <p:nvPr/>
        </p:nvSpPr>
        <p:spPr>
          <a:xfrm>
            <a:off x="9146743" y="5870448"/>
            <a:ext cx="215798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8" name="Shape 15"/>
          <p:cNvSpPr/>
          <p:nvPr/>
        </p:nvSpPr>
        <p:spPr>
          <a:xfrm>
            <a:off x="777240" y="5138928"/>
            <a:ext cx="8022031" cy="1225296"/>
          </a:xfrm>
          <a:prstGeom prst="roundRect">
            <a:avLst>
              <a:gd name="adj" fmla="val 5970"/>
            </a:avLst>
          </a:prstGeom>
          <a:solidFill>
            <a:srgbClr val="E9E2FB"/>
          </a:solidFill>
          <a:ln w="9525">
            <a:solidFill>
              <a:srgbClr val="D9E2EC"/>
            </a:solidFill>
            <a:prstDash val="solid"/>
          </a:ln>
        </p:spPr>
      </p:sp>
      <p:sp>
        <p:nvSpPr>
          <p:cNvPr id="19" name="Text 16"/>
          <p:cNvSpPr/>
          <p:nvPr/>
        </p:nvSpPr>
        <p:spPr>
          <a:xfrm>
            <a:off x="1051560" y="5266944"/>
            <a:ext cx="7473391" cy="310896"/>
          </a:xfrm>
          <a:prstGeom prst="rect">
            <a:avLst/>
          </a:prstGeom>
          <a:noFill/>
          <a:ln/>
        </p:spPr>
        <p:txBody>
          <a:bodyPr wrap="square" lIns="0" tIns="0" rIns="0" bIns="0" rtlCol="0" anchor="ctr"/>
          <a:lstStyle/>
          <a:p>
            <a:pPr rtl="1" algn="r" indent="0" marL="0">
              <a:buNone/>
            </a:pPr>
            <a:r>
              <a:rPr lang="en-US" sz="1400" b="1" dirty="0">
                <a:solidFill>
                  <a:srgbClr val="4B2E9E"/>
                </a:solidFill>
                <a:latin typeface="Tajawal" pitchFamily="34" charset="0"/>
                <a:ea typeface="Tajawal" pitchFamily="34" charset="-122"/>
                <a:cs typeface="Tajawal" pitchFamily="34" charset="-120"/>
              </a:rPr>
              <a:t>مصدر دخل مبتكر: ختم الرحلة</a:t>
            </a:r>
            <a:endParaRPr lang="en-US" sz="1400" dirty="0"/>
          </a:p>
        </p:txBody>
      </p:sp>
      <p:sp>
        <p:nvSpPr>
          <p:cNvPr id="20" name="Text 17"/>
          <p:cNvSpPr/>
          <p:nvPr/>
        </p:nvSpPr>
        <p:spPr>
          <a:xfrm>
            <a:off x="1051560" y="5614416"/>
            <a:ext cx="7473391" cy="640080"/>
          </a:xfrm>
          <a:prstGeom prst="rect">
            <a:avLst/>
          </a:prstGeom>
          <a:noFill/>
          <a:ln/>
        </p:spPr>
        <p:txBody>
          <a:bodyPr wrap="square" lIns="0" tIns="0" rIns="0" bIns="0" rtlCol="0" anchor="t"/>
          <a:lstStyle/>
          <a:p>
            <a:pPr rtl="1" algn="r" indent="0" marL="0">
              <a:lnSpc>
                <a:spcPts val="1900"/>
              </a:lnSpc>
              <a:buNone/>
            </a:pPr>
            <a:r>
              <a:rPr lang="en-US" sz="1250" dirty="0">
                <a:solidFill>
                  <a:srgbClr val="4B5B6E"/>
                </a:solidFill>
                <a:latin typeface="Tajawal" pitchFamily="34" charset="0"/>
                <a:ea typeface="Tajawal" pitchFamily="34" charset="-122"/>
                <a:cs typeface="Tajawal" pitchFamily="34" charset="-120"/>
              </a:rPr>
              <a:t>حين يمسح السائح النقش يثبت وجوده في الموقع، فيحصل على خصم في أقرب مقهى أو مطعم شريك، ويدفع الشريك عمولة عن كل زيارة مؤكدة لا عن إعلان قد لا يراه أحد</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لم ندرب النموذج على جبة، فهو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تغير البرمجة، بل تحتاج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فكل تصحيح من سائح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أو موقع تراثي</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2026-09-30T06:37:52Z</dcterms:created>
  <dcterms:modified xsi:type="dcterms:W3CDTF">2026-09-30T06:37:52Z</dcterms:modified>
</cp:coreProperties>
</file>