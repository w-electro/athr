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بدون 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الماسح الذكي المبني على 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على النقش الصخري، فيتعرف الماسح على النقش بعينه، ويروي قصته مسموعة 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عند المدخل: يسمي النقش الذي أمامك من بين مئات النقوش على الجدار الواحد.</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كله داخل المتصفح،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كل بديل يقف عند حد: اللافتة عامة، والمرشد بموعد،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201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بلا النموذج لا يوجد منتج: التعرف على النقش هو المنتج نفسه لا ميزة مضافة إليه. ونموذج الرؤية DINOv3 من Meta، مفتوح المصدر، تعلم أشكال الأشياء من ملايين الصور بلا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صخرة أمام السائح. والموقع بلا تغطية، فاخترنا نموذجا يعمل داخل الجهاز لا واجهة سحابية. وبنينا فوقه طبقة القرار: فهرس بصمات ميداني،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بالاستعمال. وتوظيف ثان للذكاء الاصطناعي: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والسائح يقف أمام الصخرة فلا يعرف ما أمامه ولا كم عمره. ولا تغطية 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ولغة، وموقع في الصحراء المفتوحة: كل حل يعتمد على السحابة يسقط هناك، وكل حل بلغة واحدة يترك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يعرف ما أمامه بلغته وبصوت. وللجهة المشغلة: تجربة سائح أفضل بصفر تكلفة تشغيل، ودون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933459" y="4498848"/>
            <a:ext cx="2480996"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933459"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9043187"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6214720" y="4498848"/>
            <a:ext cx="2480996"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6214720" y="4645152"/>
            <a:ext cx="2480996"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20" name="Text 12"/>
          <p:cNvSpPr/>
          <p:nvPr/>
        </p:nvSpPr>
        <p:spPr>
          <a:xfrm>
            <a:off x="632444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إجابة خاطئة على 175</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صورة من خارج الفهرس</a:t>
            </a:r>
            <a:endParaRPr lang="en-US" sz="1100" dirty="0"/>
          </a:p>
        </p:txBody>
      </p:sp>
      <p:sp>
        <p:nvSpPr>
          <p:cNvPr id="21" name="Shape 13"/>
          <p:cNvSpPr/>
          <p:nvPr/>
        </p:nvSpPr>
        <p:spPr>
          <a:xfrm>
            <a:off x="3495980" y="4498848"/>
            <a:ext cx="2480996"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349598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3" name="Text 15"/>
          <p:cNvSpPr/>
          <p:nvPr/>
        </p:nvSpPr>
        <p:spPr>
          <a:xfrm>
            <a:off x="360570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4" name="Shape 16"/>
          <p:cNvSpPr/>
          <p:nvPr/>
        </p:nvSpPr>
        <p:spPr>
          <a:xfrm>
            <a:off x="777240" y="4498848"/>
            <a:ext cx="2480996" cy="1225296"/>
          </a:xfrm>
          <a:prstGeom prst="roundRect">
            <a:avLst>
              <a:gd name="adj" fmla="val 5970"/>
            </a:avLst>
          </a:prstGeom>
          <a:solidFill>
            <a:srgbClr val="EEF3F9"/>
          </a:solidFill>
          <a:ln w="9525">
            <a:solidFill>
              <a:srgbClr val="D9E2EC"/>
            </a:solidFill>
            <a:prstDash val="solid"/>
          </a:ln>
        </p:spPr>
      </p:sp>
      <p:sp>
        <p:nvSpPr>
          <p:cNvPr id="25" name="Text 17"/>
          <p:cNvSpPr/>
          <p:nvPr/>
        </p:nvSpPr>
        <p:spPr>
          <a:xfrm>
            <a:off x="77724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6" name="Text 18"/>
          <p:cNvSpPr/>
          <p:nvPr/>
        </p:nvSpPr>
        <p:spPr>
          <a:xfrm>
            <a:off x="88696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7" name="Text 19"/>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وقراءة النقوش الثمودية قيد التطوير: لا نخترع ترجمة لا نملك أصلها الموثق، ونعرض الآن جدول الحروف الرسمي ليطابق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4" name="Shape 1"/>
          <p:cNvSpPr/>
          <p:nvPr/>
        </p:nvSpPr>
        <p:spPr>
          <a:xfrm>
            <a:off x="8027213" y="1234440"/>
            <a:ext cx="3387242" cy="2487168"/>
          </a:xfrm>
          <a:prstGeom prst="roundRect">
            <a:avLst>
              <a:gd name="adj" fmla="val 2941"/>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6" name="Text 3"/>
          <p:cNvSpPr/>
          <p:nvPr/>
        </p:nvSpPr>
        <p:spPr>
          <a:xfrm>
            <a:off x="8264957" y="1801368"/>
            <a:ext cx="2911754" cy="1737360"/>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تريد الوصول إلى السائح.</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7" name="Shape 4"/>
          <p:cNvSpPr/>
          <p:nvPr/>
        </p:nvSpPr>
        <p:spPr>
          <a:xfrm>
            <a:off x="4402226" y="1234440"/>
            <a:ext cx="3387242" cy="2487168"/>
          </a:xfrm>
          <a:prstGeom prst="roundRect">
            <a:avLst>
              <a:gd name="adj" fmla="val 2941"/>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9" name="Text 6"/>
          <p:cNvSpPr/>
          <p:nvPr/>
        </p:nvSpPr>
        <p:spPr>
          <a:xfrm>
            <a:off x="4639970" y="1801368"/>
            <a:ext cx="2911754" cy="1737360"/>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شركاء محليون: ندرج مواقعهم في مسار رحلتي برسم سنوي. السائح جائع بعد ساعتين في الموقع، والمطعم يريد أن يصل إليه.</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وترخيص سنوي للجهة المشغلة عن كل موقع، ورسوم إعداد لكل موقع جديد، ونسخة بيضاء لمتاحف أخرى.</a:t>
            </a:r>
            <a:endParaRPr lang="en-US" sz="1250" dirty="0"/>
          </a:p>
        </p:txBody>
      </p:sp>
      <p:sp>
        <p:nvSpPr>
          <p:cNvPr id="10" name="Shape 7"/>
          <p:cNvSpPr/>
          <p:nvPr/>
        </p:nvSpPr>
        <p:spPr>
          <a:xfrm>
            <a:off x="777240" y="1234440"/>
            <a:ext cx="3387242" cy="2487168"/>
          </a:xfrm>
          <a:prstGeom prst="roundRect">
            <a:avLst>
              <a:gd name="adj" fmla="val 2941"/>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2" name="Text 9"/>
          <p:cNvSpPr/>
          <p:nvPr/>
        </p:nvSpPr>
        <p:spPr>
          <a:xfrm>
            <a:off x="1014984" y="1801368"/>
            <a:ext cx="2911754" cy="1737360"/>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التكلفة الحدية للسائح الإضافي صفر: لا خوادم ولا واجهات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3" name="Shape 10"/>
          <p:cNvSpPr/>
          <p:nvPr/>
        </p:nvSpPr>
        <p:spPr>
          <a:xfrm>
            <a:off x="777240" y="3950208"/>
            <a:ext cx="10637215" cy="841248"/>
          </a:xfrm>
          <a:prstGeom prst="roundRect">
            <a:avLst>
              <a:gd name="adj" fmla="val 8696"/>
            </a:avLst>
          </a:prstGeom>
          <a:solidFill>
            <a:srgbClr val="E9E2FB"/>
          </a:solidFill>
          <a:ln w="9525">
            <a:solidFill>
              <a:srgbClr val="D9E2EC"/>
            </a:solidFill>
            <a:prstDash val="solid"/>
          </a:ln>
        </p:spPr>
      </p:sp>
      <p:sp>
        <p:nvSpPr>
          <p:cNvPr id="14" name="Text 11"/>
          <p:cNvSpPr/>
          <p:nvPr/>
        </p:nvSpPr>
        <p:spPr>
          <a:xfrm>
            <a:off x="1088136" y="4169664"/>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وسائح مليون سواء في الكلفة — لأن التعرف والصوت والمحتوى كلها داخل جهاز السائح، لا على خادم نملكه.</a:t>
            </a:r>
            <a:endParaRPr lang="en-US" sz="1450" dirty="0"/>
          </a:p>
        </p:txBody>
      </p:sp>
      <p:sp>
        <p:nvSpPr>
          <p:cNvPr id="15" name="Shape 12"/>
          <p:cNvSpPr/>
          <p:nvPr/>
        </p:nvSpPr>
        <p:spPr>
          <a:xfrm>
            <a:off x="9037015" y="4992624"/>
            <a:ext cx="2377440" cy="1225296"/>
          </a:xfrm>
          <a:prstGeom prst="roundRect">
            <a:avLst>
              <a:gd name="adj" fmla="val 5970"/>
            </a:avLst>
          </a:prstGeom>
          <a:solidFill>
            <a:srgbClr val="EEF3F9"/>
          </a:solidFill>
          <a:ln w="9525">
            <a:solidFill>
              <a:srgbClr val="D9E2EC"/>
            </a:solidFill>
            <a:prstDash val="solid"/>
          </a:ln>
        </p:spPr>
      </p:sp>
      <p:sp>
        <p:nvSpPr>
          <p:cNvPr id="16" name="Text 13"/>
          <p:cNvSpPr/>
          <p:nvPr/>
        </p:nvSpPr>
        <p:spPr>
          <a:xfrm>
            <a:off x="9037015" y="5138928"/>
            <a:ext cx="237744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7" name="Text 14"/>
          <p:cNvSpPr/>
          <p:nvPr/>
        </p:nvSpPr>
        <p:spPr>
          <a:xfrm>
            <a:off x="9146743" y="5724144"/>
            <a:ext cx="215798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8" name="Shape 15"/>
          <p:cNvSpPr/>
          <p:nvPr/>
        </p:nvSpPr>
        <p:spPr>
          <a:xfrm>
            <a:off x="777240" y="4992624"/>
            <a:ext cx="8022031" cy="1225296"/>
          </a:xfrm>
          <a:prstGeom prst="roundRect">
            <a:avLst>
              <a:gd name="adj" fmla="val 5970"/>
            </a:avLst>
          </a:prstGeom>
          <a:solidFill>
            <a:srgbClr val="E9E2FB"/>
          </a:solidFill>
          <a:ln w="9525">
            <a:solidFill>
              <a:srgbClr val="D9E2EC"/>
            </a:solidFill>
            <a:prstDash val="solid"/>
          </a:ln>
        </p:spPr>
      </p:sp>
      <p:sp>
        <p:nvSpPr>
          <p:cNvPr id="19" name="Text 16"/>
          <p:cNvSpPr/>
          <p:nvPr/>
        </p:nvSpPr>
        <p:spPr>
          <a:xfrm>
            <a:off x="1051560" y="5120640"/>
            <a:ext cx="7473391" cy="310896"/>
          </a:xfrm>
          <a:prstGeom prst="rect">
            <a:avLst/>
          </a:prstGeom>
          <a:noFill/>
          <a:ln/>
        </p:spPr>
        <p:txBody>
          <a:bodyPr wrap="square" lIns="0" tIns="0" rIns="0" bIns="0" rtlCol="0" anchor="ctr"/>
          <a:lstStyle/>
          <a:p>
            <a:pPr rtl="1" algn="r" indent="0" marL="0">
              <a:buNone/>
            </a:pPr>
            <a:r>
              <a:rPr lang="en-US" sz="1400" b="1" dirty="0">
                <a:solidFill>
                  <a:srgbClr val="4B2E9E"/>
                </a:solidFill>
                <a:latin typeface="Tajawal" pitchFamily="34" charset="0"/>
                <a:ea typeface="Tajawal" pitchFamily="34" charset="-122"/>
                <a:cs typeface="Tajawal" pitchFamily="34" charset="-120"/>
              </a:rPr>
              <a:t>دخل مبتكر: ختم الرحلة</a:t>
            </a:r>
            <a:endParaRPr lang="en-US" sz="1400" dirty="0"/>
          </a:p>
        </p:txBody>
      </p:sp>
      <p:sp>
        <p:nvSpPr>
          <p:cNvPr id="20" name="Text 17"/>
          <p:cNvSpPr/>
          <p:nvPr/>
        </p:nvSpPr>
        <p:spPr>
          <a:xfrm>
            <a:off x="1051560" y="5468112"/>
            <a:ext cx="7473391" cy="640080"/>
          </a:xfrm>
          <a:prstGeom prst="rect">
            <a:avLst/>
          </a:prstGeom>
          <a:noFill/>
          <a:ln/>
        </p:spPr>
        <p:txBody>
          <a:bodyPr wrap="square" lIns="0" tIns="0" rIns="0" bIns="0" rtlCol="0" anchor="t"/>
          <a:lstStyle/>
          <a:p>
            <a:pPr rtl="1" algn="r" indent="0" marL="0">
              <a:lnSpc>
                <a:spcPts val="1900"/>
              </a:lnSpc>
              <a:buNone/>
            </a:pPr>
            <a:r>
              <a:rPr lang="en-US" sz="1250" dirty="0">
                <a:solidFill>
                  <a:srgbClr val="4B5B6E"/>
                </a:solidFill>
                <a:latin typeface="Tajawal" pitchFamily="34" charset="0"/>
                <a:ea typeface="Tajawal" pitchFamily="34" charset="-122"/>
                <a:cs typeface="Tajawal" pitchFamily="34" charset="-120"/>
              </a:rPr>
              <a:t>مسح النقش يثبت أن السائح وقف في الموقع فعلا، فيفتح له خصما عند أقرب مقهى أو مطعم شريك. والشريك يدفع عمولة عن كل زيارة مثبتة، لا عن إعلان قد لا يراه أحد.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لم ندربه على جبة، فهو لا يعرفها أكثر مما سيعرف غيرها.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تمس الشيفرة: مجلد صور جديد، وإعادة تشغيل بناء الفهرس.</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كل سائح يصحح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أو موقع تراثي.</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2026-09-30T06:30:30Z</dcterms:created>
  <dcterms:modified xsi:type="dcterms:W3CDTF">2026-09-30T06:30:30Z</dcterms:modified>
</cp:coreProperties>
</file>