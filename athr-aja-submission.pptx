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rtl="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النسخة البيضاء: نبيع التطبيق نفسه لمتحف أو جهة تراثية أخرى، فننشره باسمها وشعارها ونقوشها وقصصها، ولا يرى السائح اسم أثر. والجهة تدفع لنا البناء والإعداد، ونحن لا نبني تطبيقا جديدا في كل مرة.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e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1.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eg"/><Relationship Id="rId2" Type="http://schemas.openxmlformats.org/officeDocument/2006/relationships/image" Target="../media/image-2-2.jpeg"/><Relationship Id="rId3" Type="http://schemas.openxmlformats.org/officeDocument/2006/relationships/image" Target="../media/image-2-3.jpeg"/><Relationship Id="rId4" Type="http://schemas.openxmlformats.org/officeDocument/2006/relationships/slideLayout" Target="../slideLayouts/slideLayout1.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e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e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e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eg"/><Relationship Id="rId2" Type="http://schemas.openxmlformats.org/officeDocument/2006/relationships/image" Target="../media/image-6-2.jpeg"/><Relationship Id="rId3" Type="http://schemas.openxmlformats.org/officeDocument/2006/relationships/image" Target="../media/image-6-3.jpeg"/><Relationship Id="rId4" Type="http://schemas.openxmlformats.org/officeDocument/2006/relationships/slideLayout" Target="../slideLayouts/slideLayout1.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e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e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slideLayout" Target="../slideLayouts/slideLayout1.xml"/><Relationship Id="rId7"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e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eg"/><Relationship Id="rId2" Type="http://schemas.openxmlformats.org/officeDocument/2006/relationships/image" Target="../media/image-10-2.jpeg"/><Relationship Id="rId3" Type="http://schemas.openxmlformats.org/officeDocument/2006/relationships/image" Target="../media/image-10-3.jpeg"/><Relationship Id="rId4" Type="http://schemas.openxmlformats.org/officeDocument/2006/relationships/image" Target="../media/image-10-4.jpeg"/><Relationship Id="rId5" Type="http://schemas.openxmlformats.org/officeDocument/2006/relationships/image" Target="../media/image-10-5.jpeg"/><Relationship Id="rId6" Type="http://schemas.openxmlformats.org/officeDocument/2006/relationships/image" Target="../media/image-10-6.jpeg"/><Relationship Id="rId7" Type="http://schemas.openxmlformats.org/officeDocument/2006/relationships/slideLayout" Target="../slideLayouts/slideLayout1.xml"/><Relationship Id="rId8"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e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e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e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jpeg"/><Relationship Id="rId2" Type="http://schemas.openxmlformats.org/officeDocument/2006/relationships/image" Target="../media/image-14-2.jpeg"/><Relationship Id="rId3" Type="http://schemas.openxmlformats.org/officeDocument/2006/relationships/image" Target="../media/image-14-3.jpeg"/><Relationship Id="rId4" Type="http://schemas.openxmlformats.org/officeDocument/2006/relationships/image" Target="../media/image-14-4.jpeg"/><Relationship Id="rId5" Type="http://schemas.openxmlformats.org/officeDocument/2006/relationships/image" Target="../media/image-14-5.jpeg"/><Relationship Id="rId6" Type="http://schemas.openxmlformats.org/officeDocument/2006/relationships/slideLayout" Target="../slideLayouts/slideLayout1.xml"/><Relationship Id="rId7"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jpe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slideLayout" Target="../slideLayouts/slideLayout1.xml"/><Relationship Id="rId5"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61223"/>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6858000"/>
          </a:xfrm>
          <a:prstGeom prst="rect">
            <a:avLst/>
          </a:prstGeom>
        </p:spPr>
      </p:pic>
      <p:pic>
        <p:nvPicPr>
          <p:cNvPr id="3" name="Image 1" descr="preencoded.png">    </p:cNvPr>
          <p:cNvPicPr>
            <a:picLocks noChangeAspect="1"/>
          </p:cNvPicPr>
          <p:nvPr/>
        </p:nvPicPr>
        <p:blipFill>
          <a:blip r:embed="rId2"/>
          <a:stretch>
            <a:fillRect/>
          </a:stretch>
        </p:blipFill>
        <p:spPr>
          <a:xfrm>
            <a:off x="457200" y="384048"/>
            <a:ext cx="1371600" cy="512064"/>
          </a:xfrm>
          <a:prstGeom prst="rect">
            <a:avLst/>
          </a:prstGeom>
        </p:spPr>
      </p:pic>
      <p:pic>
        <p:nvPicPr>
          <p:cNvPr id="4" name="Image 2" descr="preencoded.png">    </p:cNvPr>
          <p:cNvPicPr>
            <a:picLocks noChangeAspect="1"/>
          </p:cNvPicPr>
          <p:nvPr/>
        </p:nvPicPr>
        <p:blipFill>
          <a:blip r:embed="rId3"/>
          <a:stretch>
            <a:fillRect/>
          </a:stretch>
        </p:blipFill>
        <p:spPr>
          <a:xfrm>
            <a:off x="10591495" y="320040"/>
            <a:ext cx="1143000" cy="1124712"/>
          </a:xfrm>
          <a:prstGeom prst="rect">
            <a:avLst/>
          </a:prstGeom>
        </p:spPr>
      </p:pic>
      <p:sp>
        <p:nvSpPr>
          <p:cNvPr id="5" name="Text 0"/>
          <p:cNvSpPr/>
          <p:nvPr/>
        </p:nvSpPr>
        <p:spPr>
          <a:xfrm>
            <a:off x="6205576" y="2697480"/>
            <a:ext cx="2103120" cy="822960"/>
          </a:xfrm>
          <a:prstGeom prst="rect">
            <a:avLst/>
          </a:prstGeom>
          <a:noFill/>
          <a:ln/>
        </p:spPr>
        <p:txBody>
          <a:bodyPr wrap="square" lIns="0" tIns="0" rIns="0" bIns="0" rtlCol="0" anchor="ctr"/>
          <a:lstStyle/>
          <a:p>
            <a:pPr rtl="1" algn="r" indent="0" marL="0">
              <a:buNone/>
            </a:pPr>
            <a:r>
              <a:rPr lang="en-US" sz="4000" b="1" dirty="0">
                <a:solidFill>
                  <a:srgbClr val="FFFFFF"/>
                </a:solidFill>
                <a:latin typeface="Tajawal" pitchFamily="34" charset="0"/>
                <a:ea typeface="Tajawal" pitchFamily="34" charset="-122"/>
                <a:cs typeface="Tajawal" pitchFamily="34" charset="-120"/>
              </a:rPr>
              <a:t>هاكاثون</a:t>
            </a:r>
            <a:endParaRPr lang="en-US" sz="4000" dirty="0"/>
          </a:p>
        </p:txBody>
      </p:sp>
      <p:sp>
        <p:nvSpPr>
          <p:cNvPr id="6" name="Text 1"/>
          <p:cNvSpPr/>
          <p:nvPr/>
        </p:nvSpPr>
        <p:spPr>
          <a:xfrm>
            <a:off x="3883000" y="2724912"/>
            <a:ext cx="2103120" cy="777240"/>
          </a:xfrm>
          <a:prstGeom prst="rect">
            <a:avLst/>
          </a:prstGeom>
          <a:noFill/>
          <a:ln/>
        </p:spPr>
        <p:txBody>
          <a:bodyPr wrap="square" lIns="0" tIns="0" rIns="0" bIns="0" rtlCol="0" anchor="ctr"/>
          <a:lstStyle/>
          <a:p>
            <a:pPr algn="l" indent="0" marL="0">
              <a:buNone/>
            </a:pPr>
            <a:r>
              <a:rPr lang="en-US" sz="4000" b="1" spc="600" kern="0" dirty="0">
                <a:solidFill>
                  <a:srgbClr val="FFFFFF"/>
                </a:solidFill>
                <a:latin typeface="Calibri" pitchFamily="34" charset="0"/>
                <a:ea typeface="Calibri" pitchFamily="34" charset="-122"/>
                <a:cs typeface="Calibri" pitchFamily="34" charset="-120"/>
              </a:rPr>
              <a:t>AJA AI</a:t>
            </a:r>
            <a:endParaRPr lang="en-US" sz="4000" dirty="0"/>
          </a:p>
        </p:txBody>
      </p:sp>
      <p:sp>
        <p:nvSpPr>
          <p:cNvPr id="7" name="Shape 2"/>
          <p:cNvSpPr/>
          <p:nvPr/>
        </p:nvSpPr>
        <p:spPr>
          <a:xfrm>
            <a:off x="3883000" y="3895344"/>
            <a:ext cx="1554480" cy="91440"/>
          </a:xfrm>
          <a:prstGeom prst="rect">
            <a:avLst/>
          </a:prstGeom>
          <a:solidFill>
            <a:srgbClr val="8357F6"/>
          </a:solidFill>
          <a:ln w="12700">
            <a:solidFill>
              <a:srgbClr val="333333"/>
            </a:solidFill>
            <a:prstDash val="solid"/>
          </a:ln>
        </p:spPr>
      </p:sp>
      <p:sp>
        <p:nvSpPr>
          <p:cNvPr id="8" name="Text 3"/>
          <p:cNvSpPr/>
          <p:nvPr/>
        </p:nvSpPr>
        <p:spPr>
          <a:xfrm>
            <a:off x="5638648" y="3712464"/>
            <a:ext cx="2670048" cy="457200"/>
          </a:xfrm>
          <a:prstGeom prst="rect">
            <a:avLst/>
          </a:prstGeom>
          <a:noFill/>
          <a:ln/>
        </p:spPr>
        <p:txBody>
          <a:bodyPr wrap="square" lIns="0" tIns="0" rIns="0" bIns="0" rtlCol="0" anchor="ctr"/>
          <a:lstStyle/>
          <a:p>
            <a:pPr rtl="1" algn="r" indent="0" marL="0">
              <a:buNone/>
            </a:pPr>
            <a:r>
              <a:rPr lang="en-US" sz="2100" dirty="0">
                <a:solidFill>
                  <a:srgbClr val="FFFFFF"/>
                </a:solidFill>
                <a:latin typeface="Tajawal" pitchFamily="34" charset="0"/>
                <a:ea typeface="Tajawal" pitchFamily="34" charset="-122"/>
                <a:cs typeface="Tajawal" pitchFamily="34" charset="-120"/>
              </a:rPr>
              <a:t>فريق أثر</a:t>
            </a:r>
            <a:endParaRPr lang="en-US" sz="2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9FAFC"/>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777240" y="548640"/>
            <a:ext cx="10637215" cy="502920"/>
          </a:xfrm>
          <a:prstGeom prst="rect">
            <a:avLst/>
          </a:prstGeom>
          <a:noFill/>
          <a:ln/>
        </p:spPr>
        <p:txBody>
          <a:bodyPr wrap="square" lIns="0" tIns="0" rIns="0" bIns="0" rtlCol="0" anchor="ctr"/>
          <a:lstStyle/>
          <a:p>
            <a:pPr rtl="1" algn="r" indent="0" marL="0">
              <a:buNone/>
            </a:pPr>
            <a:r>
              <a:rPr lang="en-US" sz="2600" b="1" dirty="0">
                <a:solidFill>
                  <a:srgbClr val="255174"/>
                </a:solidFill>
                <a:latin typeface="Tajawal" pitchFamily="34" charset="0"/>
                <a:ea typeface="Tajawal" pitchFamily="34" charset="-122"/>
                <a:cs typeface="Tajawal" pitchFamily="34" charset="-120"/>
              </a:rPr>
              <a:t>نبذة عنا</a:t>
            </a:r>
            <a:endParaRPr lang="en-US" sz="2600" dirty="0"/>
          </a:p>
        </p:txBody>
      </p:sp>
      <p:pic>
        <p:nvPicPr>
          <p:cNvPr id="4" name="Image 1" descr="preencoded.png">    </p:cNvPr>
          <p:cNvPicPr>
            <a:picLocks noChangeAspect="1"/>
          </p:cNvPicPr>
          <p:nvPr/>
        </p:nvPicPr>
        <p:blipFill>
          <a:blip r:embed="rId2"/>
          <a:stretch>
            <a:fillRect/>
          </a:stretch>
        </p:blipFill>
        <p:spPr>
          <a:xfrm>
            <a:off x="777240" y="1371600"/>
            <a:ext cx="1489409" cy="3108960"/>
          </a:xfrm>
          <a:prstGeom prst="rect">
            <a:avLst/>
          </a:prstGeom>
        </p:spPr>
      </p:pic>
      <p:pic>
        <p:nvPicPr>
          <p:cNvPr id="5" name="Image 2" descr="preencoded.png">    </p:cNvPr>
          <p:cNvPicPr>
            <a:picLocks noChangeAspect="1"/>
          </p:cNvPicPr>
          <p:nvPr/>
        </p:nvPicPr>
        <p:blipFill>
          <a:blip r:embed="rId3"/>
          <a:stretch>
            <a:fillRect/>
          </a:stretch>
        </p:blipFill>
        <p:spPr>
          <a:xfrm>
            <a:off x="2540969" y="1371600"/>
            <a:ext cx="1489409" cy="3108960"/>
          </a:xfrm>
          <a:prstGeom prst="rect">
            <a:avLst/>
          </a:prstGeom>
        </p:spPr>
      </p:pic>
      <p:sp>
        <p:nvSpPr>
          <p:cNvPr id="6" name="Text 1"/>
          <p:cNvSpPr/>
          <p:nvPr/>
        </p:nvSpPr>
        <p:spPr>
          <a:xfrm>
            <a:off x="4579017" y="1463040"/>
            <a:ext cx="6835438" cy="2286000"/>
          </a:xfrm>
          <a:prstGeom prst="rect">
            <a:avLst/>
          </a:prstGeom>
          <a:noFill/>
          <a:ln/>
        </p:spPr>
        <p:txBody>
          <a:bodyPr wrap="square" lIns="0" tIns="0" rIns="0" bIns="0" rtlCol="0" anchor="ctr"/>
          <a:lstStyle/>
          <a:p>
            <a:pPr rtl="1" algn="r" indent="0" marL="0">
              <a:lnSpc>
                <a:spcPts val="2700"/>
              </a:lnSpc>
              <a:spcAft>
                <a:spcPts val="1600"/>
              </a:spcAft>
              <a:buNone/>
            </a:pPr>
            <a:r>
              <a:rPr lang="en-US" sz="1500" dirty="0">
                <a:solidFill>
                  <a:srgbClr val="4B5B6E"/>
                </a:solidFill>
                <a:latin typeface="Tajawal" pitchFamily="34" charset="0"/>
                <a:ea typeface="Tajawal" pitchFamily="34" charset="-122"/>
                <a:cs typeface="Tajawal" pitchFamily="34" charset="-120"/>
              </a:rPr>
              <a:t>أثر دليل تراثي ذكي لمنطقة حائل، يعمل دون اتصال بالإنترنت</a:t>
            </a:r>
            <a:endParaRPr lang="en-US" sz="1500" dirty="0"/>
          </a:p>
          <a:p>
            <a:pPr rtl="1" algn="r" indent="0" marL="0">
              <a:lnSpc>
                <a:spcPts val="2700"/>
              </a:lnSpc>
              <a:spcAft>
                <a:spcPts val="1600"/>
              </a:spcAft>
              <a:buNone/>
            </a:pPr>
            <a:r>
              <a:rPr lang="en-US" sz="1500" dirty="0">
                <a:solidFill>
                  <a:srgbClr val="4B5B6E"/>
                </a:solidFill>
                <a:latin typeface="Tajawal" pitchFamily="34" charset="0"/>
                <a:ea typeface="Tajawal" pitchFamily="34" charset="-122"/>
                <a:cs typeface="Tajawal" pitchFamily="34" charset="-120"/>
              </a:rPr>
              <a:t>يرسم مسار رحلة السائح كاملا، ومعه ماسح ذكي يعمل بنموذج DINOv3</a:t>
            </a:r>
            <a:endParaRPr lang="en-US" sz="1500" dirty="0"/>
          </a:p>
          <a:p>
            <a:pPr rtl="1" algn="r" indent="0" marL="0">
              <a:lnSpc>
                <a:spcPts val="2700"/>
              </a:lnSpc>
              <a:spcAft>
                <a:spcPts val="1600"/>
              </a:spcAft>
              <a:buNone/>
            </a:pPr>
            <a:r>
              <a:rPr lang="en-US" sz="1500" dirty="0">
                <a:solidFill>
                  <a:srgbClr val="4B5B6E"/>
                </a:solidFill>
                <a:latin typeface="Tajawal" pitchFamily="34" charset="0"/>
                <a:ea typeface="Tajawal" pitchFamily="34" charset="-122"/>
                <a:cs typeface="Tajawal" pitchFamily="34" charset="-120"/>
              </a:rPr>
              <a:t>يصور السائح النقش، فيسميه الماسح ويروي قصته بلغته</a:t>
            </a:r>
            <a:endParaRPr lang="en-US" sz="1500" dirty="0"/>
          </a:p>
        </p:txBody>
      </p:sp>
      <p:sp>
        <p:nvSpPr>
          <p:cNvPr id="7" name="Shape 2"/>
          <p:cNvSpPr/>
          <p:nvPr/>
        </p:nvSpPr>
        <p:spPr>
          <a:xfrm>
            <a:off x="9282280" y="3950208"/>
            <a:ext cx="2132175" cy="1225296"/>
          </a:xfrm>
          <a:prstGeom prst="roundRect">
            <a:avLst>
              <a:gd name="adj" fmla="val 5970"/>
            </a:avLst>
          </a:prstGeom>
          <a:solidFill>
            <a:srgbClr val="EEF3F9"/>
          </a:solidFill>
          <a:ln w="9525">
            <a:solidFill>
              <a:srgbClr val="D9E2EC"/>
            </a:solidFill>
            <a:prstDash val="solid"/>
          </a:ln>
        </p:spPr>
      </p:sp>
      <p:sp>
        <p:nvSpPr>
          <p:cNvPr id="8" name="Text 3"/>
          <p:cNvSpPr/>
          <p:nvPr/>
        </p:nvSpPr>
        <p:spPr>
          <a:xfrm>
            <a:off x="9282280" y="4096512"/>
            <a:ext cx="2132175" cy="548640"/>
          </a:xfrm>
          <a:prstGeom prst="rect">
            <a:avLst/>
          </a:prstGeom>
          <a:noFill/>
          <a:ln/>
        </p:spPr>
        <p:txBody>
          <a:bodyPr wrap="square" lIns="0" tIns="0" rIns="0" bIns="0" rtlCol="0" anchor="ctr"/>
          <a:lstStyle/>
          <a:p>
            <a:pPr algn="ctr" indent="0" marL="0">
              <a:buNone/>
            </a:pPr>
            <a:r>
              <a:rPr lang="en-US" sz="2800" b="1" dirty="0">
                <a:solidFill>
                  <a:srgbClr val="255174"/>
                </a:solidFill>
                <a:latin typeface="Calibri" pitchFamily="34" charset="0"/>
                <a:ea typeface="Calibri" pitchFamily="34" charset="-122"/>
                <a:cs typeface="Calibri" pitchFamily="34" charset="-120"/>
              </a:rPr>
              <a:t>29</a:t>
            </a:r>
            <a:endParaRPr lang="en-US" sz="2800" dirty="0"/>
          </a:p>
        </p:txBody>
      </p:sp>
      <p:sp>
        <p:nvSpPr>
          <p:cNvPr id="9" name="Text 4"/>
          <p:cNvSpPr/>
          <p:nvPr/>
        </p:nvSpPr>
        <p:spPr>
          <a:xfrm>
            <a:off x="9392008" y="4681728"/>
            <a:ext cx="1912719" cy="402336"/>
          </a:xfrm>
          <a:prstGeom prst="rect">
            <a:avLst/>
          </a:prstGeom>
          <a:noFill/>
          <a:ln/>
        </p:spPr>
        <p:txBody>
          <a:bodyPr wrap="square" lIns="0" tIns="0" rIns="0" bIns="0" rtlCol="0" anchor="ctr"/>
          <a:lstStyle/>
          <a:p>
            <a:pPr rtl="1" algn="ctr" indent="0" marL="0">
              <a:lnSpc>
                <a:spcPts val="1500"/>
              </a:lnSpc>
              <a:buNone/>
            </a:pPr>
            <a:r>
              <a:rPr lang="en-US" sz="1100" dirty="0">
                <a:solidFill>
                  <a:srgbClr val="4B5B6E"/>
                </a:solidFill>
                <a:latin typeface="Tajawal" pitchFamily="34" charset="0"/>
                <a:ea typeface="Tajawal" pitchFamily="34" charset="-122"/>
                <a:cs typeface="Tajawal" pitchFamily="34" charset="-120"/>
              </a:rPr>
              <a:t>لغة، ولكل لغة</a:t>
            </a:r>
            <a:endParaRPr lang="en-US" sz="1100" dirty="0"/>
          </a:p>
          <a:p>
            <a:pPr rtl="1" algn="ctr" indent="0" marL="0">
              <a:lnSpc>
                <a:spcPts val="1500"/>
              </a:lnSpc>
              <a:buNone/>
            </a:pPr>
            <a:r>
              <a:rPr lang="en-US" sz="1100" dirty="0">
                <a:solidFill>
                  <a:srgbClr val="4B5B6E"/>
                </a:solidFill>
                <a:latin typeface="Tajawal" pitchFamily="34" charset="0"/>
                <a:ea typeface="Tajawal" pitchFamily="34" charset="-122"/>
                <a:cs typeface="Tajawal" pitchFamily="34" charset="-120"/>
              </a:rPr>
              <a:t>رواية مسموعة</a:t>
            </a:r>
            <a:endParaRPr lang="en-US" sz="1100" dirty="0"/>
          </a:p>
        </p:txBody>
      </p:sp>
      <p:sp>
        <p:nvSpPr>
          <p:cNvPr id="10" name="Shape 5"/>
          <p:cNvSpPr/>
          <p:nvPr/>
        </p:nvSpPr>
        <p:spPr>
          <a:xfrm>
            <a:off x="6930649" y="3950208"/>
            <a:ext cx="2132175" cy="1225296"/>
          </a:xfrm>
          <a:prstGeom prst="roundRect">
            <a:avLst>
              <a:gd name="adj" fmla="val 5970"/>
            </a:avLst>
          </a:prstGeom>
          <a:solidFill>
            <a:srgbClr val="EEF3F9"/>
          </a:solidFill>
          <a:ln w="9525">
            <a:solidFill>
              <a:srgbClr val="D9E2EC"/>
            </a:solidFill>
            <a:prstDash val="solid"/>
          </a:ln>
        </p:spPr>
      </p:sp>
      <p:sp>
        <p:nvSpPr>
          <p:cNvPr id="11" name="Text 6"/>
          <p:cNvSpPr/>
          <p:nvPr/>
        </p:nvSpPr>
        <p:spPr>
          <a:xfrm>
            <a:off x="6930649" y="4096512"/>
            <a:ext cx="2132175" cy="548640"/>
          </a:xfrm>
          <a:prstGeom prst="rect">
            <a:avLst/>
          </a:prstGeom>
          <a:noFill/>
          <a:ln/>
        </p:spPr>
        <p:txBody>
          <a:bodyPr wrap="square" lIns="0" tIns="0" rIns="0" bIns="0" rtlCol="0" anchor="ctr"/>
          <a:lstStyle/>
          <a:p>
            <a:pPr algn="ctr" indent="0" marL="0">
              <a:buNone/>
            </a:pPr>
            <a:r>
              <a:rPr lang="en-US" sz="2800" b="1" dirty="0">
                <a:solidFill>
                  <a:srgbClr val="255174"/>
                </a:solidFill>
                <a:latin typeface="Calibri" pitchFamily="34" charset="0"/>
                <a:ea typeface="Calibri" pitchFamily="34" charset="-122"/>
                <a:cs typeface="Calibri" pitchFamily="34" charset="-120"/>
              </a:rPr>
              <a:t>10</a:t>
            </a:r>
            <a:endParaRPr lang="en-US" sz="2800" dirty="0"/>
          </a:p>
        </p:txBody>
      </p:sp>
      <p:sp>
        <p:nvSpPr>
          <p:cNvPr id="12" name="Text 7"/>
          <p:cNvSpPr/>
          <p:nvPr/>
        </p:nvSpPr>
        <p:spPr>
          <a:xfrm>
            <a:off x="7040377" y="4681728"/>
            <a:ext cx="1912719" cy="402336"/>
          </a:xfrm>
          <a:prstGeom prst="rect">
            <a:avLst/>
          </a:prstGeom>
          <a:noFill/>
          <a:ln/>
        </p:spPr>
        <p:txBody>
          <a:bodyPr wrap="square" lIns="0" tIns="0" rIns="0" bIns="0" rtlCol="0" anchor="ctr"/>
          <a:lstStyle/>
          <a:p>
            <a:pPr rtl="1" algn="ctr" indent="0" marL="0">
              <a:lnSpc>
                <a:spcPts val="1500"/>
              </a:lnSpc>
              <a:buNone/>
            </a:pPr>
            <a:r>
              <a:rPr lang="en-US" sz="1100" dirty="0">
                <a:solidFill>
                  <a:srgbClr val="4B5B6E"/>
                </a:solidFill>
                <a:latin typeface="Tajawal" pitchFamily="34" charset="0"/>
                <a:ea typeface="Tajawal" pitchFamily="34" charset="-122"/>
                <a:cs typeface="Tajawal" pitchFamily="34" charset="-120"/>
              </a:rPr>
              <a:t>نقوش موثقة</a:t>
            </a:r>
            <a:endParaRPr lang="en-US" sz="1100" dirty="0"/>
          </a:p>
          <a:p>
            <a:pPr rtl="1" algn="ctr" indent="0" marL="0">
              <a:lnSpc>
                <a:spcPts val="1500"/>
              </a:lnSpc>
              <a:buNone/>
            </a:pPr>
            <a:r>
              <a:rPr lang="en-US" sz="1100" dirty="0">
                <a:solidFill>
                  <a:srgbClr val="4B5B6E"/>
                </a:solidFill>
                <a:latin typeface="Tajawal" pitchFamily="34" charset="0"/>
                <a:ea typeface="Tajawal" pitchFamily="34" charset="-122"/>
                <a:cs typeface="Tajawal" pitchFamily="34" charset="-120"/>
              </a:rPr>
              <a:t>في جبة</a:t>
            </a:r>
            <a:endParaRPr lang="en-US" sz="1100" dirty="0"/>
          </a:p>
        </p:txBody>
      </p:sp>
      <p:sp>
        <p:nvSpPr>
          <p:cNvPr id="13" name="Shape 8"/>
          <p:cNvSpPr/>
          <p:nvPr/>
        </p:nvSpPr>
        <p:spPr>
          <a:xfrm>
            <a:off x="4579017" y="3950208"/>
            <a:ext cx="2132175" cy="1225296"/>
          </a:xfrm>
          <a:prstGeom prst="roundRect">
            <a:avLst>
              <a:gd name="adj" fmla="val 5970"/>
            </a:avLst>
          </a:prstGeom>
          <a:solidFill>
            <a:srgbClr val="EEF3F9"/>
          </a:solidFill>
          <a:ln w="9525">
            <a:solidFill>
              <a:srgbClr val="D9E2EC"/>
            </a:solidFill>
            <a:prstDash val="solid"/>
          </a:ln>
        </p:spPr>
      </p:sp>
      <p:sp>
        <p:nvSpPr>
          <p:cNvPr id="14" name="Text 9"/>
          <p:cNvSpPr/>
          <p:nvPr/>
        </p:nvSpPr>
        <p:spPr>
          <a:xfrm>
            <a:off x="4579017" y="4096512"/>
            <a:ext cx="2132175" cy="548640"/>
          </a:xfrm>
          <a:prstGeom prst="rect">
            <a:avLst/>
          </a:prstGeom>
          <a:noFill/>
          <a:ln/>
        </p:spPr>
        <p:txBody>
          <a:bodyPr wrap="square" lIns="0" tIns="0" rIns="0" bIns="0" rtlCol="0" anchor="ctr"/>
          <a:lstStyle/>
          <a:p>
            <a:pPr algn="ctr" indent="0" marL="0">
              <a:buNone/>
            </a:pPr>
            <a:r>
              <a:rPr lang="en-US" sz="2800" b="1" dirty="0">
                <a:solidFill>
                  <a:srgbClr val="8357F6"/>
                </a:solidFill>
                <a:latin typeface="Calibri" pitchFamily="34" charset="0"/>
                <a:ea typeface="Calibri" pitchFamily="34" charset="-122"/>
                <a:cs typeface="Calibri" pitchFamily="34" charset="-120"/>
              </a:rPr>
              <a:t>0</a:t>
            </a:r>
            <a:endParaRPr lang="en-US" sz="2800" dirty="0"/>
          </a:p>
        </p:txBody>
      </p:sp>
      <p:sp>
        <p:nvSpPr>
          <p:cNvPr id="15" name="Text 10"/>
          <p:cNvSpPr/>
          <p:nvPr/>
        </p:nvSpPr>
        <p:spPr>
          <a:xfrm>
            <a:off x="4688745" y="4681728"/>
            <a:ext cx="1912719" cy="402336"/>
          </a:xfrm>
          <a:prstGeom prst="rect">
            <a:avLst/>
          </a:prstGeom>
          <a:noFill/>
          <a:ln/>
        </p:spPr>
        <p:txBody>
          <a:bodyPr wrap="square" lIns="0" tIns="0" rIns="0" bIns="0" rtlCol="0" anchor="ctr"/>
          <a:lstStyle/>
          <a:p>
            <a:pPr rtl="1" algn="ctr" indent="0" marL="0">
              <a:lnSpc>
                <a:spcPts val="1500"/>
              </a:lnSpc>
              <a:buNone/>
            </a:pPr>
            <a:r>
              <a:rPr lang="en-US" sz="1100" dirty="0">
                <a:solidFill>
                  <a:srgbClr val="4B5B6E"/>
                </a:solidFill>
                <a:latin typeface="Tajawal" pitchFamily="34" charset="0"/>
                <a:ea typeface="Tajawal" pitchFamily="34" charset="-122"/>
                <a:cs typeface="Tajawal" pitchFamily="34" charset="-120"/>
              </a:rPr>
              <a:t>خوادم، وصفر تكلفة</a:t>
            </a:r>
            <a:endParaRPr lang="en-US" sz="1100" dirty="0"/>
          </a:p>
          <a:p>
            <a:pPr rtl="1" algn="ctr" indent="0" marL="0">
              <a:lnSpc>
                <a:spcPts val="1500"/>
              </a:lnSpc>
              <a:buNone/>
            </a:pPr>
            <a:r>
              <a:rPr lang="en-US" sz="1100" dirty="0">
                <a:solidFill>
                  <a:srgbClr val="4B5B6E"/>
                </a:solidFill>
                <a:latin typeface="Tajawal" pitchFamily="34" charset="0"/>
                <a:ea typeface="Tajawal" pitchFamily="34" charset="-122"/>
                <a:cs typeface="Tajawal" pitchFamily="34" charset="-120"/>
              </a:rPr>
              <a:t>لكل سائح</a:t>
            </a:r>
            <a:endParaRPr lang="en-US" sz="1100" dirty="0"/>
          </a:p>
        </p:txBody>
      </p:sp>
      <p:sp>
        <p:nvSpPr>
          <p:cNvPr id="16" name="Shape 11"/>
          <p:cNvSpPr/>
          <p:nvPr/>
        </p:nvSpPr>
        <p:spPr>
          <a:xfrm>
            <a:off x="6214720" y="5413248"/>
            <a:ext cx="5199736" cy="841248"/>
          </a:xfrm>
          <a:prstGeom prst="roundRect">
            <a:avLst>
              <a:gd name="adj" fmla="val 8696"/>
            </a:avLst>
          </a:prstGeom>
          <a:solidFill>
            <a:srgbClr val="EEF3F9"/>
          </a:solidFill>
          <a:ln w="9525">
            <a:solidFill>
              <a:srgbClr val="D9E2EC"/>
            </a:solidFill>
            <a:prstDash val="solid"/>
          </a:ln>
        </p:spPr>
      </p:sp>
      <p:sp>
        <p:nvSpPr>
          <p:cNvPr id="17" name="Text 12"/>
          <p:cNvSpPr/>
          <p:nvPr/>
        </p:nvSpPr>
        <p:spPr>
          <a:xfrm>
            <a:off x="6489040" y="5541264"/>
            <a:ext cx="4651096" cy="329184"/>
          </a:xfrm>
          <a:prstGeom prst="rect">
            <a:avLst/>
          </a:prstGeom>
          <a:noFill/>
          <a:ln/>
        </p:spPr>
        <p:txBody>
          <a:bodyPr wrap="square" lIns="0" tIns="0" rIns="0" bIns="0" rtlCol="0" anchor="ctr"/>
          <a:lstStyle/>
          <a:p>
            <a:pPr rtl="1" algn="r" indent="0" marL="0">
              <a:buNone/>
            </a:pPr>
            <a:r>
              <a:rPr lang="en-US" sz="1600" b="1" dirty="0">
                <a:solidFill>
                  <a:srgbClr val="255174"/>
                </a:solidFill>
                <a:latin typeface="Tajawal" pitchFamily="34" charset="0"/>
                <a:ea typeface="Tajawal" pitchFamily="34" charset="-122"/>
                <a:cs typeface="Tajawal" pitchFamily="34" charset="-120"/>
              </a:rPr>
              <a:t>وليد الشمري</a:t>
            </a:r>
            <a:endParaRPr lang="en-US" sz="1600" dirty="0"/>
          </a:p>
        </p:txBody>
      </p:sp>
      <p:sp>
        <p:nvSpPr>
          <p:cNvPr id="18" name="Text 13"/>
          <p:cNvSpPr/>
          <p:nvPr/>
        </p:nvSpPr>
        <p:spPr>
          <a:xfrm>
            <a:off x="6489040" y="5888736"/>
            <a:ext cx="4651096" cy="274320"/>
          </a:xfrm>
          <a:prstGeom prst="rect">
            <a:avLst/>
          </a:prstGeom>
          <a:noFill/>
          <a:ln/>
        </p:spPr>
        <p:txBody>
          <a:bodyPr wrap="square" lIns="0" tIns="0" rIns="0" bIns="0" rtlCol="0" anchor="ctr"/>
          <a:lstStyle/>
          <a:p>
            <a:pPr rtl="1" algn="r" indent="0" marL="0">
              <a:buNone/>
            </a:pPr>
            <a:r>
              <a:rPr lang="en-US" sz="1250" dirty="0">
                <a:solidFill>
                  <a:srgbClr val="4B5B6E"/>
                </a:solidFill>
                <a:latin typeface="Tajawal" pitchFamily="34" charset="0"/>
                <a:ea typeface="Tajawal" pitchFamily="34" charset="-122"/>
                <a:cs typeface="Tajawal" pitchFamily="34" charset="-120"/>
              </a:rPr>
              <a:t>قائد الفريق</a:t>
            </a:r>
            <a:endParaRPr lang="en-US" sz="1250" dirty="0"/>
          </a:p>
        </p:txBody>
      </p:sp>
      <p:sp>
        <p:nvSpPr>
          <p:cNvPr id="19" name="Shape 14"/>
          <p:cNvSpPr/>
          <p:nvPr/>
        </p:nvSpPr>
        <p:spPr>
          <a:xfrm>
            <a:off x="777240" y="5413248"/>
            <a:ext cx="5199736" cy="841248"/>
          </a:xfrm>
          <a:prstGeom prst="roundRect">
            <a:avLst>
              <a:gd name="adj" fmla="val 8696"/>
            </a:avLst>
          </a:prstGeom>
          <a:solidFill>
            <a:srgbClr val="EEF3F9"/>
          </a:solidFill>
          <a:ln w="9525">
            <a:solidFill>
              <a:srgbClr val="D9E2EC"/>
            </a:solidFill>
            <a:prstDash val="solid"/>
          </a:ln>
        </p:spPr>
      </p:sp>
      <p:sp>
        <p:nvSpPr>
          <p:cNvPr id="20" name="Text 15"/>
          <p:cNvSpPr/>
          <p:nvPr/>
        </p:nvSpPr>
        <p:spPr>
          <a:xfrm>
            <a:off x="1051560" y="5541264"/>
            <a:ext cx="4651096" cy="329184"/>
          </a:xfrm>
          <a:prstGeom prst="rect">
            <a:avLst/>
          </a:prstGeom>
          <a:noFill/>
          <a:ln/>
        </p:spPr>
        <p:txBody>
          <a:bodyPr wrap="square" lIns="0" tIns="0" rIns="0" bIns="0" rtlCol="0" anchor="ctr"/>
          <a:lstStyle/>
          <a:p>
            <a:pPr rtl="1" algn="r" indent="0" marL="0">
              <a:buNone/>
            </a:pPr>
            <a:r>
              <a:rPr lang="en-US" sz="1600" b="1" dirty="0">
                <a:solidFill>
                  <a:srgbClr val="255174"/>
                </a:solidFill>
                <a:latin typeface="Tajawal" pitchFamily="34" charset="0"/>
                <a:ea typeface="Tajawal" pitchFamily="34" charset="-122"/>
                <a:cs typeface="Tajawal" pitchFamily="34" charset="-120"/>
              </a:rPr>
              <a:t>فالح الغسلان</a:t>
            </a:r>
            <a:endParaRPr lang="en-US" sz="1600" dirty="0"/>
          </a:p>
        </p:txBody>
      </p:sp>
      <p:sp>
        <p:nvSpPr>
          <p:cNvPr id="21" name="Text 16"/>
          <p:cNvSpPr/>
          <p:nvPr/>
        </p:nvSpPr>
        <p:spPr>
          <a:xfrm>
            <a:off x="1051560" y="5888736"/>
            <a:ext cx="4651096" cy="274320"/>
          </a:xfrm>
          <a:prstGeom prst="rect">
            <a:avLst/>
          </a:prstGeom>
          <a:noFill/>
          <a:ln/>
        </p:spPr>
        <p:txBody>
          <a:bodyPr wrap="square" lIns="0" tIns="0" rIns="0" bIns="0" rtlCol="0" anchor="ctr"/>
          <a:lstStyle/>
          <a:p>
            <a:pPr rtl="1" algn="r" indent="0" marL="0">
              <a:buNone/>
            </a:pPr>
            <a:r>
              <a:rPr lang="en-US" sz="1250" dirty="0">
                <a:solidFill>
                  <a:srgbClr val="4B5B6E"/>
                </a:solidFill>
                <a:latin typeface="Tajawal" pitchFamily="34" charset="0"/>
                <a:ea typeface="Tajawal" pitchFamily="34" charset="-122"/>
                <a:cs typeface="Tajawal" pitchFamily="34" charset="-120"/>
              </a:rPr>
              <a:t>مؤرخ</a:t>
            </a:r>
            <a:endParaRPr lang="en-US" sz="12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9FAFC"/>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640080" y="1920240"/>
            <a:ext cx="4754880" cy="3017520"/>
          </a:xfrm>
          <a:prstGeom prst="rect">
            <a:avLst/>
          </a:prstGeom>
          <a:noFill/>
          <a:ln/>
        </p:spPr>
        <p:txBody>
          <a:bodyPr wrap="square" lIns="0" tIns="0" rIns="0" bIns="0" rtlCol="0" anchor="ctr"/>
          <a:lstStyle/>
          <a:p>
            <a:pPr algn="l" indent="0" marL="0">
              <a:buNone/>
            </a:pPr>
            <a:r>
              <a:rPr lang="en-US" sz="17000" b="1" dirty="0">
                <a:solidFill>
                  <a:srgbClr val="DCE5F0"/>
                </a:solidFill>
                <a:latin typeface="Calibri" pitchFamily="34" charset="0"/>
                <a:ea typeface="Calibri" pitchFamily="34" charset="-122"/>
                <a:cs typeface="Calibri" pitchFamily="34" charset="-120"/>
              </a:rPr>
              <a:t>01</a:t>
            </a:r>
            <a:endParaRPr lang="en-US" sz="17000" dirty="0"/>
          </a:p>
        </p:txBody>
      </p:sp>
      <p:sp>
        <p:nvSpPr>
          <p:cNvPr id="4" name="Text 1"/>
          <p:cNvSpPr/>
          <p:nvPr/>
        </p:nvSpPr>
        <p:spPr>
          <a:xfrm>
            <a:off x="5120640" y="2788920"/>
            <a:ext cx="6293815" cy="1280160"/>
          </a:xfrm>
          <a:prstGeom prst="rect">
            <a:avLst/>
          </a:prstGeom>
          <a:noFill/>
          <a:ln/>
        </p:spPr>
        <p:txBody>
          <a:bodyPr wrap="square" lIns="0" tIns="0" rIns="0" bIns="0" rtlCol="0" anchor="ctr"/>
          <a:lstStyle/>
          <a:p>
            <a:pPr rtl="1" algn="r" indent="0" marL="0">
              <a:buNone/>
            </a:pPr>
            <a:r>
              <a:rPr lang="en-US" sz="3600" b="1" dirty="0">
                <a:solidFill>
                  <a:srgbClr val="255174"/>
                </a:solidFill>
                <a:latin typeface="Tajawal" pitchFamily="34" charset="0"/>
                <a:ea typeface="Tajawal" pitchFamily="34" charset="-122"/>
                <a:cs typeface="Tajawal" pitchFamily="34" charset="-120"/>
              </a:rPr>
              <a:t>الابتكار والأصالة</a:t>
            </a:r>
            <a:endParaRPr lang="en-US" sz="3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9FAFC"/>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777240" y="548640"/>
            <a:ext cx="10637215" cy="502920"/>
          </a:xfrm>
          <a:prstGeom prst="rect">
            <a:avLst/>
          </a:prstGeom>
          <a:noFill/>
          <a:ln/>
        </p:spPr>
        <p:txBody>
          <a:bodyPr wrap="square" lIns="0" tIns="0" rIns="0" bIns="0" rtlCol="0" anchor="ctr"/>
          <a:lstStyle/>
          <a:p>
            <a:pPr rtl="1" algn="r" indent="0" marL="0">
              <a:buNone/>
            </a:pPr>
            <a:r>
              <a:rPr lang="en-US" sz="2600" b="1" dirty="0">
                <a:solidFill>
                  <a:srgbClr val="255174"/>
                </a:solidFill>
                <a:latin typeface="Tajawal" pitchFamily="34" charset="0"/>
                <a:ea typeface="Tajawal" pitchFamily="34" charset="-122"/>
                <a:cs typeface="Tajawal" pitchFamily="34" charset="-120"/>
              </a:rPr>
              <a:t>الابتكار والأصالة</a:t>
            </a:r>
            <a:endParaRPr lang="en-US" sz="2600" dirty="0"/>
          </a:p>
        </p:txBody>
      </p:sp>
      <p:sp>
        <p:nvSpPr>
          <p:cNvPr id="4" name="Shape 1"/>
          <p:cNvSpPr/>
          <p:nvPr/>
        </p:nvSpPr>
        <p:spPr>
          <a:xfrm>
            <a:off x="8027213" y="1234440"/>
            <a:ext cx="3387242" cy="1783080"/>
          </a:xfrm>
          <a:prstGeom prst="roundRect">
            <a:avLst>
              <a:gd name="adj" fmla="val 4103"/>
            </a:avLst>
          </a:prstGeom>
          <a:solidFill>
            <a:srgbClr val="EEF3F9"/>
          </a:solidFill>
          <a:ln w="9525">
            <a:solidFill>
              <a:srgbClr val="D9E2EC"/>
            </a:solidFill>
            <a:prstDash val="solid"/>
          </a:ln>
        </p:spPr>
      </p:sp>
      <p:sp>
        <p:nvSpPr>
          <p:cNvPr id="5" name="Text 2"/>
          <p:cNvSpPr/>
          <p:nvPr/>
        </p:nvSpPr>
        <p:spPr>
          <a:xfrm>
            <a:off x="8264957" y="1417320"/>
            <a:ext cx="2911754" cy="310896"/>
          </a:xfrm>
          <a:prstGeom prst="rect">
            <a:avLst/>
          </a:prstGeom>
          <a:noFill/>
          <a:ln/>
        </p:spPr>
        <p:txBody>
          <a:bodyPr wrap="square" lIns="0" tIns="0" rIns="0" bIns="0" rtlCol="0" anchor="ctr"/>
          <a:lstStyle/>
          <a:p>
            <a:pPr rtl="1" algn="r" indent="0" marL="0">
              <a:buNone/>
            </a:pPr>
            <a:r>
              <a:rPr lang="en-US" sz="1400" b="1" dirty="0">
                <a:solidFill>
                  <a:srgbClr val="8357F6"/>
                </a:solidFill>
                <a:latin typeface="Tajawal" pitchFamily="34" charset="0"/>
                <a:ea typeface="Tajawal" pitchFamily="34" charset="-122"/>
                <a:cs typeface="Tajawal" pitchFamily="34" charset="-120"/>
              </a:rPr>
              <a:t>تميز الفكرة</a:t>
            </a:r>
            <a:endParaRPr lang="en-US" sz="1400" dirty="0"/>
          </a:p>
        </p:txBody>
      </p:sp>
      <p:sp>
        <p:nvSpPr>
          <p:cNvPr id="6" name="Text 3"/>
          <p:cNvSpPr/>
          <p:nvPr/>
        </p:nvSpPr>
        <p:spPr>
          <a:xfrm>
            <a:off x="8264957" y="1801368"/>
            <a:ext cx="2911754" cy="1033272"/>
          </a:xfrm>
          <a:prstGeom prst="rect">
            <a:avLst/>
          </a:prstGeom>
          <a:noFill/>
          <a:ln/>
        </p:spPr>
        <p:txBody>
          <a:bodyPr wrap="square" lIns="0" tIns="0" rIns="0" bIns="0" rtlCol="0" anchor="t"/>
          <a:lstStyle/>
          <a:p>
            <a:pPr rtl="1" algn="r" indent="0" marL="0">
              <a:lnSpc>
                <a:spcPts val="2000"/>
              </a:lnSpc>
              <a:buNone/>
            </a:pPr>
            <a:r>
              <a:rPr lang="en-US" sz="1250" dirty="0">
                <a:solidFill>
                  <a:srgbClr val="4B5B6E"/>
                </a:solidFill>
                <a:latin typeface="Tajawal" pitchFamily="34" charset="0"/>
                <a:ea typeface="Tajawal" pitchFamily="34" charset="-122"/>
                <a:cs typeface="Tajawal" pitchFamily="34" charset="-120"/>
              </a:rPr>
              <a:t>دليل يقرأ النقش نفسه، فيسمي النقش الذي يراه السائح من بين مئات النقوش</a:t>
            </a:r>
            <a:endParaRPr lang="en-US" sz="1250" dirty="0"/>
          </a:p>
        </p:txBody>
      </p:sp>
      <p:sp>
        <p:nvSpPr>
          <p:cNvPr id="7" name="Shape 4"/>
          <p:cNvSpPr/>
          <p:nvPr/>
        </p:nvSpPr>
        <p:spPr>
          <a:xfrm>
            <a:off x="4402226" y="1234440"/>
            <a:ext cx="3387242" cy="1783080"/>
          </a:xfrm>
          <a:prstGeom prst="roundRect">
            <a:avLst>
              <a:gd name="adj" fmla="val 4103"/>
            </a:avLst>
          </a:prstGeom>
          <a:solidFill>
            <a:srgbClr val="EEF3F9"/>
          </a:solidFill>
          <a:ln w="9525">
            <a:solidFill>
              <a:srgbClr val="D9E2EC"/>
            </a:solidFill>
            <a:prstDash val="solid"/>
          </a:ln>
        </p:spPr>
      </p:sp>
      <p:sp>
        <p:nvSpPr>
          <p:cNvPr id="8" name="Text 5"/>
          <p:cNvSpPr/>
          <p:nvPr/>
        </p:nvSpPr>
        <p:spPr>
          <a:xfrm>
            <a:off x="4639970" y="1417320"/>
            <a:ext cx="2911754" cy="310896"/>
          </a:xfrm>
          <a:prstGeom prst="rect">
            <a:avLst/>
          </a:prstGeom>
          <a:noFill/>
          <a:ln/>
        </p:spPr>
        <p:txBody>
          <a:bodyPr wrap="square" lIns="0" tIns="0" rIns="0" bIns="0" rtlCol="0" anchor="ctr"/>
          <a:lstStyle/>
          <a:p>
            <a:pPr rtl="1" algn="r" indent="0" marL="0">
              <a:buNone/>
            </a:pPr>
            <a:r>
              <a:rPr lang="en-US" sz="1400" b="1" dirty="0">
                <a:solidFill>
                  <a:srgbClr val="8357F6"/>
                </a:solidFill>
                <a:latin typeface="Tajawal" pitchFamily="34" charset="0"/>
                <a:ea typeface="Tajawal" pitchFamily="34" charset="-122"/>
                <a:cs typeface="Tajawal" pitchFamily="34" charset="-120"/>
              </a:rPr>
              <a:t>مستوى الابتكار</a:t>
            </a:r>
            <a:endParaRPr lang="en-US" sz="1400" dirty="0"/>
          </a:p>
        </p:txBody>
      </p:sp>
      <p:sp>
        <p:nvSpPr>
          <p:cNvPr id="9" name="Text 6"/>
          <p:cNvSpPr/>
          <p:nvPr/>
        </p:nvSpPr>
        <p:spPr>
          <a:xfrm>
            <a:off x="4639970" y="1801368"/>
            <a:ext cx="2911754" cy="1033272"/>
          </a:xfrm>
          <a:prstGeom prst="rect">
            <a:avLst/>
          </a:prstGeom>
          <a:noFill/>
          <a:ln/>
        </p:spPr>
        <p:txBody>
          <a:bodyPr wrap="square" lIns="0" tIns="0" rIns="0" bIns="0" rtlCol="0" anchor="t"/>
          <a:lstStyle/>
          <a:p>
            <a:pPr rtl="1" algn="r" indent="0" marL="0">
              <a:lnSpc>
                <a:spcPts val="2000"/>
              </a:lnSpc>
              <a:buNone/>
            </a:pPr>
            <a:r>
              <a:rPr lang="en-US" sz="1250" dirty="0">
                <a:solidFill>
                  <a:srgbClr val="4B5B6E"/>
                </a:solidFill>
                <a:latin typeface="Tajawal" pitchFamily="34" charset="0"/>
                <a:ea typeface="Tajawal" pitchFamily="34" charset="-122"/>
                <a:cs typeface="Tajawal" pitchFamily="34" charset="-120"/>
              </a:rPr>
              <a:t>ذكاء اصطناعي كامل داخل الجوال، يتعلم من تصحيحات السياح ويتحسن مع كل تحديث</a:t>
            </a:r>
            <a:endParaRPr lang="en-US" sz="1250" dirty="0"/>
          </a:p>
        </p:txBody>
      </p:sp>
      <p:sp>
        <p:nvSpPr>
          <p:cNvPr id="10" name="Shape 7"/>
          <p:cNvSpPr/>
          <p:nvPr/>
        </p:nvSpPr>
        <p:spPr>
          <a:xfrm>
            <a:off x="777240" y="1234440"/>
            <a:ext cx="3387242" cy="1783080"/>
          </a:xfrm>
          <a:prstGeom prst="roundRect">
            <a:avLst>
              <a:gd name="adj" fmla="val 4103"/>
            </a:avLst>
          </a:prstGeom>
          <a:solidFill>
            <a:srgbClr val="EEF3F9"/>
          </a:solidFill>
          <a:ln w="9525">
            <a:solidFill>
              <a:srgbClr val="D9E2EC"/>
            </a:solidFill>
            <a:prstDash val="solid"/>
          </a:ln>
        </p:spPr>
      </p:sp>
      <p:sp>
        <p:nvSpPr>
          <p:cNvPr id="11" name="Text 8"/>
          <p:cNvSpPr/>
          <p:nvPr/>
        </p:nvSpPr>
        <p:spPr>
          <a:xfrm>
            <a:off x="1014984" y="1417320"/>
            <a:ext cx="2911754" cy="310896"/>
          </a:xfrm>
          <a:prstGeom prst="rect">
            <a:avLst/>
          </a:prstGeom>
          <a:noFill/>
          <a:ln/>
        </p:spPr>
        <p:txBody>
          <a:bodyPr wrap="square" lIns="0" tIns="0" rIns="0" bIns="0" rtlCol="0" anchor="ctr"/>
          <a:lstStyle/>
          <a:p>
            <a:pPr rtl="1" algn="r" indent="0" marL="0">
              <a:buNone/>
            </a:pPr>
            <a:r>
              <a:rPr lang="en-US" sz="1400" b="1" dirty="0">
                <a:solidFill>
                  <a:srgbClr val="8357F6"/>
                </a:solidFill>
                <a:latin typeface="Tajawal" pitchFamily="34" charset="0"/>
                <a:ea typeface="Tajawal" pitchFamily="34" charset="-122"/>
                <a:cs typeface="Tajawal" pitchFamily="34" charset="-120"/>
              </a:rPr>
              <a:t>الاختلاف عن البدائل</a:t>
            </a:r>
            <a:endParaRPr lang="en-US" sz="1400" dirty="0"/>
          </a:p>
        </p:txBody>
      </p:sp>
      <p:sp>
        <p:nvSpPr>
          <p:cNvPr id="12" name="Text 9"/>
          <p:cNvSpPr/>
          <p:nvPr/>
        </p:nvSpPr>
        <p:spPr>
          <a:xfrm>
            <a:off x="1014984" y="1801368"/>
            <a:ext cx="2911754" cy="1033272"/>
          </a:xfrm>
          <a:prstGeom prst="rect">
            <a:avLst/>
          </a:prstGeom>
          <a:noFill/>
          <a:ln/>
        </p:spPr>
        <p:txBody>
          <a:bodyPr wrap="square" lIns="0" tIns="0" rIns="0" bIns="0" rtlCol="0" anchor="t"/>
          <a:lstStyle/>
          <a:p>
            <a:pPr rtl="1" algn="r" indent="0" marL="0">
              <a:lnSpc>
                <a:spcPts val="2000"/>
              </a:lnSpc>
              <a:buNone/>
            </a:pPr>
            <a:r>
              <a:rPr lang="en-US" sz="1250" dirty="0">
                <a:solidFill>
                  <a:srgbClr val="4B5B6E"/>
                </a:solidFill>
                <a:latin typeface="Tajawal" pitchFamily="34" charset="0"/>
                <a:ea typeface="Tajawal" pitchFamily="34" charset="-122"/>
                <a:cs typeface="Tajawal" pitchFamily="34" charset="-120"/>
              </a:rPr>
              <a:t>اللافتة عامة، والمرشد بموعد، والتطبيق السحابي يتوقف بلا شبكة</a:t>
            </a:r>
            <a:endParaRPr lang="en-US" sz="1250" dirty="0"/>
          </a:p>
        </p:txBody>
      </p:sp>
      <p:sp>
        <p:nvSpPr>
          <p:cNvPr id="13" name="Text 10"/>
          <p:cNvSpPr/>
          <p:nvPr/>
        </p:nvSpPr>
        <p:spPr>
          <a:xfrm>
            <a:off x="6842455" y="3310128"/>
            <a:ext cx="4297680" cy="292608"/>
          </a:xfrm>
          <a:prstGeom prst="rect">
            <a:avLst/>
          </a:prstGeom>
          <a:noFill/>
          <a:ln/>
        </p:spPr>
        <p:txBody>
          <a:bodyPr wrap="square" lIns="0" tIns="0" rIns="0" bIns="0" rtlCol="0" anchor="ctr"/>
          <a:lstStyle/>
          <a:p>
            <a:pPr rtl="1" algn="r" indent="0" marL="0">
              <a:buNone/>
            </a:pPr>
            <a:r>
              <a:rPr lang="en-US" sz="1300" b="1" dirty="0">
                <a:solidFill>
                  <a:srgbClr val="4B5B6E"/>
                </a:solidFill>
                <a:latin typeface="Tajawal" pitchFamily="34" charset="0"/>
                <a:ea typeface="Tajawal" pitchFamily="34" charset="-122"/>
                <a:cs typeface="Tajawal" pitchFamily="34" charset="-120"/>
              </a:rPr>
              <a:t>البدائل الحالية</a:t>
            </a:r>
            <a:endParaRPr lang="en-US" sz="1300" dirty="0"/>
          </a:p>
        </p:txBody>
      </p:sp>
      <p:sp>
        <p:nvSpPr>
          <p:cNvPr id="14" name="Text 11"/>
          <p:cNvSpPr/>
          <p:nvPr/>
        </p:nvSpPr>
        <p:spPr>
          <a:xfrm>
            <a:off x="777240" y="3310128"/>
            <a:ext cx="5760720" cy="292608"/>
          </a:xfrm>
          <a:prstGeom prst="rect">
            <a:avLst/>
          </a:prstGeom>
          <a:noFill/>
          <a:ln/>
        </p:spPr>
        <p:txBody>
          <a:bodyPr wrap="square" lIns="0" tIns="0" rIns="0" bIns="0" rtlCol="0" anchor="ctr"/>
          <a:lstStyle/>
          <a:p>
            <a:pPr rtl="1" algn="r" indent="0" marL="0">
              <a:buNone/>
            </a:pPr>
            <a:r>
              <a:rPr lang="en-US" sz="1300" b="1" dirty="0">
                <a:solidFill>
                  <a:srgbClr val="255174"/>
                </a:solidFill>
                <a:latin typeface="Tajawal" pitchFamily="34" charset="0"/>
                <a:ea typeface="Tajawal" pitchFamily="34" charset="-122"/>
                <a:cs typeface="Tajawal" pitchFamily="34" charset="-120"/>
              </a:rPr>
              <a:t>أثر</a:t>
            </a:r>
            <a:endParaRPr lang="en-US" sz="1300" dirty="0"/>
          </a:p>
        </p:txBody>
      </p:sp>
      <p:sp>
        <p:nvSpPr>
          <p:cNvPr id="15" name="Shape 12"/>
          <p:cNvSpPr/>
          <p:nvPr/>
        </p:nvSpPr>
        <p:spPr>
          <a:xfrm>
            <a:off x="6842455" y="3712464"/>
            <a:ext cx="4572000" cy="420624"/>
          </a:xfrm>
          <a:prstGeom prst="roundRect">
            <a:avLst>
              <a:gd name="adj" fmla="val 17391"/>
            </a:avLst>
          </a:prstGeom>
          <a:solidFill>
            <a:srgbClr val="F4F6F9"/>
          </a:solidFill>
          <a:ln w="9525">
            <a:solidFill>
              <a:srgbClr val="D9E2EC"/>
            </a:solidFill>
            <a:prstDash val="solid"/>
          </a:ln>
        </p:spPr>
      </p:sp>
      <p:sp>
        <p:nvSpPr>
          <p:cNvPr id="16" name="Text 13"/>
          <p:cNvSpPr/>
          <p:nvPr/>
        </p:nvSpPr>
        <p:spPr>
          <a:xfrm>
            <a:off x="7061911" y="3794760"/>
            <a:ext cx="4133088" cy="256032"/>
          </a:xfrm>
          <a:prstGeom prst="rect">
            <a:avLst/>
          </a:prstGeom>
          <a:noFill/>
          <a:ln/>
        </p:spPr>
        <p:txBody>
          <a:bodyPr wrap="square" lIns="0" tIns="0" rIns="0" bIns="0" rtlCol="0" anchor="ctr"/>
          <a:lstStyle/>
          <a:p>
            <a:pPr rtl="1" algn="r" indent="0" marL="0">
              <a:buNone/>
            </a:pPr>
            <a:r>
              <a:rPr lang="en-US" sz="1200" dirty="0">
                <a:solidFill>
                  <a:srgbClr val="4B5B6E"/>
                </a:solidFill>
                <a:latin typeface="Tajawal" pitchFamily="34" charset="0"/>
                <a:ea typeface="Tajawal" pitchFamily="34" charset="-122"/>
                <a:cs typeface="Tajawal" pitchFamily="34" charset="-120"/>
              </a:rPr>
              <a:t>لافتة واحدة عند مدخل الموقع</a:t>
            </a:r>
            <a:endParaRPr lang="en-US" sz="1200" dirty="0"/>
          </a:p>
        </p:txBody>
      </p:sp>
      <p:sp>
        <p:nvSpPr>
          <p:cNvPr id="17" name="Shape 14"/>
          <p:cNvSpPr/>
          <p:nvPr/>
        </p:nvSpPr>
        <p:spPr>
          <a:xfrm>
            <a:off x="777240" y="3712464"/>
            <a:ext cx="6035040" cy="420624"/>
          </a:xfrm>
          <a:prstGeom prst="roundRect">
            <a:avLst>
              <a:gd name="adj" fmla="val 17391"/>
            </a:avLst>
          </a:prstGeom>
          <a:solidFill>
            <a:srgbClr val="EEF3F9"/>
          </a:solidFill>
          <a:ln w="9525">
            <a:solidFill>
              <a:srgbClr val="D9E2EC"/>
            </a:solidFill>
            <a:prstDash val="solid"/>
          </a:ln>
        </p:spPr>
      </p:sp>
      <p:sp>
        <p:nvSpPr>
          <p:cNvPr id="18" name="Text 15"/>
          <p:cNvSpPr/>
          <p:nvPr/>
        </p:nvSpPr>
        <p:spPr>
          <a:xfrm>
            <a:off x="996696" y="3794760"/>
            <a:ext cx="5596128" cy="256032"/>
          </a:xfrm>
          <a:prstGeom prst="rect">
            <a:avLst/>
          </a:prstGeom>
          <a:noFill/>
          <a:ln/>
        </p:spPr>
        <p:txBody>
          <a:bodyPr wrap="square" lIns="0" tIns="0" rIns="0" bIns="0" rtlCol="0" anchor="ctr"/>
          <a:lstStyle/>
          <a:p>
            <a:pPr rtl="1" algn="r" indent="0" marL="0">
              <a:buNone/>
            </a:pPr>
            <a:r>
              <a:rPr lang="en-US" sz="1200" b="1" dirty="0">
                <a:solidFill>
                  <a:srgbClr val="2B3A4C"/>
                </a:solidFill>
                <a:latin typeface="Tajawal" pitchFamily="34" charset="0"/>
                <a:ea typeface="Tajawal" pitchFamily="34" charset="-122"/>
                <a:cs typeface="Tajawal" pitchFamily="34" charset="-120"/>
              </a:rPr>
              <a:t>يسمي النقش الذي أمامك بعينه</a:t>
            </a:r>
            <a:endParaRPr lang="en-US" sz="1200" dirty="0"/>
          </a:p>
        </p:txBody>
      </p:sp>
      <p:sp>
        <p:nvSpPr>
          <p:cNvPr id="19" name="Shape 16"/>
          <p:cNvSpPr/>
          <p:nvPr/>
        </p:nvSpPr>
        <p:spPr>
          <a:xfrm>
            <a:off x="6842455" y="4224528"/>
            <a:ext cx="4572000" cy="420624"/>
          </a:xfrm>
          <a:prstGeom prst="roundRect">
            <a:avLst>
              <a:gd name="adj" fmla="val 17391"/>
            </a:avLst>
          </a:prstGeom>
          <a:solidFill>
            <a:srgbClr val="F4F6F9"/>
          </a:solidFill>
          <a:ln w="9525">
            <a:solidFill>
              <a:srgbClr val="D9E2EC"/>
            </a:solidFill>
            <a:prstDash val="solid"/>
          </a:ln>
        </p:spPr>
      </p:sp>
      <p:sp>
        <p:nvSpPr>
          <p:cNvPr id="20" name="Text 17"/>
          <p:cNvSpPr/>
          <p:nvPr/>
        </p:nvSpPr>
        <p:spPr>
          <a:xfrm>
            <a:off x="7061911" y="4306824"/>
            <a:ext cx="4133088" cy="256032"/>
          </a:xfrm>
          <a:prstGeom prst="rect">
            <a:avLst/>
          </a:prstGeom>
          <a:noFill/>
          <a:ln/>
        </p:spPr>
        <p:txBody>
          <a:bodyPr wrap="square" lIns="0" tIns="0" rIns="0" bIns="0" rtlCol="0" anchor="ctr"/>
          <a:lstStyle/>
          <a:p>
            <a:pPr rtl="1" algn="r" indent="0" marL="0">
              <a:buNone/>
            </a:pPr>
            <a:r>
              <a:rPr lang="en-US" sz="1200" dirty="0">
                <a:solidFill>
                  <a:srgbClr val="4B5B6E"/>
                </a:solidFill>
                <a:latin typeface="Tajawal" pitchFamily="34" charset="0"/>
                <a:ea typeface="Tajawal" pitchFamily="34" charset="-122"/>
                <a:cs typeface="Tajawal" pitchFamily="34" charset="-120"/>
              </a:rPr>
              <a:t>مرشد بحجز مسبق وبلغات محدودة</a:t>
            </a:r>
            <a:endParaRPr lang="en-US" sz="1200" dirty="0"/>
          </a:p>
        </p:txBody>
      </p:sp>
      <p:sp>
        <p:nvSpPr>
          <p:cNvPr id="21" name="Shape 18"/>
          <p:cNvSpPr/>
          <p:nvPr/>
        </p:nvSpPr>
        <p:spPr>
          <a:xfrm>
            <a:off x="777240" y="4224528"/>
            <a:ext cx="6035040" cy="420624"/>
          </a:xfrm>
          <a:prstGeom prst="roundRect">
            <a:avLst>
              <a:gd name="adj" fmla="val 17391"/>
            </a:avLst>
          </a:prstGeom>
          <a:solidFill>
            <a:srgbClr val="EEF3F9"/>
          </a:solidFill>
          <a:ln w="9525">
            <a:solidFill>
              <a:srgbClr val="D9E2EC"/>
            </a:solidFill>
            <a:prstDash val="solid"/>
          </a:ln>
        </p:spPr>
      </p:sp>
      <p:sp>
        <p:nvSpPr>
          <p:cNvPr id="22" name="Text 19"/>
          <p:cNvSpPr/>
          <p:nvPr/>
        </p:nvSpPr>
        <p:spPr>
          <a:xfrm>
            <a:off x="996696" y="4306824"/>
            <a:ext cx="5596128" cy="256032"/>
          </a:xfrm>
          <a:prstGeom prst="rect">
            <a:avLst/>
          </a:prstGeom>
          <a:noFill/>
          <a:ln/>
        </p:spPr>
        <p:txBody>
          <a:bodyPr wrap="square" lIns="0" tIns="0" rIns="0" bIns="0" rtlCol="0" anchor="ctr"/>
          <a:lstStyle/>
          <a:p>
            <a:pPr rtl="1" algn="r" indent="0" marL="0">
              <a:buNone/>
            </a:pPr>
            <a:r>
              <a:rPr lang="en-US" sz="1200" b="1" dirty="0">
                <a:solidFill>
                  <a:srgbClr val="2B3A4C"/>
                </a:solidFill>
                <a:latin typeface="Tajawal" pitchFamily="34" charset="0"/>
                <a:ea typeface="Tajawal" pitchFamily="34" charset="-122"/>
                <a:cs typeface="Tajawal" pitchFamily="34" charset="-120"/>
              </a:rPr>
              <a:t>تسع وعشرون لغة، ولكل لغة صوت</a:t>
            </a:r>
            <a:endParaRPr lang="en-US" sz="1200" dirty="0"/>
          </a:p>
        </p:txBody>
      </p:sp>
      <p:sp>
        <p:nvSpPr>
          <p:cNvPr id="23" name="Shape 20"/>
          <p:cNvSpPr/>
          <p:nvPr/>
        </p:nvSpPr>
        <p:spPr>
          <a:xfrm>
            <a:off x="6842455" y="4736592"/>
            <a:ext cx="4572000" cy="420624"/>
          </a:xfrm>
          <a:prstGeom prst="roundRect">
            <a:avLst>
              <a:gd name="adj" fmla="val 17391"/>
            </a:avLst>
          </a:prstGeom>
          <a:solidFill>
            <a:srgbClr val="F4F6F9"/>
          </a:solidFill>
          <a:ln w="9525">
            <a:solidFill>
              <a:srgbClr val="D9E2EC"/>
            </a:solidFill>
            <a:prstDash val="solid"/>
          </a:ln>
        </p:spPr>
      </p:sp>
      <p:sp>
        <p:nvSpPr>
          <p:cNvPr id="24" name="Text 21"/>
          <p:cNvSpPr/>
          <p:nvPr/>
        </p:nvSpPr>
        <p:spPr>
          <a:xfrm>
            <a:off x="7061911" y="4818888"/>
            <a:ext cx="4133088" cy="256032"/>
          </a:xfrm>
          <a:prstGeom prst="rect">
            <a:avLst/>
          </a:prstGeom>
          <a:noFill/>
          <a:ln/>
        </p:spPr>
        <p:txBody>
          <a:bodyPr wrap="square" lIns="0" tIns="0" rIns="0" bIns="0" rtlCol="0" anchor="ctr"/>
          <a:lstStyle/>
          <a:p>
            <a:pPr rtl="1" algn="r" indent="0" marL="0">
              <a:buNone/>
            </a:pPr>
            <a:r>
              <a:rPr lang="en-US" sz="1200" dirty="0">
                <a:solidFill>
                  <a:srgbClr val="4B5B6E"/>
                </a:solidFill>
                <a:latin typeface="Tajawal" pitchFamily="34" charset="0"/>
                <a:ea typeface="Tajawal" pitchFamily="34" charset="-122"/>
                <a:cs typeface="Tajawal" pitchFamily="34" charset="-120"/>
              </a:rPr>
              <a:t>تطبيق سحابي يتوقف بلا تغطية</a:t>
            </a:r>
            <a:endParaRPr lang="en-US" sz="1200" dirty="0"/>
          </a:p>
        </p:txBody>
      </p:sp>
      <p:sp>
        <p:nvSpPr>
          <p:cNvPr id="25" name="Shape 22"/>
          <p:cNvSpPr/>
          <p:nvPr/>
        </p:nvSpPr>
        <p:spPr>
          <a:xfrm>
            <a:off x="777240" y="4736592"/>
            <a:ext cx="6035040" cy="420624"/>
          </a:xfrm>
          <a:prstGeom prst="roundRect">
            <a:avLst>
              <a:gd name="adj" fmla="val 17391"/>
            </a:avLst>
          </a:prstGeom>
          <a:solidFill>
            <a:srgbClr val="EEF3F9"/>
          </a:solidFill>
          <a:ln w="9525">
            <a:solidFill>
              <a:srgbClr val="D9E2EC"/>
            </a:solidFill>
            <a:prstDash val="solid"/>
          </a:ln>
        </p:spPr>
      </p:sp>
      <p:sp>
        <p:nvSpPr>
          <p:cNvPr id="26" name="Text 23"/>
          <p:cNvSpPr/>
          <p:nvPr/>
        </p:nvSpPr>
        <p:spPr>
          <a:xfrm>
            <a:off x="996696" y="4818888"/>
            <a:ext cx="5596128" cy="256032"/>
          </a:xfrm>
          <a:prstGeom prst="rect">
            <a:avLst/>
          </a:prstGeom>
          <a:noFill/>
          <a:ln/>
        </p:spPr>
        <p:txBody>
          <a:bodyPr wrap="square" lIns="0" tIns="0" rIns="0" bIns="0" rtlCol="0" anchor="ctr"/>
          <a:lstStyle/>
          <a:p>
            <a:pPr rtl="1" algn="r" indent="0" marL="0">
              <a:buNone/>
            </a:pPr>
            <a:r>
              <a:rPr lang="en-US" sz="1200" b="1" dirty="0">
                <a:solidFill>
                  <a:srgbClr val="2B3A4C"/>
                </a:solidFill>
                <a:latin typeface="Tajawal" pitchFamily="34" charset="0"/>
                <a:ea typeface="Tajawal" pitchFamily="34" charset="-122"/>
                <a:cs typeface="Tajawal" pitchFamily="34" charset="-120"/>
              </a:rPr>
              <a:t>يعمل كاملا بلا إنترنت</a:t>
            </a:r>
            <a:endParaRPr lang="en-US" sz="1200" dirty="0"/>
          </a:p>
        </p:txBody>
      </p:sp>
      <p:sp>
        <p:nvSpPr>
          <p:cNvPr id="27" name="Shape 24"/>
          <p:cNvSpPr/>
          <p:nvPr/>
        </p:nvSpPr>
        <p:spPr>
          <a:xfrm>
            <a:off x="6842455" y="5248656"/>
            <a:ext cx="4572000" cy="420624"/>
          </a:xfrm>
          <a:prstGeom prst="roundRect">
            <a:avLst>
              <a:gd name="adj" fmla="val 17391"/>
            </a:avLst>
          </a:prstGeom>
          <a:solidFill>
            <a:srgbClr val="F4F6F9"/>
          </a:solidFill>
          <a:ln w="9525">
            <a:solidFill>
              <a:srgbClr val="D9E2EC"/>
            </a:solidFill>
            <a:prstDash val="solid"/>
          </a:ln>
        </p:spPr>
      </p:sp>
      <p:sp>
        <p:nvSpPr>
          <p:cNvPr id="28" name="Text 25"/>
          <p:cNvSpPr/>
          <p:nvPr/>
        </p:nvSpPr>
        <p:spPr>
          <a:xfrm>
            <a:off x="7061911" y="5330952"/>
            <a:ext cx="4133088" cy="256032"/>
          </a:xfrm>
          <a:prstGeom prst="rect">
            <a:avLst/>
          </a:prstGeom>
          <a:noFill/>
          <a:ln/>
        </p:spPr>
        <p:txBody>
          <a:bodyPr wrap="square" lIns="0" tIns="0" rIns="0" bIns="0" rtlCol="0" anchor="ctr"/>
          <a:lstStyle/>
          <a:p>
            <a:pPr rtl="1" algn="r" indent="0" marL="0">
              <a:buNone/>
            </a:pPr>
            <a:r>
              <a:rPr lang="en-US" sz="1200" dirty="0">
                <a:solidFill>
                  <a:srgbClr val="4B5B6E"/>
                </a:solidFill>
                <a:latin typeface="Tajawal" pitchFamily="34" charset="0"/>
                <a:ea typeface="Tajawal" pitchFamily="34" charset="-122"/>
                <a:cs typeface="Tajawal" pitchFamily="34" charset="-120"/>
              </a:rPr>
              <a:t>بحث بالصور يعطي نتيجة عامة</a:t>
            </a:r>
            <a:endParaRPr lang="en-US" sz="1200" dirty="0"/>
          </a:p>
        </p:txBody>
      </p:sp>
      <p:sp>
        <p:nvSpPr>
          <p:cNvPr id="29" name="Shape 26"/>
          <p:cNvSpPr/>
          <p:nvPr/>
        </p:nvSpPr>
        <p:spPr>
          <a:xfrm>
            <a:off x="777240" y="5248656"/>
            <a:ext cx="6035040" cy="420624"/>
          </a:xfrm>
          <a:prstGeom prst="roundRect">
            <a:avLst>
              <a:gd name="adj" fmla="val 17391"/>
            </a:avLst>
          </a:prstGeom>
          <a:solidFill>
            <a:srgbClr val="EEF3F9"/>
          </a:solidFill>
          <a:ln w="9525">
            <a:solidFill>
              <a:srgbClr val="D9E2EC"/>
            </a:solidFill>
            <a:prstDash val="solid"/>
          </a:ln>
        </p:spPr>
      </p:sp>
      <p:sp>
        <p:nvSpPr>
          <p:cNvPr id="30" name="Text 27"/>
          <p:cNvSpPr/>
          <p:nvPr/>
        </p:nvSpPr>
        <p:spPr>
          <a:xfrm>
            <a:off x="996696" y="5330952"/>
            <a:ext cx="5596128" cy="256032"/>
          </a:xfrm>
          <a:prstGeom prst="rect">
            <a:avLst/>
          </a:prstGeom>
          <a:noFill/>
          <a:ln/>
        </p:spPr>
        <p:txBody>
          <a:bodyPr wrap="square" lIns="0" tIns="0" rIns="0" bIns="0" rtlCol="0" anchor="ctr"/>
          <a:lstStyle/>
          <a:p>
            <a:pPr rtl="1" algn="r" indent="0" marL="0">
              <a:buNone/>
            </a:pPr>
            <a:r>
              <a:rPr lang="en-US" sz="1200" b="1" dirty="0">
                <a:solidFill>
                  <a:srgbClr val="2B3A4C"/>
                </a:solidFill>
                <a:latin typeface="Tajawal" pitchFamily="34" charset="0"/>
                <a:ea typeface="Tajawal" pitchFamily="34" charset="-122"/>
                <a:cs typeface="Tajawal" pitchFamily="34" charset="-120"/>
              </a:rPr>
              <a:t>مبني على 200 صورة من جبة نفسها</a:t>
            </a:r>
            <a:endParaRPr lang="en-US" sz="1200" dirty="0"/>
          </a:p>
        </p:txBody>
      </p:sp>
      <p:sp>
        <p:nvSpPr>
          <p:cNvPr id="31" name="Shape 28"/>
          <p:cNvSpPr/>
          <p:nvPr/>
        </p:nvSpPr>
        <p:spPr>
          <a:xfrm>
            <a:off x="6842455" y="5760720"/>
            <a:ext cx="4572000" cy="420624"/>
          </a:xfrm>
          <a:prstGeom prst="roundRect">
            <a:avLst>
              <a:gd name="adj" fmla="val 17391"/>
            </a:avLst>
          </a:prstGeom>
          <a:solidFill>
            <a:srgbClr val="F4F6F9"/>
          </a:solidFill>
          <a:ln w="9525">
            <a:solidFill>
              <a:srgbClr val="D9E2EC"/>
            </a:solidFill>
            <a:prstDash val="solid"/>
          </a:ln>
        </p:spPr>
      </p:sp>
      <p:sp>
        <p:nvSpPr>
          <p:cNvPr id="32" name="Text 29"/>
          <p:cNvSpPr/>
          <p:nvPr/>
        </p:nvSpPr>
        <p:spPr>
          <a:xfrm>
            <a:off x="7061911" y="5843016"/>
            <a:ext cx="4133088" cy="256032"/>
          </a:xfrm>
          <a:prstGeom prst="rect">
            <a:avLst/>
          </a:prstGeom>
          <a:noFill/>
          <a:ln/>
        </p:spPr>
        <p:txBody>
          <a:bodyPr wrap="square" lIns="0" tIns="0" rIns="0" bIns="0" rtlCol="0" anchor="ctr"/>
          <a:lstStyle/>
          <a:p>
            <a:pPr rtl="1" algn="r" indent="0" marL="0">
              <a:buNone/>
            </a:pPr>
            <a:r>
              <a:rPr lang="en-US" sz="1200" dirty="0">
                <a:solidFill>
                  <a:srgbClr val="4B5B6E"/>
                </a:solidFill>
                <a:latin typeface="Tajawal" pitchFamily="34" charset="0"/>
                <a:ea typeface="Tajawal" pitchFamily="34" charset="-122"/>
                <a:cs typeface="Tajawal" pitchFamily="34" charset="-120"/>
              </a:rPr>
              <a:t>تصور الصخرة في ChatGPT فيقول: نقوش صخرية، وبإنترنت فقط</a:t>
            </a:r>
            <a:endParaRPr lang="en-US" sz="1200" dirty="0"/>
          </a:p>
        </p:txBody>
      </p:sp>
      <p:sp>
        <p:nvSpPr>
          <p:cNvPr id="33" name="Shape 30"/>
          <p:cNvSpPr/>
          <p:nvPr/>
        </p:nvSpPr>
        <p:spPr>
          <a:xfrm>
            <a:off x="777240" y="5760720"/>
            <a:ext cx="6035040" cy="420624"/>
          </a:xfrm>
          <a:prstGeom prst="roundRect">
            <a:avLst>
              <a:gd name="adj" fmla="val 17391"/>
            </a:avLst>
          </a:prstGeom>
          <a:solidFill>
            <a:srgbClr val="E9E2FB"/>
          </a:solidFill>
          <a:ln w="9525">
            <a:solidFill>
              <a:srgbClr val="D9E2EC"/>
            </a:solidFill>
            <a:prstDash val="solid"/>
          </a:ln>
        </p:spPr>
      </p:sp>
      <p:sp>
        <p:nvSpPr>
          <p:cNvPr id="34" name="Text 31"/>
          <p:cNvSpPr/>
          <p:nvPr/>
        </p:nvSpPr>
        <p:spPr>
          <a:xfrm>
            <a:off x="996696" y="5843016"/>
            <a:ext cx="5596128" cy="256032"/>
          </a:xfrm>
          <a:prstGeom prst="rect">
            <a:avLst/>
          </a:prstGeom>
          <a:noFill/>
          <a:ln/>
        </p:spPr>
        <p:txBody>
          <a:bodyPr wrap="square" lIns="0" tIns="0" rIns="0" bIns="0" rtlCol="0" anchor="ctr"/>
          <a:lstStyle/>
          <a:p>
            <a:pPr rtl="1" algn="r" indent="0" marL="0">
              <a:buNone/>
            </a:pPr>
            <a:r>
              <a:rPr lang="en-US" sz="1200" b="1" dirty="0">
                <a:solidFill>
                  <a:srgbClr val="4B2E9E"/>
                </a:solidFill>
                <a:latin typeface="Tajawal" pitchFamily="34" charset="0"/>
                <a:ea typeface="Tajawal" pitchFamily="34" charset="-122"/>
                <a:cs typeface="Tajawal" pitchFamily="34" charset="-120"/>
              </a:rPr>
              <a:t>تصورها بماسح أثر فيقول: هذا نقش الأسد ومروضه، ويروي قصته بلا شبكة</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9FAFC"/>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640080" y="1920240"/>
            <a:ext cx="4754880" cy="3017520"/>
          </a:xfrm>
          <a:prstGeom prst="rect">
            <a:avLst/>
          </a:prstGeom>
          <a:noFill/>
          <a:ln/>
        </p:spPr>
        <p:txBody>
          <a:bodyPr wrap="square" lIns="0" tIns="0" rIns="0" bIns="0" rtlCol="0" anchor="ctr"/>
          <a:lstStyle/>
          <a:p>
            <a:pPr algn="l" indent="0" marL="0">
              <a:buNone/>
            </a:pPr>
            <a:r>
              <a:rPr lang="en-US" sz="17000" b="1" dirty="0">
                <a:solidFill>
                  <a:srgbClr val="DCE5F0"/>
                </a:solidFill>
                <a:latin typeface="Calibri" pitchFamily="34" charset="0"/>
                <a:ea typeface="Calibri" pitchFamily="34" charset="-122"/>
                <a:cs typeface="Calibri" pitchFamily="34" charset="-120"/>
              </a:rPr>
              <a:t>02</a:t>
            </a:r>
            <a:endParaRPr lang="en-US" sz="17000" dirty="0"/>
          </a:p>
        </p:txBody>
      </p:sp>
      <p:sp>
        <p:nvSpPr>
          <p:cNvPr id="4" name="Text 1"/>
          <p:cNvSpPr/>
          <p:nvPr/>
        </p:nvSpPr>
        <p:spPr>
          <a:xfrm>
            <a:off x="5120640" y="2788920"/>
            <a:ext cx="6293815" cy="1280160"/>
          </a:xfrm>
          <a:prstGeom prst="rect">
            <a:avLst/>
          </a:prstGeom>
          <a:noFill/>
          <a:ln/>
        </p:spPr>
        <p:txBody>
          <a:bodyPr wrap="square" lIns="0" tIns="0" rIns="0" bIns="0" rtlCol="0" anchor="ctr"/>
          <a:lstStyle/>
          <a:p>
            <a:pPr rtl="1" algn="r" indent="0" marL="0">
              <a:buNone/>
            </a:pPr>
            <a:r>
              <a:rPr lang="en-US" sz="3600" b="1" dirty="0">
                <a:solidFill>
                  <a:srgbClr val="255174"/>
                </a:solidFill>
                <a:latin typeface="Tajawal" pitchFamily="34" charset="0"/>
                <a:ea typeface="Tajawal" pitchFamily="34" charset="-122"/>
                <a:cs typeface="Tajawal" pitchFamily="34" charset="-120"/>
              </a:rPr>
              <a:t>توظيف الذكاء الاصطناعي</a:t>
            </a:r>
            <a:endParaRPr lang="en-US" sz="3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9FAFC"/>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777240" y="548640"/>
            <a:ext cx="10637215" cy="502920"/>
          </a:xfrm>
          <a:prstGeom prst="rect">
            <a:avLst/>
          </a:prstGeom>
          <a:noFill/>
          <a:ln/>
        </p:spPr>
        <p:txBody>
          <a:bodyPr wrap="square" lIns="0" tIns="0" rIns="0" bIns="0" rtlCol="0" anchor="ctr"/>
          <a:lstStyle/>
          <a:p>
            <a:pPr rtl="1" algn="r" indent="0" marL="0">
              <a:buNone/>
            </a:pPr>
            <a:r>
              <a:rPr lang="en-US" sz="2600" b="1" dirty="0">
                <a:solidFill>
                  <a:srgbClr val="255174"/>
                </a:solidFill>
                <a:latin typeface="Tajawal" pitchFamily="34" charset="0"/>
                <a:ea typeface="Tajawal" pitchFamily="34" charset="-122"/>
                <a:cs typeface="Tajawal" pitchFamily="34" charset="-120"/>
              </a:rPr>
              <a:t>توظيف الذكاء الاصطناعي</a:t>
            </a:r>
            <a:endParaRPr lang="en-US" sz="2600" dirty="0"/>
          </a:p>
        </p:txBody>
      </p:sp>
      <p:sp>
        <p:nvSpPr>
          <p:cNvPr id="4" name="Shape 1"/>
          <p:cNvSpPr/>
          <p:nvPr/>
        </p:nvSpPr>
        <p:spPr>
          <a:xfrm>
            <a:off x="9082735" y="1234440"/>
            <a:ext cx="2331720" cy="4297680"/>
          </a:xfrm>
          <a:prstGeom prst="roundRect">
            <a:avLst>
              <a:gd name="adj" fmla="val 3137"/>
            </a:avLst>
          </a:prstGeom>
          <a:solidFill>
            <a:srgbClr val="F4F6F9"/>
          </a:solidFill>
          <a:ln w="9525">
            <a:solidFill>
              <a:srgbClr val="D9E2EC"/>
            </a:solidFill>
            <a:prstDash val="solid"/>
          </a:ln>
        </p:spPr>
      </p:sp>
      <p:pic>
        <p:nvPicPr>
          <p:cNvPr id="5" name="Image 1" descr="preencoded.png">    </p:cNvPr>
          <p:cNvPicPr>
            <a:picLocks noChangeAspect="1"/>
          </p:cNvPicPr>
          <p:nvPr/>
        </p:nvPicPr>
        <p:blipFill>
          <a:blip r:embed="rId2"/>
          <a:stretch>
            <a:fillRect/>
          </a:stretch>
        </p:blipFill>
        <p:spPr>
          <a:xfrm>
            <a:off x="9631375" y="1481328"/>
            <a:ext cx="1234440" cy="925830"/>
          </a:xfrm>
          <a:prstGeom prst="rect">
            <a:avLst/>
          </a:prstGeom>
        </p:spPr>
      </p:pic>
      <p:sp>
        <p:nvSpPr>
          <p:cNvPr id="6" name="Text 2"/>
          <p:cNvSpPr/>
          <p:nvPr/>
        </p:nvSpPr>
        <p:spPr>
          <a:xfrm>
            <a:off x="9082735" y="2450592"/>
            <a:ext cx="2331720" cy="237744"/>
          </a:xfrm>
          <a:prstGeom prst="rect">
            <a:avLst/>
          </a:prstGeom>
          <a:noFill/>
          <a:ln/>
        </p:spPr>
        <p:txBody>
          <a:bodyPr wrap="square" lIns="0" tIns="0" rIns="0" bIns="0" rtlCol="0" anchor="ctr"/>
          <a:lstStyle/>
          <a:p>
            <a:pPr rtl="1" algn="ctr" indent="0" marL="0">
              <a:buNone/>
            </a:pPr>
            <a:r>
              <a:rPr lang="en-US" sz="1000" dirty="0">
                <a:solidFill>
                  <a:srgbClr val="4B5B6E"/>
                </a:solidFill>
                <a:latin typeface="Tajawal" pitchFamily="34" charset="0"/>
                <a:ea typeface="Tajawal" pitchFamily="34" charset="-122"/>
                <a:cs typeface="Tajawal" pitchFamily="34" charset="-120"/>
              </a:rPr>
              <a:t>السائح يصور النقش</a:t>
            </a:r>
            <a:endParaRPr lang="en-US" sz="1000" dirty="0"/>
          </a:p>
        </p:txBody>
      </p:sp>
      <p:sp>
        <p:nvSpPr>
          <p:cNvPr id="7" name="Text 3"/>
          <p:cNvSpPr/>
          <p:nvPr/>
        </p:nvSpPr>
        <p:spPr>
          <a:xfrm>
            <a:off x="9082735" y="2724912"/>
            <a:ext cx="2331720" cy="219456"/>
          </a:xfrm>
          <a:prstGeom prst="rect">
            <a:avLst/>
          </a:prstGeom>
          <a:noFill/>
          <a:ln/>
        </p:spPr>
        <p:txBody>
          <a:bodyPr wrap="square" lIns="0" tIns="0" rIns="0" bIns="0" rtlCol="0" anchor="ctr"/>
          <a:lstStyle/>
          <a:p>
            <a:pPr algn="ctr" indent="0" marL="0">
              <a:buNone/>
            </a:pPr>
            <a:r>
              <a:rPr lang="en-US" sz="1200" dirty="0">
                <a:solidFill>
                  <a:srgbClr val="8357F6"/>
                </a:solidFill>
                <a:latin typeface="Calibri" pitchFamily="34" charset="0"/>
                <a:ea typeface="Calibri" pitchFamily="34" charset="-122"/>
                <a:cs typeface="Calibri" pitchFamily="34" charset="-120"/>
              </a:rPr>
              <a:t>▼</a:t>
            </a:r>
            <a:endParaRPr lang="en-US" sz="1200" dirty="0"/>
          </a:p>
        </p:txBody>
      </p:sp>
      <p:sp>
        <p:nvSpPr>
          <p:cNvPr id="8" name="Shape 4"/>
          <p:cNvSpPr/>
          <p:nvPr/>
        </p:nvSpPr>
        <p:spPr>
          <a:xfrm>
            <a:off x="9631375" y="2980944"/>
            <a:ext cx="1234440" cy="530352"/>
          </a:xfrm>
          <a:prstGeom prst="roundRect">
            <a:avLst>
              <a:gd name="adj" fmla="val 13793"/>
            </a:avLst>
          </a:prstGeom>
          <a:solidFill>
            <a:srgbClr val="FFFFFF"/>
          </a:solidFill>
          <a:ln w="9525">
            <a:solidFill>
              <a:srgbClr val="D9E2EC"/>
            </a:solidFill>
            <a:prstDash val="solid"/>
          </a:ln>
        </p:spPr>
      </p:sp>
      <p:sp>
        <p:nvSpPr>
          <p:cNvPr id="9" name="Text 5"/>
          <p:cNvSpPr/>
          <p:nvPr/>
        </p:nvSpPr>
        <p:spPr>
          <a:xfrm>
            <a:off x="9631375" y="3044952"/>
            <a:ext cx="1234440" cy="219456"/>
          </a:xfrm>
          <a:prstGeom prst="rect">
            <a:avLst/>
          </a:prstGeom>
          <a:noFill/>
          <a:ln/>
        </p:spPr>
        <p:txBody>
          <a:bodyPr wrap="square" lIns="0" tIns="0" rIns="0" bIns="0" rtlCol="0" anchor="ctr"/>
          <a:lstStyle/>
          <a:p>
            <a:pPr algn="ctr" indent="0" marL="0">
              <a:buNone/>
            </a:pPr>
            <a:r>
              <a:rPr lang="en-US" sz="950" dirty="0">
                <a:solidFill>
                  <a:srgbClr val="255174"/>
                </a:solidFill>
                <a:latin typeface="Courier New" pitchFamily="34" charset="0"/>
                <a:ea typeface="Courier New" pitchFamily="34" charset="-122"/>
                <a:cs typeface="Courier New" pitchFamily="34" charset="-120"/>
              </a:rPr>
              <a:t>0.417   0.902</a:t>
            </a:r>
            <a:endParaRPr lang="en-US" sz="950" dirty="0"/>
          </a:p>
        </p:txBody>
      </p:sp>
      <p:sp>
        <p:nvSpPr>
          <p:cNvPr id="10" name="Text 6"/>
          <p:cNvSpPr/>
          <p:nvPr/>
        </p:nvSpPr>
        <p:spPr>
          <a:xfrm>
            <a:off x="9631375" y="3246120"/>
            <a:ext cx="1234440" cy="219456"/>
          </a:xfrm>
          <a:prstGeom prst="rect">
            <a:avLst/>
          </a:prstGeom>
          <a:noFill/>
          <a:ln/>
        </p:spPr>
        <p:txBody>
          <a:bodyPr wrap="square" lIns="0" tIns="0" rIns="0" bIns="0" rtlCol="0" anchor="ctr"/>
          <a:lstStyle/>
          <a:p>
            <a:pPr algn="ctr" indent="0" marL="0">
              <a:buNone/>
            </a:pPr>
            <a:r>
              <a:rPr lang="en-US" sz="950" dirty="0">
                <a:solidFill>
                  <a:srgbClr val="255174"/>
                </a:solidFill>
                <a:latin typeface="Courier New" pitchFamily="34" charset="0"/>
                <a:ea typeface="Courier New" pitchFamily="34" charset="-122"/>
                <a:cs typeface="Courier New" pitchFamily="34" charset="-120"/>
              </a:rPr>
              <a:t>0.773   0.264</a:t>
            </a:r>
            <a:endParaRPr lang="en-US" sz="950" dirty="0"/>
          </a:p>
        </p:txBody>
      </p:sp>
      <p:sp>
        <p:nvSpPr>
          <p:cNvPr id="11" name="Text 7"/>
          <p:cNvSpPr/>
          <p:nvPr/>
        </p:nvSpPr>
        <p:spPr>
          <a:xfrm>
            <a:off x="9082735" y="3547872"/>
            <a:ext cx="2331720" cy="237744"/>
          </a:xfrm>
          <a:prstGeom prst="rect">
            <a:avLst/>
          </a:prstGeom>
          <a:noFill/>
          <a:ln/>
        </p:spPr>
        <p:txBody>
          <a:bodyPr wrap="square" lIns="0" tIns="0" rIns="0" bIns="0" rtlCol="0" anchor="ctr"/>
          <a:lstStyle/>
          <a:p>
            <a:pPr rtl="1" algn="ctr" indent="0" marL="0">
              <a:buNone/>
            </a:pPr>
            <a:r>
              <a:rPr lang="en-US" sz="1000" dirty="0">
                <a:solidFill>
                  <a:srgbClr val="4B5B6E"/>
                </a:solidFill>
                <a:latin typeface="Tajawal" pitchFamily="34" charset="0"/>
                <a:ea typeface="Tajawal" pitchFamily="34" charset="-122"/>
                <a:cs typeface="Tajawal" pitchFamily="34" charset="-120"/>
              </a:rPr>
              <a:t>النموذج يلخص شكله في أرقام</a:t>
            </a:r>
            <a:endParaRPr lang="en-US" sz="1000" dirty="0"/>
          </a:p>
        </p:txBody>
      </p:sp>
      <p:sp>
        <p:nvSpPr>
          <p:cNvPr id="12" name="Text 8"/>
          <p:cNvSpPr/>
          <p:nvPr/>
        </p:nvSpPr>
        <p:spPr>
          <a:xfrm>
            <a:off x="9082735" y="3822192"/>
            <a:ext cx="2331720" cy="219456"/>
          </a:xfrm>
          <a:prstGeom prst="rect">
            <a:avLst/>
          </a:prstGeom>
          <a:noFill/>
          <a:ln/>
        </p:spPr>
        <p:txBody>
          <a:bodyPr wrap="square" lIns="0" tIns="0" rIns="0" bIns="0" rtlCol="0" anchor="ctr"/>
          <a:lstStyle/>
          <a:p>
            <a:pPr algn="ctr" indent="0" marL="0">
              <a:buNone/>
            </a:pPr>
            <a:r>
              <a:rPr lang="en-US" sz="1200" dirty="0">
                <a:solidFill>
                  <a:srgbClr val="8357F6"/>
                </a:solidFill>
                <a:latin typeface="Calibri" pitchFamily="34" charset="0"/>
                <a:ea typeface="Calibri" pitchFamily="34" charset="-122"/>
                <a:cs typeface="Calibri" pitchFamily="34" charset="-120"/>
              </a:rPr>
              <a:t>▼</a:t>
            </a:r>
            <a:endParaRPr lang="en-US" sz="1200" dirty="0"/>
          </a:p>
        </p:txBody>
      </p:sp>
      <p:sp>
        <p:nvSpPr>
          <p:cNvPr id="13" name="Shape 9"/>
          <p:cNvSpPr/>
          <p:nvPr/>
        </p:nvSpPr>
        <p:spPr>
          <a:xfrm>
            <a:off x="9576511" y="4096512"/>
            <a:ext cx="1344168" cy="1035558"/>
          </a:xfrm>
          <a:prstGeom prst="roundRect">
            <a:avLst>
              <a:gd name="adj" fmla="val 4415"/>
            </a:avLst>
          </a:prstGeom>
          <a:solidFill>
            <a:srgbClr val="8357F6"/>
          </a:solidFill>
          <a:ln w="12700">
            <a:solidFill>
              <a:srgbClr val="333333"/>
            </a:solidFill>
            <a:prstDash val="solid"/>
          </a:ln>
        </p:spPr>
      </p:sp>
      <p:pic>
        <p:nvPicPr>
          <p:cNvPr id="14" name="Image 2" descr="preencoded.png">    </p:cNvPr>
          <p:cNvPicPr>
            <a:picLocks noChangeAspect="1"/>
          </p:cNvPicPr>
          <p:nvPr/>
        </p:nvPicPr>
        <p:blipFill>
          <a:blip r:embed="rId3"/>
          <a:stretch>
            <a:fillRect/>
          </a:stretch>
        </p:blipFill>
        <p:spPr>
          <a:xfrm>
            <a:off x="9631375" y="4151376"/>
            <a:ext cx="1234440" cy="925830"/>
          </a:xfrm>
          <a:prstGeom prst="rect">
            <a:avLst/>
          </a:prstGeom>
        </p:spPr>
      </p:pic>
      <p:sp>
        <p:nvSpPr>
          <p:cNvPr id="15" name="Text 10"/>
          <p:cNvSpPr/>
          <p:nvPr/>
        </p:nvSpPr>
        <p:spPr>
          <a:xfrm>
            <a:off x="9082735" y="5230368"/>
            <a:ext cx="2331720" cy="237744"/>
          </a:xfrm>
          <a:prstGeom prst="rect">
            <a:avLst/>
          </a:prstGeom>
          <a:noFill/>
          <a:ln/>
        </p:spPr>
        <p:txBody>
          <a:bodyPr wrap="square" lIns="0" tIns="0" rIns="0" bIns="0" rtlCol="0" anchor="ctr"/>
          <a:lstStyle/>
          <a:p>
            <a:pPr rtl="1" algn="ctr" indent="0" marL="0">
              <a:buNone/>
            </a:pPr>
            <a:r>
              <a:rPr lang="en-US" sz="1000" dirty="0">
                <a:solidFill>
                  <a:srgbClr val="4B5B6E"/>
                </a:solidFill>
                <a:latin typeface="Tajawal" pitchFamily="34" charset="0"/>
                <a:ea typeface="Tajawal" pitchFamily="34" charset="-122"/>
                <a:cs typeface="Tajawal" pitchFamily="34" charset="-120"/>
              </a:rPr>
              <a:t>يطابقها بالنقوش فيعرف اسمه</a:t>
            </a:r>
            <a:endParaRPr lang="en-US" sz="1000" dirty="0"/>
          </a:p>
        </p:txBody>
      </p:sp>
      <p:sp>
        <p:nvSpPr>
          <p:cNvPr id="16" name="Shape 11"/>
          <p:cNvSpPr/>
          <p:nvPr/>
        </p:nvSpPr>
        <p:spPr>
          <a:xfrm>
            <a:off x="777240" y="1234440"/>
            <a:ext cx="7985455" cy="1225296"/>
          </a:xfrm>
          <a:prstGeom prst="roundRect">
            <a:avLst>
              <a:gd name="adj" fmla="val 5970"/>
            </a:avLst>
          </a:prstGeom>
          <a:solidFill>
            <a:srgbClr val="EEF3F9"/>
          </a:solidFill>
          <a:ln w="9525">
            <a:solidFill>
              <a:srgbClr val="D9E2EC"/>
            </a:solidFill>
            <a:prstDash val="solid"/>
          </a:ln>
        </p:spPr>
      </p:sp>
      <p:sp>
        <p:nvSpPr>
          <p:cNvPr id="17" name="Text 12"/>
          <p:cNvSpPr/>
          <p:nvPr/>
        </p:nvSpPr>
        <p:spPr>
          <a:xfrm>
            <a:off x="1014984" y="1380744"/>
            <a:ext cx="7509967" cy="292608"/>
          </a:xfrm>
          <a:prstGeom prst="rect">
            <a:avLst/>
          </a:prstGeom>
          <a:noFill/>
          <a:ln/>
        </p:spPr>
        <p:txBody>
          <a:bodyPr wrap="square" lIns="0" tIns="0" rIns="0" bIns="0" rtlCol="0" anchor="ctr"/>
          <a:lstStyle/>
          <a:p>
            <a:pPr rtl="1" algn="r" indent="0" marL="0">
              <a:buNone/>
            </a:pPr>
            <a:r>
              <a:rPr lang="en-US" sz="1350" b="1" dirty="0">
                <a:solidFill>
                  <a:srgbClr val="8357F6"/>
                </a:solidFill>
                <a:latin typeface="Tajawal" pitchFamily="34" charset="0"/>
                <a:ea typeface="Tajawal" pitchFamily="34" charset="-122"/>
                <a:cs typeface="Tajawal" pitchFamily="34" charset="-120"/>
              </a:rPr>
              <a:t>جوهرية الذكاء الاصطناعي في الحل</a:t>
            </a:r>
            <a:endParaRPr lang="en-US" sz="1350" dirty="0"/>
          </a:p>
        </p:txBody>
      </p:sp>
      <p:sp>
        <p:nvSpPr>
          <p:cNvPr id="18" name="Text 13"/>
          <p:cNvSpPr/>
          <p:nvPr/>
        </p:nvSpPr>
        <p:spPr>
          <a:xfrm>
            <a:off x="1014984" y="1728216"/>
            <a:ext cx="7509967" cy="585216"/>
          </a:xfrm>
          <a:prstGeom prst="rect">
            <a:avLst/>
          </a:prstGeom>
          <a:noFill/>
          <a:ln/>
        </p:spPr>
        <p:txBody>
          <a:bodyPr wrap="square" lIns="0" tIns="0" rIns="0" bIns="0" rtlCol="0" anchor="t"/>
          <a:lstStyle/>
          <a:p>
            <a:pPr rtl="1" algn="r" indent="0" marL="0">
              <a:lnSpc>
                <a:spcPts val="2000"/>
              </a:lnSpc>
              <a:buNone/>
            </a:pPr>
            <a:r>
              <a:rPr lang="en-US" sz="1250" dirty="0">
                <a:solidFill>
                  <a:srgbClr val="4B5B6E"/>
                </a:solidFill>
                <a:latin typeface="Tajawal" pitchFamily="34" charset="0"/>
                <a:ea typeface="Tajawal" pitchFamily="34" charset="-122"/>
                <a:cs typeface="Tajawal" pitchFamily="34" charset="-120"/>
              </a:rPr>
              <a:t>التعرف على النقش هو المنتج نفسه، ويقوم على نموذج DINOv3 من Meta، المدرب على ملايين الصور فصار يميز الأشكال وحده</a:t>
            </a:r>
            <a:endParaRPr lang="en-US" sz="1250" dirty="0"/>
          </a:p>
        </p:txBody>
      </p:sp>
      <p:sp>
        <p:nvSpPr>
          <p:cNvPr id="19" name="Shape 14"/>
          <p:cNvSpPr/>
          <p:nvPr/>
        </p:nvSpPr>
        <p:spPr>
          <a:xfrm>
            <a:off x="777240" y="2642616"/>
            <a:ext cx="7985455" cy="1572768"/>
          </a:xfrm>
          <a:prstGeom prst="roundRect">
            <a:avLst>
              <a:gd name="adj" fmla="val 4651"/>
            </a:avLst>
          </a:prstGeom>
          <a:solidFill>
            <a:srgbClr val="EEF3F9"/>
          </a:solidFill>
          <a:ln w="9525">
            <a:solidFill>
              <a:srgbClr val="D9E2EC"/>
            </a:solidFill>
            <a:prstDash val="solid"/>
          </a:ln>
        </p:spPr>
      </p:sp>
      <p:sp>
        <p:nvSpPr>
          <p:cNvPr id="20" name="Text 15"/>
          <p:cNvSpPr/>
          <p:nvPr/>
        </p:nvSpPr>
        <p:spPr>
          <a:xfrm>
            <a:off x="1014984" y="2788920"/>
            <a:ext cx="7509967" cy="292608"/>
          </a:xfrm>
          <a:prstGeom prst="rect">
            <a:avLst/>
          </a:prstGeom>
          <a:noFill/>
          <a:ln/>
        </p:spPr>
        <p:txBody>
          <a:bodyPr wrap="square" lIns="0" tIns="0" rIns="0" bIns="0" rtlCol="0" anchor="ctr"/>
          <a:lstStyle/>
          <a:p>
            <a:pPr rtl="1" algn="r" indent="0" marL="0">
              <a:buNone/>
            </a:pPr>
            <a:r>
              <a:rPr lang="en-US" sz="1350" b="1" dirty="0">
                <a:solidFill>
                  <a:srgbClr val="8357F6"/>
                </a:solidFill>
                <a:latin typeface="Tajawal" pitchFamily="34" charset="0"/>
                <a:ea typeface="Tajawal" pitchFamily="34" charset="-122"/>
                <a:cs typeface="Tajawal" pitchFamily="34" charset="-120"/>
              </a:rPr>
              <a:t>ملاءمة استخدامه للمشكلة</a:t>
            </a:r>
            <a:endParaRPr lang="en-US" sz="1350" dirty="0"/>
          </a:p>
        </p:txBody>
      </p:sp>
      <p:sp>
        <p:nvSpPr>
          <p:cNvPr id="21" name="Text 16"/>
          <p:cNvSpPr/>
          <p:nvPr/>
        </p:nvSpPr>
        <p:spPr>
          <a:xfrm>
            <a:off x="1014984" y="3136392"/>
            <a:ext cx="7509967" cy="932688"/>
          </a:xfrm>
          <a:prstGeom prst="rect">
            <a:avLst/>
          </a:prstGeom>
          <a:noFill/>
          <a:ln/>
        </p:spPr>
        <p:txBody>
          <a:bodyPr wrap="square" lIns="0" tIns="0" rIns="0" bIns="0" rtlCol="0" anchor="t"/>
          <a:lstStyle/>
          <a:p>
            <a:pPr rtl="1" algn="r" indent="0" marL="0">
              <a:lnSpc>
                <a:spcPts val="2000"/>
              </a:lnSpc>
              <a:buNone/>
            </a:pPr>
            <a:r>
              <a:rPr lang="en-US" sz="1250" dirty="0">
                <a:solidFill>
                  <a:srgbClr val="4B5B6E"/>
                </a:solidFill>
                <a:latin typeface="Tajawal" pitchFamily="34" charset="0"/>
                <a:ea typeface="Tajawal" pitchFamily="34" charset="-122"/>
                <a:cs typeface="Tajawal" pitchFamily="34" charset="-120"/>
              </a:rPr>
              <a:t>المشكلة صورة لا نص، والموقع بلا شبكة، فاخترنا نموذجا يعمل داخل الجوال، وبنينا فوقه فهرسا من 200 صورة ميدانية</a:t>
            </a:r>
            <a:endParaRPr lang="en-US" sz="1250" dirty="0"/>
          </a:p>
        </p:txBody>
      </p:sp>
      <p:sp>
        <p:nvSpPr>
          <p:cNvPr id="22" name="Shape 17"/>
          <p:cNvSpPr/>
          <p:nvPr/>
        </p:nvSpPr>
        <p:spPr>
          <a:xfrm>
            <a:off x="777240" y="4398264"/>
            <a:ext cx="7985455" cy="1133856"/>
          </a:xfrm>
          <a:prstGeom prst="roundRect">
            <a:avLst>
              <a:gd name="adj" fmla="val 6452"/>
            </a:avLst>
          </a:prstGeom>
          <a:solidFill>
            <a:srgbClr val="EEF3F9"/>
          </a:solidFill>
          <a:ln w="9525">
            <a:solidFill>
              <a:srgbClr val="D9E2EC"/>
            </a:solidFill>
            <a:prstDash val="solid"/>
          </a:ln>
        </p:spPr>
      </p:sp>
      <p:sp>
        <p:nvSpPr>
          <p:cNvPr id="23" name="Text 18"/>
          <p:cNvSpPr/>
          <p:nvPr/>
        </p:nvSpPr>
        <p:spPr>
          <a:xfrm>
            <a:off x="1014984" y="4544568"/>
            <a:ext cx="7509967" cy="292608"/>
          </a:xfrm>
          <a:prstGeom prst="rect">
            <a:avLst/>
          </a:prstGeom>
          <a:noFill/>
          <a:ln/>
        </p:spPr>
        <p:txBody>
          <a:bodyPr wrap="square" lIns="0" tIns="0" rIns="0" bIns="0" rtlCol="0" anchor="ctr"/>
          <a:lstStyle/>
          <a:p>
            <a:pPr rtl="1" algn="r" indent="0" marL="0">
              <a:buNone/>
            </a:pPr>
            <a:r>
              <a:rPr lang="en-US" sz="1350" b="1" dirty="0">
                <a:solidFill>
                  <a:srgbClr val="8357F6"/>
                </a:solidFill>
                <a:latin typeface="Tajawal" pitchFamily="34" charset="0"/>
                <a:ea typeface="Tajawal" pitchFamily="34" charset="-122"/>
                <a:cs typeface="Tajawal" pitchFamily="34" charset="-120"/>
              </a:rPr>
              <a:t>القيمة الحقيقية المضافة</a:t>
            </a:r>
            <a:endParaRPr lang="en-US" sz="1350" dirty="0"/>
          </a:p>
        </p:txBody>
      </p:sp>
      <p:sp>
        <p:nvSpPr>
          <p:cNvPr id="24" name="Text 19"/>
          <p:cNvSpPr/>
          <p:nvPr/>
        </p:nvSpPr>
        <p:spPr>
          <a:xfrm>
            <a:off x="1014984" y="4892040"/>
            <a:ext cx="7509967" cy="493776"/>
          </a:xfrm>
          <a:prstGeom prst="rect">
            <a:avLst/>
          </a:prstGeom>
          <a:noFill/>
          <a:ln/>
        </p:spPr>
        <p:txBody>
          <a:bodyPr wrap="square" lIns="0" tIns="0" rIns="0" bIns="0" rtlCol="0" anchor="t"/>
          <a:lstStyle/>
          <a:p>
            <a:pPr rtl="1" algn="r" indent="0" marL="0">
              <a:lnSpc>
                <a:spcPts val="2000"/>
              </a:lnSpc>
              <a:buNone/>
            </a:pPr>
            <a:r>
              <a:rPr lang="en-US" sz="1250" dirty="0">
                <a:solidFill>
                  <a:srgbClr val="4B5B6E"/>
                </a:solidFill>
                <a:latin typeface="Tajawal" pitchFamily="34" charset="0"/>
                <a:ea typeface="Tajawal" pitchFamily="34" charset="-122"/>
                <a:cs typeface="Tajawal" pitchFamily="34" charset="-120"/>
              </a:rPr>
              <a:t>يتحسن مع كل تصحيح من السياح، ونوظف الذكاء الاصطناعي مرة أخرى في توليد الرواية المسموعة في 29 لغة</a:t>
            </a:r>
            <a:endParaRPr lang="en-US" sz="12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9FAFC"/>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640080" y="1920240"/>
            <a:ext cx="4754880" cy="3017520"/>
          </a:xfrm>
          <a:prstGeom prst="rect">
            <a:avLst/>
          </a:prstGeom>
          <a:noFill/>
          <a:ln/>
        </p:spPr>
        <p:txBody>
          <a:bodyPr wrap="square" lIns="0" tIns="0" rIns="0" bIns="0" rtlCol="0" anchor="ctr"/>
          <a:lstStyle/>
          <a:p>
            <a:pPr algn="l" indent="0" marL="0">
              <a:buNone/>
            </a:pPr>
            <a:r>
              <a:rPr lang="en-US" sz="17000" b="1" dirty="0">
                <a:solidFill>
                  <a:srgbClr val="DCE5F0"/>
                </a:solidFill>
                <a:latin typeface="Calibri" pitchFamily="34" charset="0"/>
                <a:ea typeface="Calibri" pitchFamily="34" charset="-122"/>
                <a:cs typeface="Calibri" pitchFamily="34" charset="-120"/>
              </a:rPr>
              <a:t>03</a:t>
            </a:r>
            <a:endParaRPr lang="en-US" sz="17000" dirty="0"/>
          </a:p>
        </p:txBody>
      </p:sp>
      <p:sp>
        <p:nvSpPr>
          <p:cNvPr id="4" name="Text 1"/>
          <p:cNvSpPr/>
          <p:nvPr/>
        </p:nvSpPr>
        <p:spPr>
          <a:xfrm>
            <a:off x="5120640" y="2788920"/>
            <a:ext cx="6293815" cy="1280160"/>
          </a:xfrm>
          <a:prstGeom prst="rect">
            <a:avLst/>
          </a:prstGeom>
          <a:noFill/>
          <a:ln/>
        </p:spPr>
        <p:txBody>
          <a:bodyPr wrap="square" lIns="0" tIns="0" rIns="0" bIns="0" rtlCol="0" anchor="ctr"/>
          <a:lstStyle/>
          <a:p>
            <a:pPr rtl="1" algn="r" indent="0" marL="0">
              <a:buNone/>
            </a:pPr>
            <a:r>
              <a:rPr lang="en-US" sz="3600" b="1" dirty="0">
                <a:solidFill>
                  <a:srgbClr val="255174"/>
                </a:solidFill>
                <a:latin typeface="Tajawal" pitchFamily="34" charset="0"/>
                <a:ea typeface="Tajawal" pitchFamily="34" charset="-122"/>
                <a:cs typeface="Tajawal" pitchFamily="34" charset="-120"/>
              </a:rPr>
              <a:t>حاجة السوق والقيمة المقدمة</a:t>
            </a:r>
            <a:endParaRPr lang="en-US" sz="3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9FAFC"/>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777240" y="548640"/>
            <a:ext cx="10637215" cy="502920"/>
          </a:xfrm>
          <a:prstGeom prst="rect">
            <a:avLst/>
          </a:prstGeom>
          <a:noFill/>
          <a:ln/>
        </p:spPr>
        <p:txBody>
          <a:bodyPr wrap="square" lIns="0" tIns="0" rIns="0" bIns="0" rtlCol="0" anchor="ctr"/>
          <a:lstStyle/>
          <a:p>
            <a:pPr rtl="1" algn="r" indent="0" marL="0">
              <a:buNone/>
            </a:pPr>
            <a:r>
              <a:rPr lang="en-US" sz="2600" b="1" dirty="0">
                <a:solidFill>
                  <a:srgbClr val="255174"/>
                </a:solidFill>
                <a:latin typeface="Tajawal" pitchFamily="34" charset="0"/>
                <a:ea typeface="Tajawal" pitchFamily="34" charset="-122"/>
                <a:cs typeface="Tajawal" pitchFamily="34" charset="-120"/>
              </a:rPr>
              <a:t>حاجة السوق والقيمة المقدمة</a:t>
            </a:r>
            <a:endParaRPr lang="en-US" sz="2600" dirty="0"/>
          </a:p>
        </p:txBody>
      </p:sp>
      <p:sp>
        <p:nvSpPr>
          <p:cNvPr id="4" name="Shape 1"/>
          <p:cNvSpPr/>
          <p:nvPr/>
        </p:nvSpPr>
        <p:spPr>
          <a:xfrm>
            <a:off x="6233008" y="1234440"/>
            <a:ext cx="5181448" cy="1783080"/>
          </a:xfrm>
          <a:prstGeom prst="roundRect">
            <a:avLst>
              <a:gd name="adj" fmla="val 4103"/>
            </a:avLst>
          </a:prstGeom>
          <a:solidFill>
            <a:srgbClr val="EEF3F9"/>
          </a:solidFill>
          <a:ln w="9525">
            <a:solidFill>
              <a:srgbClr val="D9E2EC"/>
            </a:solidFill>
            <a:prstDash val="solid"/>
          </a:ln>
        </p:spPr>
      </p:sp>
      <p:pic>
        <p:nvPicPr>
          <p:cNvPr id="5" name="Image 1" descr="preencoded.png">    </p:cNvPr>
          <p:cNvPicPr>
            <a:picLocks noChangeAspect="1"/>
          </p:cNvPicPr>
          <p:nvPr/>
        </p:nvPicPr>
        <p:blipFill>
          <a:blip r:embed="rId2"/>
          <a:stretch>
            <a:fillRect/>
          </a:stretch>
        </p:blipFill>
        <p:spPr>
          <a:xfrm>
            <a:off x="6489040" y="1453896"/>
            <a:ext cx="560349" cy="457200"/>
          </a:xfrm>
          <a:prstGeom prst="rect">
            <a:avLst/>
          </a:prstGeom>
        </p:spPr>
      </p:pic>
      <p:sp>
        <p:nvSpPr>
          <p:cNvPr id="6" name="Text 2"/>
          <p:cNvSpPr/>
          <p:nvPr/>
        </p:nvSpPr>
        <p:spPr>
          <a:xfrm>
            <a:off x="6507328" y="1472184"/>
            <a:ext cx="3889579" cy="329184"/>
          </a:xfrm>
          <a:prstGeom prst="rect">
            <a:avLst/>
          </a:prstGeom>
          <a:noFill/>
          <a:ln/>
        </p:spPr>
        <p:txBody>
          <a:bodyPr wrap="square" lIns="0" tIns="0" rIns="0" bIns="0" rtlCol="0" anchor="ctr"/>
          <a:lstStyle/>
          <a:p>
            <a:pPr rtl="1" algn="r" indent="0" marL="0">
              <a:buNone/>
            </a:pPr>
            <a:r>
              <a:rPr lang="en-US" sz="1500" b="1" dirty="0">
                <a:solidFill>
                  <a:srgbClr val="255174"/>
                </a:solidFill>
                <a:latin typeface="Tajawal" pitchFamily="34" charset="0"/>
                <a:ea typeface="Tajawal" pitchFamily="34" charset="-122"/>
                <a:cs typeface="Tajawal" pitchFamily="34" charset="-120"/>
              </a:rPr>
              <a:t>المشكلة</a:t>
            </a:r>
            <a:endParaRPr lang="en-US" sz="1500" dirty="0"/>
          </a:p>
        </p:txBody>
      </p:sp>
      <p:sp>
        <p:nvSpPr>
          <p:cNvPr id="7" name="Text 3"/>
          <p:cNvSpPr/>
          <p:nvPr/>
        </p:nvSpPr>
        <p:spPr>
          <a:xfrm>
            <a:off x="6507328" y="2020824"/>
            <a:ext cx="4632808" cy="832104"/>
          </a:xfrm>
          <a:prstGeom prst="rect">
            <a:avLst/>
          </a:prstGeom>
          <a:noFill/>
          <a:ln/>
        </p:spPr>
        <p:txBody>
          <a:bodyPr wrap="square" lIns="0" tIns="0" rIns="0" bIns="0" rtlCol="0" anchor="t"/>
          <a:lstStyle/>
          <a:p>
            <a:pPr rtl="1" algn="r" indent="0" marL="0">
              <a:lnSpc>
                <a:spcPts val="2000"/>
              </a:lnSpc>
              <a:buNone/>
            </a:pPr>
            <a:r>
              <a:rPr lang="en-US" sz="1250" dirty="0">
                <a:solidFill>
                  <a:srgbClr val="4B5B6E"/>
                </a:solidFill>
                <a:latin typeface="Tajawal" pitchFamily="34" charset="0"/>
                <a:ea typeface="Tajawal" pitchFamily="34" charset="-122"/>
                <a:cs typeface="Tajawal" pitchFamily="34" charset="-120"/>
              </a:rPr>
              <a:t>جبة موقع تراث عالمي فيه مئات النقوش، والسائح يقف أمامها لا يعرف ما يرى</a:t>
            </a:r>
            <a:endParaRPr lang="en-US" sz="1250" dirty="0"/>
          </a:p>
        </p:txBody>
      </p:sp>
      <p:sp>
        <p:nvSpPr>
          <p:cNvPr id="8" name="Shape 4"/>
          <p:cNvSpPr/>
          <p:nvPr/>
        </p:nvSpPr>
        <p:spPr>
          <a:xfrm>
            <a:off x="777240" y="1234440"/>
            <a:ext cx="5181448" cy="1783080"/>
          </a:xfrm>
          <a:prstGeom prst="roundRect">
            <a:avLst>
              <a:gd name="adj" fmla="val 4103"/>
            </a:avLst>
          </a:prstGeom>
          <a:solidFill>
            <a:srgbClr val="EEF3F9"/>
          </a:solidFill>
          <a:ln w="9525">
            <a:solidFill>
              <a:srgbClr val="D9E2EC"/>
            </a:solidFill>
            <a:prstDash val="solid"/>
          </a:ln>
        </p:spPr>
      </p:sp>
      <p:pic>
        <p:nvPicPr>
          <p:cNvPr id="9" name="Image 2" descr="preencoded.png">    </p:cNvPr>
          <p:cNvPicPr>
            <a:picLocks noChangeAspect="1"/>
          </p:cNvPicPr>
          <p:nvPr/>
        </p:nvPicPr>
        <p:blipFill>
          <a:blip r:embed="rId3"/>
          <a:stretch>
            <a:fillRect/>
          </a:stretch>
        </p:blipFill>
        <p:spPr>
          <a:xfrm>
            <a:off x="1033272" y="1453896"/>
            <a:ext cx="493986" cy="457200"/>
          </a:xfrm>
          <a:prstGeom prst="rect">
            <a:avLst/>
          </a:prstGeom>
        </p:spPr>
      </p:pic>
      <p:sp>
        <p:nvSpPr>
          <p:cNvPr id="10" name="Text 5"/>
          <p:cNvSpPr/>
          <p:nvPr/>
        </p:nvSpPr>
        <p:spPr>
          <a:xfrm>
            <a:off x="1051560" y="1472184"/>
            <a:ext cx="3955941" cy="329184"/>
          </a:xfrm>
          <a:prstGeom prst="rect">
            <a:avLst/>
          </a:prstGeom>
          <a:noFill/>
          <a:ln/>
        </p:spPr>
        <p:txBody>
          <a:bodyPr wrap="square" lIns="0" tIns="0" rIns="0" bIns="0" rtlCol="0" anchor="ctr"/>
          <a:lstStyle/>
          <a:p>
            <a:pPr rtl="1" algn="r" indent="0" marL="0">
              <a:buNone/>
            </a:pPr>
            <a:r>
              <a:rPr lang="en-US" sz="1500" b="1" dirty="0">
                <a:solidFill>
                  <a:srgbClr val="255174"/>
                </a:solidFill>
                <a:latin typeface="Tajawal" pitchFamily="34" charset="0"/>
                <a:ea typeface="Tajawal" pitchFamily="34" charset="-122"/>
                <a:cs typeface="Tajawal" pitchFamily="34" charset="-120"/>
              </a:rPr>
              <a:t>الفئة المستهدفة</a:t>
            </a:r>
            <a:endParaRPr lang="en-US" sz="1500" dirty="0"/>
          </a:p>
        </p:txBody>
      </p:sp>
      <p:sp>
        <p:nvSpPr>
          <p:cNvPr id="11" name="Text 6"/>
          <p:cNvSpPr/>
          <p:nvPr/>
        </p:nvSpPr>
        <p:spPr>
          <a:xfrm>
            <a:off x="1051560" y="2020824"/>
            <a:ext cx="4632808" cy="832104"/>
          </a:xfrm>
          <a:prstGeom prst="rect">
            <a:avLst/>
          </a:prstGeom>
          <a:noFill/>
          <a:ln/>
        </p:spPr>
        <p:txBody>
          <a:bodyPr wrap="square" lIns="0" tIns="0" rIns="0" bIns="0" rtlCol="0" anchor="t"/>
          <a:lstStyle/>
          <a:p>
            <a:pPr rtl="1" algn="r" indent="0" marL="0">
              <a:lnSpc>
                <a:spcPts val="2000"/>
              </a:lnSpc>
              <a:buNone/>
            </a:pPr>
            <a:r>
              <a:rPr lang="en-US" sz="1250" dirty="0">
                <a:solidFill>
                  <a:srgbClr val="4B5B6E"/>
                </a:solidFill>
                <a:latin typeface="Tajawal" pitchFamily="34" charset="0"/>
                <a:ea typeface="Tajawal" pitchFamily="34" charset="-122"/>
                <a:cs typeface="Tajawal" pitchFamily="34" charset="-120"/>
              </a:rPr>
              <a:t>السياح الذين يزورون النقوش، سواء من داخل المملكة أو من خارجها، والرحلات المدرسية، وهيئة التراث</a:t>
            </a:r>
            <a:endParaRPr lang="en-US" sz="1250" dirty="0"/>
          </a:p>
        </p:txBody>
      </p:sp>
      <p:sp>
        <p:nvSpPr>
          <p:cNvPr id="12" name="Shape 7"/>
          <p:cNvSpPr/>
          <p:nvPr/>
        </p:nvSpPr>
        <p:spPr>
          <a:xfrm>
            <a:off x="6233008" y="3273552"/>
            <a:ext cx="5181448" cy="1783080"/>
          </a:xfrm>
          <a:prstGeom prst="roundRect">
            <a:avLst>
              <a:gd name="adj" fmla="val 4103"/>
            </a:avLst>
          </a:prstGeom>
          <a:solidFill>
            <a:srgbClr val="EEF3F9"/>
          </a:solidFill>
          <a:ln w="9525">
            <a:solidFill>
              <a:srgbClr val="D9E2EC"/>
            </a:solidFill>
            <a:prstDash val="solid"/>
          </a:ln>
        </p:spPr>
      </p:sp>
      <p:pic>
        <p:nvPicPr>
          <p:cNvPr id="13" name="Image 3" descr="preencoded.png">    </p:cNvPr>
          <p:cNvPicPr>
            <a:picLocks noChangeAspect="1"/>
          </p:cNvPicPr>
          <p:nvPr/>
        </p:nvPicPr>
        <p:blipFill>
          <a:blip r:embed="rId4"/>
          <a:stretch>
            <a:fillRect/>
          </a:stretch>
        </p:blipFill>
        <p:spPr>
          <a:xfrm>
            <a:off x="6489040" y="3493008"/>
            <a:ext cx="391187" cy="457200"/>
          </a:xfrm>
          <a:prstGeom prst="rect">
            <a:avLst/>
          </a:prstGeom>
        </p:spPr>
      </p:pic>
      <p:sp>
        <p:nvSpPr>
          <p:cNvPr id="14" name="Text 8"/>
          <p:cNvSpPr/>
          <p:nvPr/>
        </p:nvSpPr>
        <p:spPr>
          <a:xfrm>
            <a:off x="6507328" y="3511296"/>
            <a:ext cx="4058740" cy="329184"/>
          </a:xfrm>
          <a:prstGeom prst="rect">
            <a:avLst/>
          </a:prstGeom>
          <a:noFill/>
          <a:ln/>
        </p:spPr>
        <p:txBody>
          <a:bodyPr wrap="square" lIns="0" tIns="0" rIns="0" bIns="0" rtlCol="0" anchor="ctr"/>
          <a:lstStyle/>
          <a:p>
            <a:pPr rtl="1" algn="r" indent="0" marL="0">
              <a:buNone/>
            </a:pPr>
            <a:r>
              <a:rPr lang="en-US" sz="1500" b="1" dirty="0">
                <a:solidFill>
                  <a:srgbClr val="255174"/>
                </a:solidFill>
                <a:latin typeface="Tajawal" pitchFamily="34" charset="0"/>
                <a:ea typeface="Tajawal" pitchFamily="34" charset="-122"/>
                <a:cs typeface="Tajawal" pitchFamily="34" charset="-120"/>
              </a:rPr>
              <a:t>الحاجة الفعلية</a:t>
            </a:r>
            <a:endParaRPr lang="en-US" sz="1500" dirty="0"/>
          </a:p>
        </p:txBody>
      </p:sp>
      <p:sp>
        <p:nvSpPr>
          <p:cNvPr id="15" name="Text 9"/>
          <p:cNvSpPr/>
          <p:nvPr/>
        </p:nvSpPr>
        <p:spPr>
          <a:xfrm>
            <a:off x="6507328" y="4059936"/>
            <a:ext cx="4632808" cy="832104"/>
          </a:xfrm>
          <a:prstGeom prst="rect">
            <a:avLst/>
          </a:prstGeom>
          <a:noFill/>
          <a:ln/>
        </p:spPr>
        <p:txBody>
          <a:bodyPr wrap="square" lIns="0" tIns="0" rIns="0" bIns="0" rtlCol="0" anchor="t"/>
          <a:lstStyle/>
          <a:p>
            <a:pPr rtl="1" algn="r" indent="0" marL="0">
              <a:lnSpc>
                <a:spcPts val="2000"/>
              </a:lnSpc>
              <a:buNone/>
            </a:pPr>
            <a:r>
              <a:rPr lang="en-US" sz="1250" dirty="0">
                <a:solidFill>
                  <a:srgbClr val="4B5B6E"/>
                </a:solidFill>
                <a:latin typeface="Tajawal" pitchFamily="34" charset="0"/>
                <a:ea typeface="Tajawal" pitchFamily="34" charset="-122"/>
                <a:cs typeface="Tajawal" pitchFamily="34" charset="-120"/>
              </a:rPr>
              <a:t>سياح بلغات كثيرة في صحراء بلا شبكة، فلا يخدمهم حل سحابي ولا حل بلغة واحدة</a:t>
            </a:r>
            <a:endParaRPr lang="en-US" sz="1250" dirty="0"/>
          </a:p>
        </p:txBody>
      </p:sp>
      <p:sp>
        <p:nvSpPr>
          <p:cNvPr id="16" name="Shape 10"/>
          <p:cNvSpPr/>
          <p:nvPr/>
        </p:nvSpPr>
        <p:spPr>
          <a:xfrm>
            <a:off x="777240" y="3273552"/>
            <a:ext cx="5181448" cy="1783080"/>
          </a:xfrm>
          <a:prstGeom prst="roundRect">
            <a:avLst>
              <a:gd name="adj" fmla="val 4103"/>
            </a:avLst>
          </a:prstGeom>
          <a:solidFill>
            <a:srgbClr val="EEF3F9"/>
          </a:solidFill>
          <a:ln w="9525">
            <a:solidFill>
              <a:srgbClr val="D9E2EC"/>
            </a:solidFill>
            <a:prstDash val="solid"/>
          </a:ln>
        </p:spPr>
      </p:sp>
      <p:pic>
        <p:nvPicPr>
          <p:cNvPr id="17" name="Image 4" descr="preencoded.png">    </p:cNvPr>
          <p:cNvPicPr>
            <a:picLocks noChangeAspect="1"/>
          </p:cNvPicPr>
          <p:nvPr/>
        </p:nvPicPr>
        <p:blipFill>
          <a:blip r:embed="rId5"/>
          <a:stretch>
            <a:fillRect/>
          </a:stretch>
        </p:blipFill>
        <p:spPr>
          <a:xfrm>
            <a:off x="1033272" y="3493008"/>
            <a:ext cx="720896" cy="457200"/>
          </a:xfrm>
          <a:prstGeom prst="rect">
            <a:avLst/>
          </a:prstGeom>
        </p:spPr>
      </p:pic>
      <p:sp>
        <p:nvSpPr>
          <p:cNvPr id="18" name="Text 11"/>
          <p:cNvSpPr/>
          <p:nvPr/>
        </p:nvSpPr>
        <p:spPr>
          <a:xfrm>
            <a:off x="1051560" y="3511296"/>
            <a:ext cx="3729031" cy="329184"/>
          </a:xfrm>
          <a:prstGeom prst="rect">
            <a:avLst/>
          </a:prstGeom>
          <a:noFill/>
          <a:ln/>
        </p:spPr>
        <p:txBody>
          <a:bodyPr wrap="square" lIns="0" tIns="0" rIns="0" bIns="0" rtlCol="0" anchor="ctr"/>
          <a:lstStyle/>
          <a:p>
            <a:pPr rtl="1" algn="r" indent="0" marL="0">
              <a:buNone/>
            </a:pPr>
            <a:r>
              <a:rPr lang="en-US" sz="1500" b="1" dirty="0">
                <a:solidFill>
                  <a:srgbClr val="255174"/>
                </a:solidFill>
                <a:latin typeface="Tajawal" pitchFamily="34" charset="0"/>
                <a:ea typeface="Tajawal" pitchFamily="34" charset="-122"/>
                <a:cs typeface="Tajawal" pitchFamily="34" charset="-120"/>
              </a:rPr>
              <a:t>القيمة المقدمة</a:t>
            </a:r>
            <a:endParaRPr lang="en-US" sz="1500" dirty="0"/>
          </a:p>
        </p:txBody>
      </p:sp>
      <p:sp>
        <p:nvSpPr>
          <p:cNvPr id="19" name="Text 12"/>
          <p:cNvSpPr/>
          <p:nvPr/>
        </p:nvSpPr>
        <p:spPr>
          <a:xfrm>
            <a:off x="1051560" y="4059936"/>
            <a:ext cx="4632808" cy="832104"/>
          </a:xfrm>
          <a:prstGeom prst="rect">
            <a:avLst/>
          </a:prstGeom>
          <a:noFill/>
          <a:ln/>
        </p:spPr>
        <p:txBody>
          <a:bodyPr wrap="square" lIns="0" tIns="0" rIns="0" bIns="0" rtlCol="0" anchor="t"/>
          <a:lstStyle/>
          <a:p>
            <a:pPr rtl="1" algn="r" indent="0" marL="0">
              <a:lnSpc>
                <a:spcPts val="2000"/>
              </a:lnSpc>
              <a:buNone/>
            </a:pPr>
            <a:r>
              <a:rPr lang="en-US" sz="1250" dirty="0">
                <a:solidFill>
                  <a:srgbClr val="4B5B6E"/>
                </a:solidFill>
                <a:latin typeface="Tajawal" pitchFamily="34" charset="0"/>
                <a:ea typeface="Tajawal" pitchFamily="34" charset="-122"/>
                <a:cs typeface="Tajawal" pitchFamily="34" charset="-120"/>
              </a:rPr>
              <a:t>السائح يفهم ما يرى بلغته، والجهة المشغلة تقدم تجربة أفضل مجانا</a:t>
            </a:r>
            <a:endParaRPr lang="en-US" sz="12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9FAFC"/>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640080" y="1920240"/>
            <a:ext cx="4754880" cy="3017520"/>
          </a:xfrm>
          <a:prstGeom prst="rect">
            <a:avLst/>
          </a:prstGeom>
          <a:noFill/>
          <a:ln/>
        </p:spPr>
        <p:txBody>
          <a:bodyPr wrap="square" lIns="0" tIns="0" rIns="0" bIns="0" rtlCol="0" anchor="ctr"/>
          <a:lstStyle/>
          <a:p>
            <a:pPr algn="l" indent="0" marL="0">
              <a:buNone/>
            </a:pPr>
            <a:r>
              <a:rPr lang="en-US" sz="17000" b="1" dirty="0">
                <a:solidFill>
                  <a:srgbClr val="DCE5F0"/>
                </a:solidFill>
                <a:latin typeface="Calibri" pitchFamily="34" charset="0"/>
                <a:ea typeface="Calibri" pitchFamily="34" charset="-122"/>
                <a:cs typeface="Calibri" pitchFamily="34" charset="-120"/>
              </a:rPr>
              <a:t>04</a:t>
            </a:r>
            <a:endParaRPr lang="en-US" sz="17000" dirty="0"/>
          </a:p>
        </p:txBody>
      </p:sp>
      <p:sp>
        <p:nvSpPr>
          <p:cNvPr id="4" name="Text 1"/>
          <p:cNvSpPr/>
          <p:nvPr/>
        </p:nvSpPr>
        <p:spPr>
          <a:xfrm>
            <a:off x="5120640" y="2788920"/>
            <a:ext cx="6293815" cy="1280160"/>
          </a:xfrm>
          <a:prstGeom prst="rect">
            <a:avLst/>
          </a:prstGeom>
          <a:noFill/>
          <a:ln/>
        </p:spPr>
        <p:txBody>
          <a:bodyPr wrap="square" lIns="0" tIns="0" rIns="0" bIns="0" rtlCol="0" anchor="ctr"/>
          <a:lstStyle/>
          <a:p>
            <a:pPr rtl="1" algn="r" indent="0" marL="0">
              <a:buNone/>
            </a:pPr>
            <a:r>
              <a:rPr lang="en-US" sz="3600" b="1" dirty="0">
                <a:solidFill>
                  <a:srgbClr val="255174"/>
                </a:solidFill>
                <a:latin typeface="Tajawal" pitchFamily="34" charset="0"/>
                <a:ea typeface="Tajawal" pitchFamily="34" charset="-122"/>
                <a:cs typeface="Tajawal" pitchFamily="34" charset="-120"/>
              </a:rPr>
              <a:t>جودة الحل والنموذج الأولي MVP</a:t>
            </a:r>
            <a:endParaRPr lang="en-US" sz="3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9FAFC"/>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777240" y="548640"/>
            <a:ext cx="10637215" cy="502920"/>
          </a:xfrm>
          <a:prstGeom prst="rect">
            <a:avLst/>
          </a:prstGeom>
          <a:noFill/>
          <a:ln/>
        </p:spPr>
        <p:txBody>
          <a:bodyPr wrap="square" lIns="0" tIns="0" rIns="0" bIns="0" rtlCol="0" anchor="ctr"/>
          <a:lstStyle/>
          <a:p>
            <a:pPr rtl="1" algn="r" indent="0" marL="0">
              <a:buNone/>
            </a:pPr>
            <a:r>
              <a:rPr lang="en-US" sz="2600" b="1" dirty="0">
                <a:solidFill>
                  <a:srgbClr val="255174"/>
                </a:solidFill>
                <a:latin typeface="Tajawal" pitchFamily="34" charset="0"/>
                <a:ea typeface="Tajawal" pitchFamily="34" charset="-122"/>
                <a:cs typeface="Tajawal" pitchFamily="34" charset="-120"/>
              </a:rPr>
              <a:t>جودة الحل والنموذج الأولي MVP</a:t>
            </a:r>
            <a:endParaRPr lang="en-US" sz="2600" dirty="0"/>
          </a:p>
        </p:txBody>
      </p:sp>
      <p:sp>
        <p:nvSpPr>
          <p:cNvPr id="4" name="Text 1"/>
          <p:cNvSpPr/>
          <p:nvPr/>
        </p:nvSpPr>
        <p:spPr>
          <a:xfrm>
            <a:off x="777240" y="1115568"/>
            <a:ext cx="10637215" cy="310896"/>
          </a:xfrm>
          <a:prstGeom prst="rect">
            <a:avLst/>
          </a:prstGeom>
          <a:noFill/>
          <a:ln/>
        </p:spPr>
        <p:txBody>
          <a:bodyPr wrap="square" lIns="0" tIns="0" rIns="0" bIns="0" rtlCol="0" anchor="ctr"/>
          <a:lstStyle/>
          <a:p>
            <a:pPr rtl="1" algn="r" indent="0" marL="0">
              <a:buNone/>
            </a:pPr>
            <a:r>
              <a:rPr lang="en-US" sz="1300" dirty="0">
                <a:solidFill>
                  <a:srgbClr val="4B5B6E"/>
                </a:solidFill>
                <a:latin typeface="Tajawal" pitchFamily="34" charset="0"/>
                <a:ea typeface="Tajawal" pitchFamily="34" charset="-122"/>
                <a:cs typeface="Tajawal" pitchFamily="34" charset="-120"/>
              </a:rPr>
              <a:t>تطبيق يعمل الآن على الويب، يفتح من الرابط بلا تنزيل:   w-electro.github.io/athr</a:t>
            </a:r>
            <a:endParaRPr lang="en-US" sz="1300" dirty="0"/>
          </a:p>
        </p:txBody>
      </p:sp>
      <p:pic>
        <p:nvPicPr>
          <p:cNvPr id="5" name="Image 1" descr="preencoded.png">    </p:cNvPr>
          <p:cNvPicPr>
            <a:picLocks noChangeAspect="1"/>
          </p:cNvPicPr>
          <p:nvPr/>
        </p:nvPicPr>
        <p:blipFill>
          <a:blip r:embed="rId2"/>
          <a:stretch>
            <a:fillRect/>
          </a:stretch>
        </p:blipFill>
        <p:spPr>
          <a:xfrm>
            <a:off x="10297399" y="1536192"/>
            <a:ext cx="1117057" cy="2331720"/>
          </a:xfrm>
          <a:prstGeom prst="rect">
            <a:avLst/>
          </a:prstGeom>
        </p:spPr>
      </p:pic>
      <p:sp>
        <p:nvSpPr>
          <p:cNvPr id="6" name="Text 2"/>
          <p:cNvSpPr/>
          <p:nvPr/>
        </p:nvSpPr>
        <p:spPr>
          <a:xfrm>
            <a:off x="10187671" y="3941064"/>
            <a:ext cx="1336513" cy="256032"/>
          </a:xfrm>
          <a:prstGeom prst="rect">
            <a:avLst/>
          </a:prstGeom>
          <a:noFill/>
          <a:ln/>
        </p:spPr>
        <p:txBody>
          <a:bodyPr wrap="square" lIns="0" tIns="0" rIns="0" bIns="0" rtlCol="0" anchor="ctr"/>
          <a:lstStyle/>
          <a:p>
            <a:pPr rtl="1" algn="ctr" indent="0" marL="0">
              <a:buNone/>
            </a:pPr>
            <a:r>
              <a:rPr lang="en-US" sz="1050" dirty="0">
                <a:solidFill>
                  <a:srgbClr val="4B5B6E"/>
                </a:solidFill>
                <a:latin typeface="Tajawal" pitchFamily="34" charset="0"/>
                <a:ea typeface="Tajawal" pitchFamily="34" charset="-122"/>
                <a:cs typeface="Tajawal" pitchFamily="34" charset="-120"/>
              </a:rPr>
              <a:t>اختيار اللغة</a:t>
            </a:r>
            <a:endParaRPr lang="en-US" sz="1050" dirty="0"/>
          </a:p>
        </p:txBody>
      </p:sp>
      <p:pic>
        <p:nvPicPr>
          <p:cNvPr id="7" name="Image 2" descr="preencoded.png">    </p:cNvPr>
          <p:cNvPicPr>
            <a:picLocks noChangeAspect="1"/>
          </p:cNvPicPr>
          <p:nvPr/>
        </p:nvPicPr>
        <p:blipFill>
          <a:blip r:embed="rId3"/>
          <a:stretch>
            <a:fillRect/>
          </a:stretch>
        </p:blipFill>
        <p:spPr>
          <a:xfrm>
            <a:off x="7917359" y="1536192"/>
            <a:ext cx="1117057" cy="2331720"/>
          </a:xfrm>
          <a:prstGeom prst="rect">
            <a:avLst/>
          </a:prstGeom>
        </p:spPr>
      </p:pic>
      <p:sp>
        <p:nvSpPr>
          <p:cNvPr id="8" name="Text 3"/>
          <p:cNvSpPr/>
          <p:nvPr/>
        </p:nvSpPr>
        <p:spPr>
          <a:xfrm>
            <a:off x="7807631" y="3941064"/>
            <a:ext cx="1336513" cy="256032"/>
          </a:xfrm>
          <a:prstGeom prst="rect">
            <a:avLst/>
          </a:prstGeom>
          <a:noFill/>
          <a:ln/>
        </p:spPr>
        <p:txBody>
          <a:bodyPr wrap="square" lIns="0" tIns="0" rIns="0" bIns="0" rtlCol="0" anchor="ctr"/>
          <a:lstStyle/>
          <a:p>
            <a:pPr rtl="1" algn="ctr" indent="0" marL="0">
              <a:buNone/>
            </a:pPr>
            <a:r>
              <a:rPr lang="en-US" sz="1050" dirty="0">
                <a:solidFill>
                  <a:srgbClr val="4B5B6E"/>
                </a:solidFill>
                <a:latin typeface="Tajawal" pitchFamily="34" charset="0"/>
                <a:ea typeface="Tajawal" pitchFamily="34" charset="-122"/>
                <a:cs typeface="Tajawal" pitchFamily="34" charset="-120"/>
              </a:rPr>
              <a:t>الاستكشاف</a:t>
            </a:r>
            <a:endParaRPr lang="en-US" sz="1050" dirty="0"/>
          </a:p>
        </p:txBody>
      </p:sp>
      <p:pic>
        <p:nvPicPr>
          <p:cNvPr id="9" name="Image 3" descr="preencoded.png">    </p:cNvPr>
          <p:cNvPicPr>
            <a:picLocks noChangeAspect="1"/>
          </p:cNvPicPr>
          <p:nvPr/>
        </p:nvPicPr>
        <p:blipFill>
          <a:blip r:embed="rId4"/>
          <a:stretch>
            <a:fillRect/>
          </a:stretch>
        </p:blipFill>
        <p:spPr>
          <a:xfrm>
            <a:off x="5537319" y="1536192"/>
            <a:ext cx="1117057" cy="2331720"/>
          </a:xfrm>
          <a:prstGeom prst="rect">
            <a:avLst/>
          </a:prstGeom>
        </p:spPr>
      </p:pic>
      <p:sp>
        <p:nvSpPr>
          <p:cNvPr id="10" name="Text 4"/>
          <p:cNvSpPr/>
          <p:nvPr/>
        </p:nvSpPr>
        <p:spPr>
          <a:xfrm>
            <a:off x="5427591" y="3941064"/>
            <a:ext cx="1336513" cy="256032"/>
          </a:xfrm>
          <a:prstGeom prst="rect">
            <a:avLst/>
          </a:prstGeom>
          <a:noFill/>
          <a:ln/>
        </p:spPr>
        <p:txBody>
          <a:bodyPr wrap="square" lIns="0" tIns="0" rIns="0" bIns="0" rtlCol="0" anchor="ctr"/>
          <a:lstStyle/>
          <a:p>
            <a:pPr rtl="1" algn="ctr" indent="0" marL="0">
              <a:buNone/>
            </a:pPr>
            <a:r>
              <a:rPr lang="en-US" sz="1050" dirty="0">
                <a:solidFill>
                  <a:srgbClr val="4B5B6E"/>
                </a:solidFill>
                <a:latin typeface="Tajawal" pitchFamily="34" charset="0"/>
                <a:ea typeface="Tajawal" pitchFamily="34" charset="-122"/>
                <a:cs typeface="Tajawal" pitchFamily="34" charset="-120"/>
              </a:rPr>
              <a:t>القصة والصوت</a:t>
            </a:r>
            <a:endParaRPr lang="en-US" sz="1050" dirty="0"/>
          </a:p>
        </p:txBody>
      </p:sp>
      <p:pic>
        <p:nvPicPr>
          <p:cNvPr id="11" name="Image 4" descr="preencoded.png">    </p:cNvPr>
          <p:cNvPicPr>
            <a:picLocks noChangeAspect="1"/>
          </p:cNvPicPr>
          <p:nvPr/>
        </p:nvPicPr>
        <p:blipFill>
          <a:blip r:embed="rId5"/>
          <a:stretch>
            <a:fillRect/>
          </a:stretch>
        </p:blipFill>
        <p:spPr>
          <a:xfrm>
            <a:off x="3157280" y="1536192"/>
            <a:ext cx="1117057" cy="2331720"/>
          </a:xfrm>
          <a:prstGeom prst="rect">
            <a:avLst/>
          </a:prstGeom>
        </p:spPr>
      </p:pic>
      <p:sp>
        <p:nvSpPr>
          <p:cNvPr id="12" name="Text 5"/>
          <p:cNvSpPr/>
          <p:nvPr/>
        </p:nvSpPr>
        <p:spPr>
          <a:xfrm>
            <a:off x="3047552" y="3941064"/>
            <a:ext cx="1336513" cy="256032"/>
          </a:xfrm>
          <a:prstGeom prst="rect">
            <a:avLst/>
          </a:prstGeom>
          <a:noFill/>
          <a:ln/>
        </p:spPr>
        <p:txBody>
          <a:bodyPr wrap="square" lIns="0" tIns="0" rIns="0" bIns="0" rtlCol="0" anchor="ctr"/>
          <a:lstStyle/>
          <a:p>
            <a:pPr rtl="1" algn="ctr" indent="0" marL="0">
              <a:buNone/>
            </a:pPr>
            <a:r>
              <a:rPr lang="en-US" sz="1050" dirty="0">
                <a:solidFill>
                  <a:srgbClr val="4B5B6E"/>
                </a:solidFill>
                <a:latin typeface="Tajawal" pitchFamily="34" charset="0"/>
                <a:ea typeface="Tajawal" pitchFamily="34" charset="-122"/>
                <a:cs typeface="Tajawal" pitchFamily="34" charset="-120"/>
              </a:rPr>
              <a:t>المسح</a:t>
            </a:r>
            <a:endParaRPr lang="en-US" sz="1050" dirty="0"/>
          </a:p>
        </p:txBody>
      </p:sp>
      <p:pic>
        <p:nvPicPr>
          <p:cNvPr id="13" name="Image 5" descr="preencoded.png">    </p:cNvPr>
          <p:cNvPicPr>
            <a:picLocks noChangeAspect="1"/>
          </p:cNvPicPr>
          <p:nvPr/>
        </p:nvPicPr>
        <p:blipFill>
          <a:blip r:embed="rId6"/>
          <a:stretch>
            <a:fillRect/>
          </a:stretch>
        </p:blipFill>
        <p:spPr>
          <a:xfrm>
            <a:off x="777240" y="1536192"/>
            <a:ext cx="1117057" cy="2331720"/>
          </a:xfrm>
          <a:prstGeom prst="rect">
            <a:avLst/>
          </a:prstGeom>
        </p:spPr>
      </p:pic>
      <p:sp>
        <p:nvSpPr>
          <p:cNvPr id="14" name="Text 6"/>
          <p:cNvSpPr/>
          <p:nvPr/>
        </p:nvSpPr>
        <p:spPr>
          <a:xfrm>
            <a:off x="667512" y="3941064"/>
            <a:ext cx="1336513" cy="256032"/>
          </a:xfrm>
          <a:prstGeom prst="rect">
            <a:avLst/>
          </a:prstGeom>
          <a:noFill/>
          <a:ln/>
        </p:spPr>
        <p:txBody>
          <a:bodyPr wrap="square" lIns="0" tIns="0" rIns="0" bIns="0" rtlCol="0" anchor="ctr"/>
          <a:lstStyle/>
          <a:p>
            <a:pPr rtl="1" algn="ctr" indent="0" marL="0">
              <a:buNone/>
            </a:pPr>
            <a:r>
              <a:rPr lang="en-US" sz="1050" dirty="0">
                <a:solidFill>
                  <a:srgbClr val="4B5B6E"/>
                </a:solidFill>
                <a:latin typeface="Tajawal" pitchFamily="34" charset="0"/>
                <a:ea typeface="Tajawal" pitchFamily="34" charset="-122"/>
                <a:cs typeface="Tajawal" pitchFamily="34" charset="-120"/>
              </a:rPr>
              <a:t>بناء الرحلة</a:t>
            </a:r>
            <a:endParaRPr lang="en-US" sz="1050" dirty="0"/>
          </a:p>
        </p:txBody>
      </p:sp>
      <p:sp>
        <p:nvSpPr>
          <p:cNvPr id="15" name="Shape 7"/>
          <p:cNvSpPr/>
          <p:nvPr/>
        </p:nvSpPr>
        <p:spPr>
          <a:xfrm>
            <a:off x="8027213" y="4498848"/>
            <a:ext cx="3387242" cy="1225296"/>
          </a:xfrm>
          <a:prstGeom prst="roundRect">
            <a:avLst>
              <a:gd name="adj" fmla="val 5970"/>
            </a:avLst>
          </a:prstGeom>
          <a:solidFill>
            <a:srgbClr val="EEF3F9"/>
          </a:solidFill>
          <a:ln w="9525">
            <a:solidFill>
              <a:srgbClr val="D9E2EC"/>
            </a:solidFill>
            <a:prstDash val="solid"/>
          </a:ln>
        </p:spPr>
      </p:sp>
      <p:sp>
        <p:nvSpPr>
          <p:cNvPr id="16" name="Text 8"/>
          <p:cNvSpPr/>
          <p:nvPr/>
        </p:nvSpPr>
        <p:spPr>
          <a:xfrm>
            <a:off x="8027213" y="4645152"/>
            <a:ext cx="3387242" cy="548640"/>
          </a:xfrm>
          <a:prstGeom prst="rect">
            <a:avLst/>
          </a:prstGeom>
          <a:noFill/>
          <a:ln/>
        </p:spPr>
        <p:txBody>
          <a:bodyPr wrap="square" lIns="0" tIns="0" rIns="0" bIns="0" rtlCol="0" anchor="ctr"/>
          <a:lstStyle/>
          <a:p>
            <a:pPr algn="ctr" indent="0" marL="0">
              <a:buNone/>
            </a:pPr>
            <a:r>
              <a:rPr lang="en-US" sz="2800" b="1" dirty="0">
                <a:solidFill>
                  <a:srgbClr val="8357F6"/>
                </a:solidFill>
                <a:latin typeface="Calibri" pitchFamily="34" charset="0"/>
                <a:ea typeface="Calibri" pitchFamily="34" charset="-122"/>
                <a:cs typeface="Calibri" pitchFamily="34" charset="-120"/>
              </a:rPr>
              <a:t>96.5%</a:t>
            </a:r>
            <a:endParaRPr lang="en-US" sz="2800" dirty="0"/>
          </a:p>
        </p:txBody>
      </p:sp>
      <p:sp>
        <p:nvSpPr>
          <p:cNvPr id="17" name="Text 9"/>
          <p:cNvSpPr/>
          <p:nvPr/>
        </p:nvSpPr>
        <p:spPr>
          <a:xfrm>
            <a:off x="8136941" y="5230368"/>
            <a:ext cx="3167786" cy="402336"/>
          </a:xfrm>
          <a:prstGeom prst="rect">
            <a:avLst/>
          </a:prstGeom>
          <a:noFill/>
          <a:ln/>
        </p:spPr>
        <p:txBody>
          <a:bodyPr wrap="square" lIns="0" tIns="0" rIns="0" bIns="0" rtlCol="0" anchor="ctr"/>
          <a:lstStyle/>
          <a:p>
            <a:pPr rtl="1" algn="ctr" indent="0" marL="0">
              <a:lnSpc>
                <a:spcPts val="1500"/>
              </a:lnSpc>
              <a:buNone/>
            </a:pPr>
            <a:r>
              <a:rPr lang="en-US" sz="1100" dirty="0">
                <a:solidFill>
                  <a:srgbClr val="4B5B6E"/>
                </a:solidFill>
                <a:latin typeface="Tajawal" pitchFamily="34" charset="0"/>
                <a:ea typeface="Tajawal" pitchFamily="34" charset="-122"/>
                <a:cs typeface="Tajawal" pitchFamily="34" charset="-120"/>
              </a:rPr>
              <a:t>تعرف صحيح على</a:t>
            </a:r>
            <a:endParaRPr lang="en-US" sz="1100" dirty="0"/>
          </a:p>
          <a:p>
            <a:pPr rtl="1" algn="ctr" indent="0" marL="0">
              <a:lnSpc>
                <a:spcPts val="1500"/>
              </a:lnSpc>
              <a:buNone/>
            </a:pPr>
            <a:r>
              <a:rPr lang="en-US" sz="1100" dirty="0">
                <a:solidFill>
                  <a:srgbClr val="4B5B6E"/>
                </a:solidFill>
                <a:latin typeface="Tajawal" pitchFamily="34" charset="0"/>
                <a:ea typeface="Tajawal" pitchFamily="34" charset="-122"/>
                <a:cs typeface="Tajawal" pitchFamily="34" charset="-120"/>
              </a:rPr>
              <a:t>صور الموقع</a:t>
            </a:r>
            <a:endParaRPr lang="en-US" sz="1100" dirty="0"/>
          </a:p>
        </p:txBody>
      </p:sp>
      <p:sp>
        <p:nvSpPr>
          <p:cNvPr id="18" name="Shape 10"/>
          <p:cNvSpPr/>
          <p:nvPr/>
        </p:nvSpPr>
        <p:spPr>
          <a:xfrm>
            <a:off x="4402226" y="4498848"/>
            <a:ext cx="3387242" cy="1225296"/>
          </a:xfrm>
          <a:prstGeom prst="roundRect">
            <a:avLst>
              <a:gd name="adj" fmla="val 5970"/>
            </a:avLst>
          </a:prstGeom>
          <a:solidFill>
            <a:srgbClr val="EEF3F9"/>
          </a:solidFill>
          <a:ln w="9525">
            <a:solidFill>
              <a:srgbClr val="D9E2EC"/>
            </a:solidFill>
            <a:prstDash val="solid"/>
          </a:ln>
        </p:spPr>
      </p:sp>
      <p:sp>
        <p:nvSpPr>
          <p:cNvPr id="19" name="Text 11"/>
          <p:cNvSpPr/>
          <p:nvPr/>
        </p:nvSpPr>
        <p:spPr>
          <a:xfrm>
            <a:off x="4402226" y="4645152"/>
            <a:ext cx="3387242" cy="548640"/>
          </a:xfrm>
          <a:prstGeom prst="rect">
            <a:avLst/>
          </a:prstGeom>
          <a:noFill/>
          <a:ln/>
        </p:spPr>
        <p:txBody>
          <a:bodyPr wrap="square" lIns="0" tIns="0" rIns="0" bIns="0" rtlCol="0" anchor="ctr"/>
          <a:lstStyle/>
          <a:p>
            <a:pPr algn="ctr" indent="0" marL="0">
              <a:buNone/>
            </a:pPr>
            <a:r>
              <a:rPr lang="en-US" sz="2800" b="1" dirty="0">
                <a:solidFill>
                  <a:srgbClr val="255174"/>
                </a:solidFill>
                <a:latin typeface="Calibri" pitchFamily="34" charset="0"/>
                <a:ea typeface="Calibri" pitchFamily="34" charset="-122"/>
                <a:cs typeface="Calibri" pitchFamily="34" charset="-120"/>
              </a:rPr>
              <a:t>663</a:t>
            </a:r>
            <a:endParaRPr lang="en-US" sz="2800" dirty="0"/>
          </a:p>
        </p:txBody>
      </p:sp>
      <p:sp>
        <p:nvSpPr>
          <p:cNvPr id="20" name="Text 12"/>
          <p:cNvSpPr/>
          <p:nvPr/>
        </p:nvSpPr>
        <p:spPr>
          <a:xfrm>
            <a:off x="4511954" y="5230368"/>
            <a:ext cx="3167786" cy="402336"/>
          </a:xfrm>
          <a:prstGeom prst="rect">
            <a:avLst/>
          </a:prstGeom>
          <a:noFill/>
          <a:ln/>
        </p:spPr>
        <p:txBody>
          <a:bodyPr wrap="square" lIns="0" tIns="0" rIns="0" bIns="0" rtlCol="0" anchor="ctr"/>
          <a:lstStyle/>
          <a:p>
            <a:pPr rtl="1" algn="ctr" indent="0" marL="0">
              <a:lnSpc>
                <a:spcPts val="1500"/>
              </a:lnSpc>
              <a:buNone/>
            </a:pPr>
            <a:r>
              <a:rPr lang="en-US" sz="1100" dirty="0">
                <a:solidFill>
                  <a:srgbClr val="4B5B6E"/>
                </a:solidFill>
                <a:latin typeface="Tajawal" pitchFamily="34" charset="0"/>
                <a:ea typeface="Tajawal" pitchFamily="34" charset="-122"/>
                <a:cs typeface="Tajawal" pitchFamily="34" charset="-120"/>
              </a:rPr>
              <a:t>اختبارا آليا تعمل</a:t>
            </a:r>
            <a:endParaRPr lang="en-US" sz="1100" dirty="0"/>
          </a:p>
          <a:p>
            <a:pPr rtl="1" algn="ctr" indent="0" marL="0">
              <a:lnSpc>
                <a:spcPts val="1500"/>
              </a:lnSpc>
              <a:buNone/>
            </a:pPr>
            <a:r>
              <a:rPr lang="en-US" sz="1100" dirty="0">
                <a:solidFill>
                  <a:srgbClr val="4B5B6E"/>
                </a:solidFill>
                <a:latin typeface="Tajawal" pitchFamily="34" charset="0"/>
                <a:ea typeface="Tajawal" pitchFamily="34" charset="-122"/>
                <a:cs typeface="Tajawal" pitchFamily="34" charset="-120"/>
              </a:rPr>
              <a:t>مع كل تعديل</a:t>
            </a:r>
            <a:endParaRPr lang="en-US" sz="1100" dirty="0"/>
          </a:p>
        </p:txBody>
      </p:sp>
      <p:sp>
        <p:nvSpPr>
          <p:cNvPr id="21" name="Shape 13"/>
          <p:cNvSpPr/>
          <p:nvPr/>
        </p:nvSpPr>
        <p:spPr>
          <a:xfrm>
            <a:off x="777240" y="4498848"/>
            <a:ext cx="3387242" cy="1225296"/>
          </a:xfrm>
          <a:prstGeom prst="roundRect">
            <a:avLst>
              <a:gd name="adj" fmla="val 5970"/>
            </a:avLst>
          </a:prstGeom>
          <a:solidFill>
            <a:srgbClr val="EEF3F9"/>
          </a:solidFill>
          <a:ln w="9525">
            <a:solidFill>
              <a:srgbClr val="D9E2EC"/>
            </a:solidFill>
            <a:prstDash val="solid"/>
          </a:ln>
        </p:spPr>
      </p:sp>
      <p:sp>
        <p:nvSpPr>
          <p:cNvPr id="22" name="Text 14"/>
          <p:cNvSpPr/>
          <p:nvPr/>
        </p:nvSpPr>
        <p:spPr>
          <a:xfrm>
            <a:off x="777240" y="4645152"/>
            <a:ext cx="3387242" cy="548640"/>
          </a:xfrm>
          <a:prstGeom prst="rect">
            <a:avLst/>
          </a:prstGeom>
          <a:noFill/>
          <a:ln/>
        </p:spPr>
        <p:txBody>
          <a:bodyPr wrap="square" lIns="0" tIns="0" rIns="0" bIns="0" rtlCol="0" anchor="ctr"/>
          <a:lstStyle/>
          <a:p>
            <a:pPr algn="ctr" indent="0" marL="0">
              <a:buNone/>
            </a:pPr>
            <a:r>
              <a:rPr lang="en-US" sz="2800" b="1" dirty="0">
                <a:solidFill>
                  <a:srgbClr val="255174"/>
                </a:solidFill>
                <a:latin typeface="Calibri" pitchFamily="34" charset="0"/>
                <a:ea typeface="Calibri" pitchFamily="34" charset="-122"/>
                <a:cs typeface="Calibri" pitchFamily="34" charset="-120"/>
              </a:rPr>
              <a:t>174</a:t>
            </a:r>
            <a:endParaRPr lang="en-US" sz="2800" dirty="0"/>
          </a:p>
        </p:txBody>
      </p:sp>
      <p:sp>
        <p:nvSpPr>
          <p:cNvPr id="23" name="Text 15"/>
          <p:cNvSpPr/>
          <p:nvPr/>
        </p:nvSpPr>
        <p:spPr>
          <a:xfrm>
            <a:off x="886968" y="5230368"/>
            <a:ext cx="3167786" cy="402336"/>
          </a:xfrm>
          <a:prstGeom prst="rect">
            <a:avLst/>
          </a:prstGeom>
          <a:noFill/>
          <a:ln/>
        </p:spPr>
        <p:txBody>
          <a:bodyPr wrap="square" lIns="0" tIns="0" rIns="0" bIns="0" rtlCol="0" anchor="ctr"/>
          <a:lstStyle/>
          <a:p>
            <a:pPr rtl="1" algn="ctr" indent="0" marL="0">
              <a:lnSpc>
                <a:spcPts val="1500"/>
              </a:lnSpc>
              <a:buNone/>
            </a:pPr>
            <a:r>
              <a:rPr lang="en-US" sz="1100" dirty="0">
                <a:solidFill>
                  <a:srgbClr val="4B5B6E"/>
                </a:solidFill>
                <a:latin typeface="Tajawal" pitchFamily="34" charset="0"/>
                <a:ea typeface="Tajawal" pitchFamily="34" charset="-122"/>
                <a:cs typeface="Tajawal" pitchFamily="34" charset="-120"/>
              </a:rPr>
              <a:t>مقطعا صوتيا</a:t>
            </a:r>
            <a:endParaRPr lang="en-US" sz="1100" dirty="0"/>
          </a:p>
          <a:p>
            <a:pPr rtl="1" algn="ctr" indent="0" marL="0">
              <a:lnSpc>
                <a:spcPts val="1500"/>
              </a:lnSpc>
              <a:buNone/>
            </a:pPr>
            <a:r>
              <a:rPr lang="en-US" sz="1100" dirty="0">
                <a:solidFill>
                  <a:srgbClr val="4B5B6E"/>
                </a:solidFill>
                <a:latin typeface="Tajawal" pitchFamily="34" charset="0"/>
                <a:ea typeface="Tajawal" pitchFamily="34" charset="-122"/>
                <a:cs typeface="Tajawal" pitchFamily="34" charset="-120"/>
              </a:rPr>
              <a:t>في 29 لغة</a:t>
            </a:r>
            <a:endParaRPr lang="en-US" sz="1100" dirty="0"/>
          </a:p>
        </p:txBody>
      </p:sp>
      <p:sp>
        <p:nvSpPr>
          <p:cNvPr id="24" name="Text 16"/>
          <p:cNvSpPr/>
          <p:nvPr/>
        </p:nvSpPr>
        <p:spPr>
          <a:xfrm>
            <a:off x="777240" y="5888736"/>
            <a:ext cx="10637215" cy="329184"/>
          </a:xfrm>
          <a:prstGeom prst="rect">
            <a:avLst/>
          </a:prstGeom>
          <a:noFill/>
          <a:ln/>
        </p:spPr>
        <p:txBody>
          <a:bodyPr wrap="square" lIns="0" tIns="0" rIns="0" bIns="0" rtlCol="0" anchor="ctr"/>
          <a:lstStyle/>
          <a:p>
            <a:pPr rtl="1" algn="ctr" indent="0" marL="0">
              <a:buNone/>
            </a:pPr>
            <a:r>
              <a:rPr lang="en-US" sz="1200" i="1" dirty="0">
                <a:solidFill>
                  <a:srgbClr val="4B5B6E"/>
                </a:solidFill>
                <a:latin typeface="Tajawal" pitchFamily="34" charset="0"/>
                <a:ea typeface="Tajawal" pitchFamily="34" charset="-122"/>
                <a:cs typeface="Tajawal" pitchFamily="34" charset="-120"/>
              </a:rPr>
              <a:t>قراءة النقوش الثمودية قيد التطوير، ونعرض الآن جدول الحروف الرسمي</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9FAFC"/>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640080" y="1920240"/>
            <a:ext cx="4754880" cy="3017520"/>
          </a:xfrm>
          <a:prstGeom prst="rect">
            <a:avLst/>
          </a:prstGeom>
          <a:noFill/>
          <a:ln/>
        </p:spPr>
        <p:txBody>
          <a:bodyPr wrap="square" lIns="0" tIns="0" rIns="0" bIns="0" rtlCol="0" anchor="ctr"/>
          <a:lstStyle/>
          <a:p>
            <a:pPr algn="l" indent="0" marL="0">
              <a:buNone/>
            </a:pPr>
            <a:r>
              <a:rPr lang="en-US" sz="17000" b="1" dirty="0">
                <a:solidFill>
                  <a:srgbClr val="DCE5F0"/>
                </a:solidFill>
                <a:latin typeface="Calibri" pitchFamily="34" charset="0"/>
                <a:ea typeface="Calibri" pitchFamily="34" charset="-122"/>
                <a:cs typeface="Calibri" pitchFamily="34" charset="-120"/>
              </a:rPr>
              <a:t>05</a:t>
            </a:r>
            <a:endParaRPr lang="en-US" sz="17000" dirty="0"/>
          </a:p>
        </p:txBody>
      </p:sp>
      <p:sp>
        <p:nvSpPr>
          <p:cNvPr id="4" name="Text 1"/>
          <p:cNvSpPr/>
          <p:nvPr/>
        </p:nvSpPr>
        <p:spPr>
          <a:xfrm>
            <a:off x="5120640" y="2788920"/>
            <a:ext cx="6293815" cy="1280160"/>
          </a:xfrm>
          <a:prstGeom prst="rect">
            <a:avLst/>
          </a:prstGeom>
          <a:noFill/>
          <a:ln/>
        </p:spPr>
        <p:txBody>
          <a:bodyPr wrap="square" lIns="0" tIns="0" rIns="0" bIns="0" rtlCol="0" anchor="ctr"/>
          <a:lstStyle/>
          <a:p>
            <a:pPr rtl="1" algn="r" indent="0" marL="0">
              <a:buNone/>
            </a:pPr>
            <a:r>
              <a:rPr lang="en-US" sz="3600" b="1" dirty="0">
                <a:solidFill>
                  <a:srgbClr val="255174"/>
                </a:solidFill>
                <a:latin typeface="Tajawal" pitchFamily="34" charset="0"/>
                <a:ea typeface="Tajawal" pitchFamily="34" charset="-122"/>
                <a:cs typeface="Tajawal" pitchFamily="34" charset="-120"/>
              </a:rPr>
              <a:t>نموذج العمل والجدوى</a:t>
            </a:r>
            <a:endParaRPr lang="en-US" sz="36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9FAFC"/>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777240" y="548640"/>
            <a:ext cx="10637215" cy="502920"/>
          </a:xfrm>
          <a:prstGeom prst="rect">
            <a:avLst/>
          </a:prstGeom>
          <a:noFill/>
          <a:ln/>
        </p:spPr>
        <p:txBody>
          <a:bodyPr wrap="square" lIns="0" tIns="0" rIns="0" bIns="0" rtlCol="0" anchor="ctr"/>
          <a:lstStyle/>
          <a:p>
            <a:pPr rtl="1" algn="r" indent="0" marL="0">
              <a:buNone/>
            </a:pPr>
            <a:r>
              <a:rPr lang="en-US" sz="2600" b="1" dirty="0">
                <a:solidFill>
                  <a:srgbClr val="255174"/>
                </a:solidFill>
                <a:latin typeface="Tajawal" pitchFamily="34" charset="0"/>
                <a:ea typeface="Tajawal" pitchFamily="34" charset="-122"/>
                <a:cs typeface="Tajawal" pitchFamily="34" charset="-120"/>
              </a:rPr>
              <a:t>نموذج العمل والجدوى</a:t>
            </a:r>
            <a:endParaRPr lang="en-US" sz="2600" dirty="0"/>
          </a:p>
        </p:txBody>
      </p:sp>
      <p:sp>
        <p:nvSpPr>
          <p:cNvPr id="5" name="Shape 1"/>
          <p:cNvSpPr/>
          <p:nvPr/>
        </p:nvSpPr>
        <p:spPr>
          <a:xfrm>
            <a:off x="8027213" y="1234440"/>
            <a:ext cx="3387242" cy="2697480"/>
          </a:xfrm>
          <a:prstGeom prst="roundRect">
            <a:avLst>
              <a:gd name="adj" fmla="val 2712"/>
            </a:avLst>
          </a:prstGeom>
          <a:solidFill>
            <a:srgbClr val="EEF3F9"/>
          </a:solidFill>
          <a:ln w="9525">
            <a:solidFill>
              <a:srgbClr val="D9E2EC"/>
            </a:solidFill>
            <a:prstDash val="solid"/>
          </a:ln>
        </p:spPr>
      </p:sp>
      <p:sp>
        <p:nvSpPr>
          <p:cNvPr id="6" name="Text 2"/>
          <p:cNvSpPr/>
          <p:nvPr/>
        </p:nvSpPr>
        <p:spPr>
          <a:xfrm>
            <a:off x="8264957" y="1417320"/>
            <a:ext cx="2911754" cy="310896"/>
          </a:xfrm>
          <a:prstGeom prst="rect">
            <a:avLst/>
          </a:prstGeom>
          <a:noFill/>
          <a:ln/>
        </p:spPr>
        <p:txBody>
          <a:bodyPr wrap="square" lIns="0" tIns="0" rIns="0" bIns="0" rtlCol="0" anchor="ctr"/>
          <a:lstStyle/>
          <a:p>
            <a:pPr rtl="1" algn="r" indent="0" marL="0">
              <a:buNone/>
            </a:pPr>
            <a:r>
              <a:rPr lang="en-US" sz="1400" b="1" dirty="0">
                <a:solidFill>
                  <a:srgbClr val="8357F6"/>
                </a:solidFill>
                <a:latin typeface="Tajawal" pitchFamily="34" charset="0"/>
                <a:ea typeface="Tajawal" pitchFamily="34" charset="-122"/>
                <a:cs typeface="Tajawal" pitchFamily="34" charset="-120"/>
              </a:rPr>
              <a:t>العملاء</a:t>
            </a:r>
            <a:endParaRPr lang="en-US" sz="1400" dirty="0"/>
          </a:p>
        </p:txBody>
      </p:sp>
      <p:sp>
        <p:nvSpPr>
          <p:cNvPr id="7" name="Text 3"/>
          <p:cNvSpPr/>
          <p:nvPr/>
        </p:nvSpPr>
        <p:spPr>
          <a:xfrm>
            <a:off x="8264957" y="1801368"/>
            <a:ext cx="2911754" cy="1947672"/>
          </a:xfrm>
          <a:prstGeom prst="rect">
            <a:avLst/>
          </a:prstGeom>
          <a:noFill/>
          <a:ln/>
        </p:spPr>
        <p:txBody>
          <a:bodyPr wrap="square" lIns="0" tIns="0" rIns="0" bIns="0" rtlCol="0" anchor="t"/>
          <a:lstStyle/>
          <a:p>
            <a:pPr rtl="1" algn="r" indent="0" marL="0">
              <a:lnSpc>
                <a:spcPts val="2000"/>
              </a:lnSpc>
              <a:spcAft>
                <a:spcPts val="1200"/>
              </a:spcAft>
              <a:buNone/>
            </a:pPr>
            <a:r>
              <a:rPr lang="en-US" sz="1250" dirty="0">
                <a:solidFill>
                  <a:srgbClr val="4B5B6E"/>
                </a:solidFill>
                <a:latin typeface="Tajawal" pitchFamily="34" charset="0"/>
                <a:ea typeface="Tajawal" pitchFamily="34" charset="-122"/>
                <a:cs typeface="Tajawal" pitchFamily="34" charset="-120"/>
              </a:rPr>
              <a:t>الجهة المشغلة: هيئة التراث ومركز الزوار</a:t>
            </a:r>
            <a:endParaRPr lang="en-US" sz="1250" dirty="0"/>
          </a:p>
          <a:p>
            <a:pPr rtl="1" algn="r" indent="0" marL="0">
              <a:lnSpc>
                <a:spcPts val="2000"/>
              </a:lnSpc>
              <a:spcAft>
                <a:spcPts val="1200"/>
              </a:spcAft>
              <a:buNone/>
            </a:pPr>
            <a:r>
              <a:rPr lang="en-US" sz="1250" dirty="0">
                <a:solidFill>
                  <a:srgbClr val="4B5B6E"/>
                </a:solidFill>
                <a:latin typeface="Tajawal" pitchFamily="34" charset="0"/>
                <a:ea typeface="Tajawal" pitchFamily="34" charset="-122"/>
                <a:cs typeface="Tajawal" pitchFamily="34" charset="-120"/>
              </a:rPr>
              <a:t>والمنشآت المحلية: مطاعم ومقاهي وفنادق حائل، والمحميات السياحية</a:t>
            </a:r>
            <a:endParaRPr lang="en-US" sz="1250" dirty="0"/>
          </a:p>
          <a:p>
            <a:pPr rtl="1" algn="r" indent="0" marL="0">
              <a:lnSpc>
                <a:spcPts val="2000"/>
              </a:lnSpc>
              <a:spcAft>
                <a:spcPts val="1200"/>
              </a:spcAft>
              <a:buNone/>
            </a:pPr>
            <a:r>
              <a:rPr lang="en-US" sz="1250" dirty="0">
                <a:solidFill>
                  <a:srgbClr val="4B5B6E"/>
                </a:solidFill>
                <a:latin typeface="Tajawal" pitchFamily="34" charset="0"/>
                <a:ea typeface="Tajawal" pitchFamily="34" charset="-122"/>
                <a:cs typeface="Tajawal" pitchFamily="34" charset="-120"/>
              </a:rPr>
              <a:t>والسائح نفسه: مسحات مجانية، ثم باقات إضافية</a:t>
            </a:r>
            <a:endParaRPr lang="en-US" sz="1250" dirty="0"/>
          </a:p>
        </p:txBody>
      </p:sp>
      <p:sp>
        <p:nvSpPr>
          <p:cNvPr id="8" name="Shape 4"/>
          <p:cNvSpPr/>
          <p:nvPr/>
        </p:nvSpPr>
        <p:spPr>
          <a:xfrm>
            <a:off x="4402226" y="1234440"/>
            <a:ext cx="3387242" cy="2697480"/>
          </a:xfrm>
          <a:prstGeom prst="roundRect">
            <a:avLst>
              <a:gd name="adj" fmla="val 2712"/>
            </a:avLst>
          </a:prstGeom>
          <a:solidFill>
            <a:srgbClr val="EEF3F9"/>
          </a:solidFill>
          <a:ln w="9525">
            <a:solidFill>
              <a:srgbClr val="D9E2EC"/>
            </a:solidFill>
            <a:prstDash val="solid"/>
          </a:ln>
        </p:spPr>
      </p:sp>
      <p:sp>
        <p:nvSpPr>
          <p:cNvPr id="9" name="Text 5"/>
          <p:cNvSpPr/>
          <p:nvPr/>
        </p:nvSpPr>
        <p:spPr>
          <a:xfrm>
            <a:off x="4639970" y="1417320"/>
            <a:ext cx="2911754" cy="310896"/>
          </a:xfrm>
          <a:prstGeom prst="rect">
            <a:avLst/>
          </a:prstGeom>
          <a:noFill/>
          <a:ln/>
        </p:spPr>
        <p:txBody>
          <a:bodyPr wrap="square" lIns="0" tIns="0" rIns="0" bIns="0" rtlCol="0" anchor="ctr"/>
          <a:lstStyle/>
          <a:p>
            <a:pPr rtl="1" algn="r" indent="0" marL="0">
              <a:buNone/>
            </a:pPr>
            <a:r>
              <a:rPr lang="en-US" sz="1400" b="1" dirty="0">
                <a:solidFill>
                  <a:srgbClr val="8357F6"/>
                </a:solidFill>
                <a:latin typeface="Tajawal" pitchFamily="34" charset="0"/>
                <a:ea typeface="Tajawal" pitchFamily="34" charset="-122"/>
                <a:cs typeface="Tajawal" pitchFamily="34" charset="-120"/>
              </a:rPr>
              <a:t>مصادر الإيرادات</a:t>
            </a:r>
            <a:endParaRPr lang="en-US" sz="1400" dirty="0"/>
          </a:p>
        </p:txBody>
      </p:sp>
      <p:sp>
        <p:nvSpPr>
          <p:cNvPr id="10" name="Text 6"/>
          <p:cNvSpPr/>
          <p:nvPr/>
        </p:nvSpPr>
        <p:spPr>
          <a:xfrm>
            <a:off x="4639970" y="1801368"/>
            <a:ext cx="2911754" cy="1947672"/>
          </a:xfrm>
          <a:prstGeom prst="rect">
            <a:avLst/>
          </a:prstGeom>
          <a:noFill/>
          <a:ln/>
        </p:spPr>
        <p:txBody>
          <a:bodyPr wrap="square" lIns="0" tIns="0" rIns="0" bIns="0" rtlCol="0" anchor="t"/>
          <a:lstStyle/>
          <a:p>
            <a:pPr rtl="1" algn="r" indent="0" marL="0">
              <a:lnSpc>
                <a:spcPts val="2000"/>
              </a:lnSpc>
              <a:spcAft>
                <a:spcPts val="1200"/>
              </a:spcAft>
              <a:buNone/>
            </a:pPr>
            <a:r>
              <a:rPr lang="en-US" sz="1250" dirty="0">
                <a:solidFill>
                  <a:srgbClr val="4B5B6E"/>
                </a:solidFill>
                <a:latin typeface="Tajawal" pitchFamily="34" charset="0"/>
                <a:ea typeface="Tajawal" pitchFamily="34" charset="-122"/>
                <a:cs typeface="Tajawal" pitchFamily="34" charset="-120"/>
              </a:rPr>
              <a:t>رسوم إدراج للمطاعم والمقاهي والفنادق والمحميات في مسار الرحلة</a:t>
            </a:r>
            <a:endParaRPr lang="en-US" sz="1250" dirty="0"/>
          </a:p>
          <a:p>
            <a:pPr rtl="1" algn="r" indent="0" marL="0">
              <a:lnSpc>
                <a:spcPts val="2000"/>
              </a:lnSpc>
              <a:spcAft>
                <a:spcPts val="1200"/>
              </a:spcAft>
              <a:buNone/>
            </a:pPr>
            <a:r>
              <a:rPr lang="en-US" sz="1250" dirty="0">
                <a:solidFill>
                  <a:srgbClr val="4B5B6E"/>
                </a:solidFill>
                <a:latin typeface="Tajawal" pitchFamily="34" charset="0"/>
                <a:ea typeface="Tajawal" pitchFamily="34" charset="-122"/>
                <a:cs typeface="Tajawal" pitchFamily="34" charset="-120"/>
              </a:rPr>
              <a:t>ورسوم إعداد لكل موقع جديد</a:t>
            </a:r>
            <a:endParaRPr lang="en-US" sz="1250" dirty="0"/>
          </a:p>
          <a:p>
            <a:pPr rtl="1" algn="r" indent="0" marL="0">
              <a:lnSpc>
                <a:spcPts val="2000"/>
              </a:lnSpc>
              <a:spcAft>
                <a:spcPts val="1200"/>
              </a:spcAft>
              <a:buNone/>
            </a:pPr>
            <a:r>
              <a:rPr lang="en-US" sz="1250" dirty="0">
                <a:solidFill>
                  <a:srgbClr val="4B5B6E"/>
                </a:solidFill>
                <a:latin typeface="Tajawal" pitchFamily="34" charset="0"/>
                <a:ea typeface="Tajawal" pitchFamily="34" charset="-122"/>
                <a:cs typeface="Tajawal" pitchFamily="34" charset="-120"/>
              </a:rPr>
              <a:t>ونسخة بيضاء: التطبيق نفسه لمتحف آخر باسمه</a:t>
            </a:r>
            <a:endParaRPr lang="en-US" sz="1250" dirty="0"/>
          </a:p>
        </p:txBody>
      </p:sp>
      <p:sp>
        <p:nvSpPr>
          <p:cNvPr id="11" name="Shape 7"/>
          <p:cNvSpPr/>
          <p:nvPr/>
        </p:nvSpPr>
        <p:spPr>
          <a:xfrm>
            <a:off x="777240" y="1234440"/>
            <a:ext cx="3387242" cy="2697480"/>
          </a:xfrm>
          <a:prstGeom prst="roundRect">
            <a:avLst>
              <a:gd name="adj" fmla="val 2712"/>
            </a:avLst>
          </a:prstGeom>
          <a:solidFill>
            <a:srgbClr val="EEF3F9"/>
          </a:solidFill>
          <a:ln w="9525">
            <a:solidFill>
              <a:srgbClr val="D9E2EC"/>
            </a:solidFill>
            <a:prstDash val="solid"/>
          </a:ln>
        </p:spPr>
      </p:sp>
      <p:sp>
        <p:nvSpPr>
          <p:cNvPr id="12" name="Text 8"/>
          <p:cNvSpPr/>
          <p:nvPr/>
        </p:nvSpPr>
        <p:spPr>
          <a:xfrm>
            <a:off x="1014984" y="1417320"/>
            <a:ext cx="2911754" cy="310896"/>
          </a:xfrm>
          <a:prstGeom prst="rect">
            <a:avLst/>
          </a:prstGeom>
          <a:noFill/>
          <a:ln/>
        </p:spPr>
        <p:txBody>
          <a:bodyPr wrap="square" lIns="0" tIns="0" rIns="0" bIns="0" rtlCol="0" anchor="ctr"/>
          <a:lstStyle/>
          <a:p>
            <a:pPr rtl="1" algn="r" indent="0" marL="0">
              <a:buNone/>
            </a:pPr>
            <a:r>
              <a:rPr lang="en-US" sz="1400" b="1" dirty="0">
                <a:solidFill>
                  <a:srgbClr val="8357F6"/>
                </a:solidFill>
                <a:latin typeface="Tajawal" pitchFamily="34" charset="0"/>
                <a:ea typeface="Tajawal" pitchFamily="34" charset="-122"/>
                <a:cs typeface="Tajawal" pitchFamily="34" charset="-120"/>
              </a:rPr>
              <a:t>الاستدامة</a:t>
            </a:r>
            <a:endParaRPr lang="en-US" sz="1400" dirty="0"/>
          </a:p>
        </p:txBody>
      </p:sp>
      <p:sp>
        <p:nvSpPr>
          <p:cNvPr id="13" name="Text 9"/>
          <p:cNvSpPr/>
          <p:nvPr/>
        </p:nvSpPr>
        <p:spPr>
          <a:xfrm>
            <a:off x="1014984" y="1801368"/>
            <a:ext cx="2911754" cy="1947672"/>
          </a:xfrm>
          <a:prstGeom prst="rect">
            <a:avLst/>
          </a:prstGeom>
          <a:noFill/>
          <a:ln/>
        </p:spPr>
        <p:txBody>
          <a:bodyPr wrap="square" lIns="0" tIns="0" rIns="0" bIns="0" rtlCol="0" anchor="t"/>
          <a:lstStyle/>
          <a:p>
            <a:pPr rtl="1" algn="r" indent="0" marL="0">
              <a:lnSpc>
                <a:spcPts val="2000"/>
              </a:lnSpc>
              <a:spcAft>
                <a:spcPts val="1200"/>
              </a:spcAft>
              <a:buNone/>
            </a:pPr>
            <a:r>
              <a:rPr lang="en-US" sz="1250" dirty="0">
                <a:solidFill>
                  <a:srgbClr val="4B5B6E"/>
                </a:solidFill>
                <a:latin typeface="Tajawal" pitchFamily="34" charset="0"/>
                <a:ea typeface="Tajawal" pitchFamily="34" charset="-122"/>
                <a:cs typeface="Tajawal" pitchFamily="34" charset="-120"/>
              </a:rPr>
              <a:t>السائح الإضافي لا يكلفنا شيئا، فلا خوادم</a:t>
            </a:r>
            <a:endParaRPr lang="en-US" sz="1250" dirty="0"/>
          </a:p>
          <a:p>
            <a:pPr rtl="1" algn="r" indent="0" marL="0">
              <a:lnSpc>
                <a:spcPts val="2000"/>
              </a:lnSpc>
              <a:spcAft>
                <a:spcPts val="1200"/>
              </a:spcAft>
              <a:buNone/>
            </a:pPr>
            <a:r>
              <a:rPr lang="en-US" sz="1250" dirty="0">
                <a:solidFill>
                  <a:srgbClr val="4B5B6E"/>
                </a:solidFill>
                <a:latin typeface="Tajawal" pitchFamily="34" charset="0"/>
                <a:ea typeface="Tajawal" pitchFamily="34" charset="-122"/>
                <a:cs typeface="Tajawal" pitchFamily="34" charset="-120"/>
              </a:rPr>
              <a:t>والتكلفة إعداد لمرة واحدة لكل موقع</a:t>
            </a:r>
            <a:endParaRPr lang="en-US" sz="1250" dirty="0"/>
          </a:p>
        </p:txBody>
      </p:sp>
      <p:sp>
        <p:nvSpPr>
          <p:cNvPr id="14" name="Shape 10"/>
          <p:cNvSpPr/>
          <p:nvPr/>
        </p:nvSpPr>
        <p:spPr>
          <a:xfrm>
            <a:off x="777240" y="4114800"/>
            <a:ext cx="10637215" cy="841248"/>
          </a:xfrm>
          <a:prstGeom prst="roundRect">
            <a:avLst>
              <a:gd name="adj" fmla="val 8696"/>
            </a:avLst>
          </a:prstGeom>
          <a:solidFill>
            <a:srgbClr val="E9E2FB"/>
          </a:solidFill>
          <a:ln w="9525">
            <a:solidFill>
              <a:srgbClr val="D9E2EC"/>
            </a:solidFill>
            <a:prstDash val="solid"/>
          </a:ln>
        </p:spPr>
      </p:sp>
      <p:sp>
        <p:nvSpPr>
          <p:cNvPr id="15" name="Text 11"/>
          <p:cNvSpPr/>
          <p:nvPr/>
        </p:nvSpPr>
        <p:spPr>
          <a:xfrm>
            <a:off x="1088136" y="4334256"/>
            <a:ext cx="10015423" cy="420624"/>
          </a:xfrm>
          <a:prstGeom prst="rect">
            <a:avLst/>
          </a:prstGeom>
          <a:noFill/>
          <a:ln/>
        </p:spPr>
        <p:txBody>
          <a:bodyPr wrap="square" lIns="0" tIns="0" rIns="0" bIns="0" rtlCol="0" anchor="ctr"/>
          <a:lstStyle/>
          <a:p>
            <a:pPr rtl="1" algn="ctr" indent="0" marL="0">
              <a:buNone/>
            </a:pPr>
            <a:r>
              <a:rPr lang="en-US" sz="1450" b="1" dirty="0">
                <a:solidFill>
                  <a:srgbClr val="4B2E9E"/>
                </a:solidFill>
                <a:latin typeface="Tajawal" pitchFamily="34" charset="0"/>
                <a:ea typeface="Tajawal" pitchFamily="34" charset="-122"/>
                <a:cs typeface="Tajawal" pitchFamily="34" charset="-120"/>
              </a:rPr>
              <a:t>سائح واحد ومليون سائح كلهم سواء في الكلفة، لأن كل شيء يعمل داخل جوال السائح</a:t>
            </a:r>
            <a:endParaRPr lang="en-US" sz="1450" dirty="0"/>
          </a:p>
        </p:txBody>
      </p:sp>
      <p:sp>
        <p:nvSpPr>
          <p:cNvPr id="16" name="Shape 12"/>
          <p:cNvSpPr/>
          <p:nvPr/>
        </p:nvSpPr>
        <p:spPr>
          <a:xfrm>
            <a:off x="9585655" y="5138928"/>
            <a:ext cx="1828800" cy="1225296"/>
          </a:xfrm>
          <a:prstGeom prst="roundRect">
            <a:avLst>
              <a:gd name="adj" fmla="val 5970"/>
            </a:avLst>
          </a:prstGeom>
          <a:solidFill>
            <a:srgbClr val="EEF3F9"/>
          </a:solidFill>
          <a:ln w="9525">
            <a:solidFill>
              <a:srgbClr val="D9E2EC"/>
            </a:solidFill>
            <a:prstDash val="solid"/>
          </a:ln>
        </p:spPr>
      </p:sp>
      <p:sp>
        <p:nvSpPr>
          <p:cNvPr id="17" name="Text 13"/>
          <p:cNvSpPr/>
          <p:nvPr/>
        </p:nvSpPr>
        <p:spPr>
          <a:xfrm>
            <a:off x="9585655" y="5285232"/>
            <a:ext cx="1828800" cy="548640"/>
          </a:xfrm>
          <a:prstGeom prst="rect">
            <a:avLst/>
          </a:prstGeom>
          <a:noFill/>
          <a:ln/>
        </p:spPr>
        <p:txBody>
          <a:bodyPr wrap="square" lIns="0" tIns="0" rIns="0" bIns="0" rtlCol="0" anchor="ctr"/>
          <a:lstStyle/>
          <a:p>
            <a:pPr algn="ctr" indent="0" marL="0">
              <a:buNone/>
            </a:pPr>
            <a:r>
              <a:rPr lang="en-US" sz="2800" b="1" dirty="0">
                <a:solidFill>
                  <a:srgbClr val="8357F6"/>
                </a:solidFill>
                <a:latin typeface="Calibri" pitchFamily="34" charset="0"/>
                <a:ea typeface="Calibri" pitchFamily="34" charset="-122"/>
                <a:cs typeface="Calibri" pitchFamily="34" charset="-120"/>
              </a:rPr>
              <a:t>0$</a:t>
            </a:r>
            <a:endParaRPr lang="en-US" sz="2800" dirty="0"/>
          </a:p>
        </p:txBody>
      </p:sp>
      <p:sp>
        <p:nvSpPr>
          <p:cNvPr id="18" name="Text 14"/>
          <p:cNvSpPr/>
          <p:nvPr/>
        </p:nvSpPr>
        <p:spPr>
          <a:xfrm>
            <a:off x="9695383" y="5870448"/>
            <a:ext cx="1609344" cy="402336"/>
          </a:xfrm>
          <a:prstGeom prst="rect">
            <a:avLst/>
          </a:prstGeom>
          <a:noFill/>
          <a:ln/>
        </p:spPr>
        <p:txBody>
          <a:bodyPr wrap="square" lIns="0" tIns="0" rIns="0" bIns="0" rtlCol="0" anchor="ctr"/>
          <a:lstStyle/>
          <a:p>
            <a:pPr rtl="1" algn="ctr" indent="0" marL="0">
              <a:lnSpc>
                <a:spcPts val="1500"/>
              </a:lnSpc>
              <a:buNone/>
            </a:pPr>
            <a:r>
              <a:rPr lang="en-US" sz="1100" dirty="0">
                <a:solidFill>
                  <a:srgbClr val="4B5B6E"/>
                </a:solidFill>
                <a:latin typeface="Tajawal" pitchFamily="34" charset="0"/>
                <a:ea typeface="Tajawal" pitchFamily="34" charset="-122"/>
                <a:cs typeface="Tajawal" pitchFamily="34" charset="-120"/>
              </a:rPr>
              <a:t>تكلفة تشغيل</a:t>
            </a:r>
            <a:endParaRPr lang="en-US" sz="1100" dirty="0"/>
          </a:p>
          <a:p>
            <a:pPr rtl="1" algn="ctr" indent="0" marL="0">
              <a:lnSpc>
                <a:spcPts val="1500"/>
              </a:lnSpc>
              <a:buNone/>
            </a:pPr>
            <a:r>
              <a:rPr lang="en-US" sz="1100" dirty="0">
                <a:solidFill>
                  <a:srgbClr val="4B5B6E"/>
                </a:solidFill>
                <a:latin typeface="Tajawal" pitchFamily="34" charset="0"/>
                <a:ea typeface="Tajawal" pitchFamily="34" charset="-122"/>
                <a:cs typeface="Tajawal" pitchFamily="34" charset="-120"/>
              </a:rPr>
              <a:t>شهرية</a:t>
            </a:r>
            <a:endParaRPr lang="en-US" sz="1100" dirty="0"/>
          </a:p>
        </p:txBody>
      </p:sp>
      <p:sp>
        <p:nvSpPr>
          <p:cNvPr id="19" name="Shape 15"/>
          <p:cNvSpPr/>
          <p:nvPr/>
        </p:nvSpPr>
        <p:spPr>
          <a:xfrm>
            <a:off x="5181448" y="5138928"/>
            <a:ext cx="4166464" cy="1225296"/>
          </a:xfrm>
          <a:prstGeom prst="roundRect">
            <a:avLst>
              <a:gd name="adj" fmla="val 5970"/>
            </a:avLst>
          </a:prstGeom>
          <a:solidFill>
            <a:srgbClr val="E9E2FB"/>
          </a:solidFill>
          <a:ln w="9525">
            <a:solidFill>
              <a:srgbClr val="D9E2EC"/>
            </a:solidFill>
            <a:prstDash val="solid"/>
          </a:ln>
        </p:spPr>
      </p:sp>
      <p:sp>
        <p:nvSpPr>
          <p:cNvPr id="20" name="Text 16"/>
          <p:cNvSpPr/>
          <p:nvPr/>
        </p:nvSpPr>
        <p:spPr>
          <a:xfrm>
            <a:off x="5400904" y="5248656"/>
            <a:ext cx="3727552" cy="292608"/>
          </a:xfrm>
          <a:prstGeom prst="rect">
            <a:avLst/>
          </a:prstGeom>
          <a:noFill/>
          <a:ln/>
        </p:spPr>
        <p:txBody>
          <a:bodyPr wrap="square" lIns="0" tIns="0" rIns="0" bIns="0" rtlCol="0" anchor="ctr"/>
          <a:lstStyle/>
          <a:p>
            <a:pPr rtl="1" algn="r" indent="0" marL="0">
              <a:buNone/>
            </a:pPr>
            <a:r>
              <a:rPr lang="en-US" sz="1350" b="1" dirty="0">
                <a:solidFill>
                  <a:srgbClr val="4B2E9E"/>
                </a:solidFill>
                <a:latin typeface="Tajawal" pitchFamily="34" charset="0"/>
                <a:ea typeface="Tajawal" pitchFamily="34" charset="-122"/>
                <a:cs typeface="Tajawal" pitchFamily="34" charset="-120"/>
              </a:rPr>
              <a:t>حجز بعد المسح</a:t>
            </a:r>
            <a:endParaRPr lang="en-US" sz="1350" dirty="0"/>
          </a:p>
        </p:txBody>
      </p:sp>
      <p:sp>
        <p:nvSpPr>
          <p:cNvPr id="21" name="Text 17"/>
          <p:cNvSpPr/>
          <p:nvPr/>
        </p:nvSpPr>
        <p:spPr>
          <a:xfrm>
            <a:off x="5400904" y="5559552"/>
            <a:ext cx="3727552" cy="731520"/>
          </a:xfrm>
          <a:prstGeom prst="rect">
            <a:avLst/>
          </a:prstGeom>
          <a:noFill/>
          <a:ln/>
        </p:spPr>
        <p:txBody>
          <a:bodyPr wrap="square" lIns="0" tIns="0" rIns="0" bIns="0" rtlCol="0" anchor="t"/>
          <a:lstStyle/>
          <a:p>
            <a:pPr rtl="1" algn="r" indent="0" marL="0">
              <a:lnSpc>
                <a:spcPts val="1700"/>
              </a:lnSpc>
              <a:buNone/>
            </a:pPr>
            <a:r>
              <a:rPr lang="en-US" sz="1150" dirty="0">
                <a:solidFill>
                  <a:srgbClr val="4B5B6E"/>
                </a:solidFill>
                <a:latin typeface="Tajawal" pitchFamily="34" charset="0"/>
                <a:ea typeface="Tajawal" pitchFamily="34" charset="-122"/>
                <a:cs typeface="Tajawal" pitchFamily="34" charset="-120"/>
              </a:rPr>
              <a:t>بعد المسح يقترح التطبيق أقرب شريك، فيحجز السائح منه، ويدفع الشريك عمولة عن كل حجز</a:t>
            </a:r>
            <a:endParaRPr lang="en-US" sz="1150" dirty="0"/>
          </a:p>
        </p:txBody>
      </p:sp>
      <p:sp>
        <p:nvSpPr>
          <p:cNvPr id="22" name="Shape 18"/>
          <p:cNvSpPr/>
          <p:nvPr/>
        </p:nvSpPr>
        <p:spPr>
          <a:xfrm>
            <a:off x="777240" y="5138928"/>
            <a:ext cx="4166464" cy="1225296"/>
          </a:xfrm>
          <a:prstGeom prst="roundRect">
            <a:avLst>
              <a:gd name="adj" fmla="val 5970"/>
            </a:avLst>
          </a:prstGeom>
          <a:solidFill>
            <a:srgbClr val="E9E2FB"/>
          </a:solidFill>
          <a:ln w="9525">
            <a:solidFill>
              <a:srgbClr val="D9E2EC"/>
            </a:solidFill>
            <a:prstDash val="solid"/>
          </a:ln>
        </p:spPr>
      </p:sp>
      <p:sp>
        <p:nvSpPr>
          <p:cNvPr id="23" name="Text 19"/>
          <p:cNvSpPr/>
          <p:nvPr/>
        </p:nvSpPr>
        <p:spPr>
          <a:xfrm>
            <a:off x="996696" y="5248656"/>
            <a:ext cx="3727552" cy="292608"/>
          </a:xfrm>
          <a:prstGeom prst="rect">
            <a:avLst/>
          </a:prstGeom>
          <a:noFill/>
          <a:ln/>
        </p:spPr>
        <p:txBody>
          <a:bodyPr wrap="square" lIns="0" tIns="0" rIns="0" bIns="0" rtlCol="0" anchor="ctr"/>
          <a:lstStyle/>
          <a:p>
            <a:pPr rtl="1" algn="r" indent="0" marL="0">
              <a:buNone/>
            </a:pPr>
            <a:r>
              <a:rPr lang="en-US" sz="1350" b="1" dirty="0">
                <a:solidFill>
                  <a:srgbClr val="4B2E9E"/>
                </a:solidFill>
                <a:latin typeface="Tajawal" pitchFamily="34" charset="0"/>
                <a:ea typeface="Tajawal" pitchFamily="34" charset="-122"/>
                <a:cs typeface="Tajawal" pitchFamily="34" charset="-120"/>
              </a:rPr>
              <a:t>باقات المسح</a:t>
            </a:r>
            <a:endParaRPr lang="en-US" sz="1350" dirty="0"/>
          </a:p>
        </p:txBody>
      </p:sp>
      <p:sp>
        <p:nvSpPr>
          <p:cNvPr id="24" name="Text 20"/>
          <p:cNvSpPr/>
          <p:nvPr/>
        </p:nvSpPr>
        <p:spPr>
          <a:xfrm>
            <a:off x="996696" y="5559552"/>
            <a:ext cx="3727552" cy="731520"/>
          </a:xfrm>
          <a:prstGeom prst="rect">
            <a:avLst/>
          </a:prstGeom>
          <a:noFill/>
          <a:ln/>
        </p:spPr>
        <p:txBody>
          <a:bodyPr wrap="square" lIns="0" tIns="0" rIns="0" bIns="0" rtlCol="0" anchor="t"/>
          <a:lstStyle/>
          <a:p>
            <a:pPr rtl="1" algn="r" indent="0" marL="0">
              <a:lnSpc>
                <a:spcPts val="1700"/>
              </a:lnSpc>
              <a:buNone/>
            </a:pPr>
            <a:r>
              <a:rPr lang="en-US" sz="1150" dirty="0">
                <a:solidFill>
                  <a:srgbClr val="4B5B6E"/>
                </a:solidFill>
                <a:latin typeface="Tajawal" pitchFamily="34" charset="0"/>
                <a:ea typeface="Tajawal" pitchFamily="34" charset="-122"/>
                <a:cs typeface="Tajawal" pitchFamily="34" charset="-120"/>
              </a:rPr>
              <a:t>مسحات مجانية لكل سائح، ثم باقات إضافية من داخل التطبيق، والقصص مجانية دائما</a:t>
            </a:r>
            <a:endParaRPr lang="en-US" sz="11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9FAFC"/>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640080" y="1920240"/>
            <a:ext cx="4754880" cy="3017520"/>
          </a:xfrm>
          <a:prstGeom prst="rect">
            <a:avLst/>
          </a:prstGeom>
          <a:noFill/>
          <a:ln/>
        </p:spPr>
        <p:txBody>
          <a:bodyPr wrap="square" lIns="0" tIns="0" rIns="0" bIns="0" rtlCol="0" anchor="ctr"/>
          <a:lstStyle/>
          <a:p>
            <a:pPr algn="l" indent="0" marL="0">
              <a:buNone/>
            </a:pPr>
            <a:r>
              <a:rPr lang="en-US" sz="17000" b="1" dirty="0">
                <a:solidFill>
                  <a:srgbClr val="DCE5F0"/>
                </a:solidFill>
                <a:latin typeface="Calibri" pitchFamily="34" charset="0"/>
                <a:ea typeface="Calibri" pitchFamily="34" charset="-122"/>
                <a:cs typeface="Calibri" pitchFamily="34" charset="-120"/>
              </a:rPr>
              <a:t>06</a:t>
            </a:r>
            <a:endParaRPr lang="en-US" sz="17000" dirty="0"/>
          </a:p>
        </p:txBody>
      </p:sp>
      <p:sp>
        <p:nvSpPr>
          <p:cNvPr id="4" name="Text 1"/>
          <p:cNvSpPr/>
          <p:nvPr/>
        </p:nvSpPr>
        <p:spPr>
          <a:xfrm>
            <a:off x="5120640" y="2788920"/>
            <a:ext cx="6293815" cy="1280160"/>
          </a:xfrm>
          <a:prstGeom prst="rect">
            <a:avLst/>
          </a:prstGeom>
          <a:noFill/>
          <a:ln/>
        </p:spPr>
        <p:txBody>
          <a:bodyPr wrap="square" lIns="0" tIns="0" rIns="0" bIns="0" rtlCol="0" anchor="ctr"/>
          <a:lstStyle/>
          <a:p>
            <a:pPr rtl="1" algn="r" indent="0" marL="0">
              <a:buNone/>
            </a:pPr>
            <a:r>
              <a:rPr lang="en-US" sz="3600" b="1" dirty="0">
                <a:solidFill>
                  <a:srgbClr val="255174"/>
                </a:solidFill>
                <a:latin typeface="Tajawal" pitchFamily="34" charset="0"/>
                <a:ea typeface="Tajawal" pitchFamily="34" charset="-122"/>
                <a:cs typeface="Tajawal" pitchFamily="34" charset="-120"/>
              </a:rPr>
              <a:t>قابلية النمو</a:t>
            </a:r>
            <a:endParaRPr lang="en-US" sz="36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9FAFC"/>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777240" y="548640"/>
            <a:ext cx="10637215" cy="502920"/>
          </a:xfrm>
          <a:prstGeom prst="rect">
            <a:avLst/>
          </a:prstGeom>
          <a:noFill/>
          <a:ln/>
        </p:spPr>
        <p:txBody>
          <a:bodyPr wrap="square" lIns="0" tIns="0" rIns="0" bIns="0" rtlCol="0" anchor="ctr"/>
          <a:lstStyle/>
          <a:p>
            <a:pPr rtl="1" algn="r" indent="0" marL="0">
              <a:buNone/>
            </a:pPr>
            <a:r>
              <a:rPr lang="en-US" sz="2600" b="1" dirty="0">
                <a:solidFill>
                  <a:srgbClr val="255174"/>
                </a:solidFill>
                <a:latin typeface="Tajawal" pitchFamily="34" charset="0"/>
                <a:ea typeface="Tajawal" pitchFamily="34" charset="-122"/>
                <a:cs typeface="Tajawal" pitchFamily="34" charset="-120"/>
              </a:rPr>
              <a:t>قابلية النمو</a:t>
            </a:r>
            <a:endParaRPr lang="en-US" sz="2600" dirty="0"/>
          </a:p>
        </p:txBody>
      </p:sp>
      <p:sp>
        <p:nvSpPr>
          <p:cNvPr id="4" name="Shape 1"/>
          <p:cNvSpPr/>
          <p:nvPr/>
        </p:nvSpPr>
        <p:spPr>
          <a:xfrm>
            <a:off x="8933459" y="1234440"/>
            <a:ext cx="2480996" cy="1298448"/>
          </a:xfrm>
          <a:prstGeom prst="roundRect">
            <a:avLst>
              <a:gd name="adj" fmla="val 5634"/>
            </a:avLst>
          </a:prstGeom>
          <a:solidFill>
            <a:srgbClr val="EEF3F9"/>
          </a:solidFill>
          <a:ln w="9525">
            <a:solidFill>
              <a:srgbClr val="D9E2EC"/>
            </a:solidFill>
            <a:prstDash val="solid"/>
          </a:ln>
        </p:spPr>
      </p:sp>
      <p:sp>
        <p:nvSpPr>
          <p:cNvPr id="5" name="Text 2"/>
          <p:cNvSpPr/>
          <p:nvPr/>
        </p:nvSpPr>
        <p:spPr>
          <a:xfrm>
            <a:off x="9134627" y="1353312"/>
            <a:ext cx="365760" cy="310896"/>
          </a:xfrm>
          <a:prstGeom prst="rect">
            <a:avLst/>
          </a:prstGeom>
          <a:noFill/>
          <a:ln/>
        </p:spPr>
        <p:txBody>
          <a:bodyPr wrap="square" lIns="0" tIns="0" rIns="0" bIns="0" rtlCol="0" anchor="ctr"/>
          <a:lstStyle/>
          <a:p>
            <a:pPr algn="l" indent="0" marL="0">
              <a:buNone/>
            </a:pPr>
            <a:r>
              <a:rPr lang="en-US" sz="1300" b="1" dirty="0">
                <a:solidFill>
                  <a:srgbClr val="AFC0D4"/>
                </a:solidFill>
                <a:latin typeface="Calibri" pitchFamily="34" charset="0"/>
                <a:ea typeface="Calibri" pitchFamily="34" charset="-122"/>
                <a:cs typeface="Calibri" pitchFamily="34" charset="-120"/>
              </a:rPr>
              <a:t>1</a:t>
            </a:r>
            <a:endParaRPr lang="en-US" sz="1300" dirty="0"/>
          </a:p>
        </p:txBody>
      </p:sp>
      <p:sp>
        <p:nvSpPr>
          <p:cNvPr id="6" name="Text 3"/>
          <p:cNvSpPr/>
          <p:nvPr/>
        </p:nvSpPr>
        <p:spPr>
          <a:xfrm>
            <a:off x="9171203" y="1371600"/>
            <a:ext cx="1658036" cy="310896"/>
          </a:xfrm>
          <a:prstGeom prst="rect">
            <a:avLst/>
          </a:prstGeom>
          <a:noFill/>
          <a:ln/>
        </p:spPr>
        <p:txBody>
          <a:bodyPr wrap="square" lIns="0" tIns="0" rIns="0" bIns="0" rtlCol="0" anchor="ctr"/>
          <a:lstStyle/>
          <a:p>
            <a:pPr rtl="1" algn="r" indent="0" marL="0">
              <a:buNone/>
            </a:pPr>
            <a:r>
              <a:rPr lang="en-US" sz="1500" b="1" dirty="0">
                <a:solidFill>
                  <a:srgbClr val="255174"/>
                </a:solidFill>
                <a:latin typeface="Tajawal" pitchFamily="34" charset="0"/>
                <a:ea typeface="Tajawal" pitchFamily="34" charset="-122"/>
                <a:cs typeface="Tajawal" pitchFamily="34" charset="-120"/>
              </a:rPr>
              <a:t>تصوير</a:t>
            </a:r>
            <a:endParaRPr lang="en-US" sz="1500" dirty="0"/>
          </a:p>
        </p:txBody>
      </p:sp>
      <p:sp>
        <p:nvSpPr>
          <p:cNvPr id="7" name="Text 4"/>
          <p:cNvSpPr/>
          <p:nvPr/>
        </p:nvSpPr>
        <p:spPr>
          <a:xfrm>
            <a:off x="9171203" y="1773936"/>
            <a:ext cx="2005508" cy="603504"/>
          </a:xfrm>
          <a:prstGeom prst="rect">
            <a:avLst/>
          </a:prstGeom>
          <a:noFill/>
          <a:ln/>
        </p:spPr>
        <p:txBody>
          <a:bodyPr wrap="square" lIns="0" tIns="0" rIns="0" bIns="0" rtlCol="0" anchor="ctr"/>
          <a:lstStyle/>
          <a:p>
            <a:pPr rtl="1" algn="r" indent="0" marL="0">
              <a:lnSpc>
                <a:spcPts val="1700"/>
              </a:lnSpc>
              <a:buNone/>
            </a:pPr>
            <a:r>
              <a:rPr lang="en-US" sz="1150" dirty="0">
                <a:solidFill>
                  <a:srgbClr val="4B5B6E"/>
                </a:solidFill>
                <a:latin typeface="Tajawal" pitchFamily="34" charset="0"/>
                <a:ea typeface="Tajawal" pitchFamily="34" charset="-122"/>
                <a:cs typeface="Tajawal" pitchFamily="34" charset="-120"/>
              </a:rPr>
              <a:t>زيارة ميدانية واحدة للموقع الجديد</a:t>
            </a:r>
            <a:endParaRPr lang="en-US" sz="1150" dirty="0"/>
          </a:p>
        </p:txBody>
      </p:sp>
      <p:sp>
        <p:nvSpPr>
          <p:cNvPr id="8" name="Shape 5"/>
          <p:cNvSpPr/>
          <p:nvPr/>
        </p:nvSpPr>
        <p:spPr>
          <a:xfrm>
            <a:off x="6214720" y="1234440"/>
            <a:ext cx="2480996" cy="1298448"/>
          </a:xfrm>
          <a:prstGeom prst="roundRect">
            <a:avLst>
              <a:gd name="adj" fmla="val 5634"/>
            </a:avLst>
          </a:prstGeom>
          <a:solidFill>
            <a:srgbClr val="EEF3F9"/>
          </a:solidFill>
          <a:ln w="9525">
            <a:solidFill>
              <a:srgbClr val="D9E2EC"/>
            </a:solidFill>
            <a:prstDash val="solid"/>
          </a:ln>
        </p:spPr>
      </p:sp>
      <p:sp>
        <p:nvSpPr>
          <p:cNvPr id="9" name="Text 6"/>
          <p:cNvSpPr/>
          <p:nvPr/>
        </p:nvSpPr>
        <p:spPr>
          <a:xfrm>
            <a:off x="6415888" y="1353312"/>
            <a:ext cx="365760" cy="310896"/>
          </a:xfrm>
          <a:prstGeom prst="rect">
            <a:avLst/>
          </a:prstGeom>
          <a:noFill/>
          <a:ln/>
        </p:spPr>
        <p:txBody>
          <a:bodyPr wrap="square" lIns="0" tIns="0" rIns="0" bIns="0" rtlCol="0" anchor="ctr"/>
          <a:lstStyle/>
          <a:p>
            <a:pPr algn="l" indent="0" marL="0">
              <a:buNone/>
            </a:pPr>
            <a:r>
              <a:rPr lang="en-US" sz="1300" b="1" dirty="0">
                <a:solidFill>
                  <a:srgbClr val="AFC0D4"/>
                </a:solidFill>
                <a:latin typeface="Calibri" pitchFamily="34" charset="0"/>
                <a:ea typeface="Calibri" pitchFamily="34" charset="-122"/>
                <a:cs typeface="Calibri" pitchFamily="34" charset="-120"/>
              </a:rPr>
              <a:t>2</a:t>
            </a:r>
            <a:endParaRPr lang="en-US" sz="1300" dirty="0"/>
          </a:p>
        </p:txBody>
      </p:sp>
      <p:sp>
        <p:nvSpPr>
          <p:cNvPr id="10" name="Text 7"/>
          <p:cNvSpPr/>
          <p:nvPr/>
        </p:nvSpPr>
        <p:spPr>
          <a:xfrm>
            <a:off x="6452464" y="1371600"/>
            <a:ext cx="1658036" cy="310896"/>
          </a:xfrm>
          <a:prstGeom prst="rect">
            <a:avLst/>
          </a:prstGeom>
          <a:noFill/>
          <a:ln/>
        </p:spPr>
        <p:txBody>
          <a:bodyPr wrap="square" lIns="0" tIns="0" rIns="0" bIns="0" rtlCol="0" anchor="ctr"/>
          <a:lstStyle/>
          <a:p>
            <a:pPr rtl="1" algn="r" indent="0" marL="0">
              <a:buNone/>
            </a:pPr>
            <a:r>
              <a:rPr lang="en-US" sz="1500" b="1" dirty="0">
                <a:solidFill>
                  <a:srgbClr val="255174"/>
                </a:solidFill>
                <a:latin typeface="Tajawal" pitchFamily="34" charset="0"/>
                <a:ea typeface="Tajawal" pitchFamily="34" charset="-122"/>
                <a:cs typeface="Tajawal" pitchFamily="34" charset="-120"/>
              </a:rPr>
              <a:t>فهرسة</a:t>
            </a:r>
            <a:endParaRPr lang="en-US" sz="1500" dirty="0"/>
          </a:p>
        </p:txBody>
      </p:sp>
      <p:sp>
        <p:nvSpPr>
          <p:cNvPr id="11" name="Text 8"/>
          <p:cNvSpPr/>
          <p:nvPr/>
        </p:nvSpPr>
        <p:spPr>
          <a:xfrm>
            <a:off x="6452464" y="1773936"/>
            <a:ext cx="2005508" cy="603504"/>
          </a:xfrm>
          <a:prstGeom prst="rect">
            <a:avLst/>
          </a:prstGeom>
          <a:noFill/>
          <a:ln/>
        </p:spPr>
        <p:txBody>
          <a:bodyPr wrap="square" lIns="0" tIns="0" rIns="0" bIns="0" rtlCol="0" anchor="ctr"/>
          <a:lstStyle/>
          <a:p>
            <a:pPr rtl="1" algn="r" indent="0" marL="0">
              <a:lnSpc>
                <a:spcPts val="1700"/>
              </a:lnSpc>
              <a:buNone/>
            </a:pPr>
            <a:r>
              <a:rPr lang="en-US" sz="1150" dirty="0">
                <a:solidFill>
                  <a:srgbClr val="4B5B6E"/>
                </a:solidFill>
                <a:latin typeface="Tajawal" pitchFamily="34" charset="0"/>
                <a:ea typeface="Tajawal" pitchFamily="34" charset="-122"/>
                <a:cs typeface="Tajawal" pitchFamily="34" charset="-120"/>
              </a:rPr>
              <a:t>تحويل الصور إلى بصمات — دقائق</a:t>
            </a:r>
            <a:endParaRPr lang="en-US" sz="1150" dirty="0"/>
          </a:p>
        </p:txBody>
      </p:sp>
      <p:sp>
        <p:nvSpPr>
          <p:cNvPr id="12" name="Shape 9"/>
          <p:cNvSpPr/>
          <p:nvPr/>
        </p:nvSpPr>
        <p:spPr>
          <a:xfrm>
            <a:off x="3495980" y="1234440"/>
            <a:ext cx="2480996" cy="1298448"/>
          </a:xfrm>
          <a:prstGeom prst="roundRect">
            <a:avLst>
              <a:gd name="adj" fmla="val 5634"/>
            </a:avLst>
          </a:prstGeom>
          <a:solidFill>
            <a:srgbClr val="EEF3F9"/>
          </a:solidFill>
          <a:ln w="9525">
            <a:solidFill>
              <a:srgbClr val="D9E2EC"/>
            </a:solidFill>
            <a:prstDash val="solid"/>
          </a:ln>
        </p:spPr>
      </p:sp>
      <p:sp>
        <p:nvSpPr>
          <p:cNvPr id="13" name="Text 10"/>
          <p:cNvSpPr/>
          <p:nvPr/>
        </p:nvSpPr>
        <p:spPr>
          <a:xfrm>
            <a:off x="3697148" y="1353312"/>
            <a:ext cx="365760" cy="310896"/>
          </a:xfrm>
          <a:prstGeom prst="rect">
            <a:avLst/>
          </a:prstGeom>
          <a:noFill/>
          <a:ln/>
        </p:spPr>
        <p:txBody>
          <a:bodyPr wrap="square" lIns="0" tIns="0" rIns="0" bIns="0" rtlCol="0" anchor="ctr"/>
          <a:lstStyle/>
          <a:p>
            <a:pPr algn="l" indent="0" marL="0">
              <a:buNone/>
            </a:pPr>
            <a:r>
              <a:rPr lang="en-US" sz="1300" b="1" dirty="0">
                <a:solidFill>
                  <a:srgbClr val="AFC0D4"/>
                </a:solidFill>
                <a:latin typeface="Calibri" pitchFamily="34" charset="0"/>
                <a:ea typeface="Calibri" pitchFamily="34" charset="-122"/>
                <a:cs typeface="Calibri" pitchFamily="34" charset="-120"/>
              </a:rPr>
              <a:t>3</a:t>
            </a:r>
            <a:endParaRPr lang="en-US" sz="1300" dirty="0"/>
          </a:p>
        </p:txBody>
      </p:sp>
      <p:sp>
        <p:nvSpPr>
          <p:cNvPr id="14" name="Text 11"/>
          <p:cNvSpPr/>
          <p:nvPr/>
        </p:nvSpPr>
        <p:spPr>
          <a:xfrm>
            <a:off x="3733724" y="1371600"/>
            <a:ext cx="1658036" cy="310896"/>
          </a:xfrm>
          <a:prstGeom prst="rect">
            <a:avLst/>
          </a:prstGeom>
          <a:noFill/>
          <a:ln/>
        </p:spPr>
        <p:txBody>
          <a:bodyPr wrap="square" lIns="0" tIns="0" rIns="0" bIns="0" rtlCol="0" anchor="ctr"/>
          <a:lstStyle/>
          <a:p>
            <a:pPr rtl="1" algn="r" indent="0" marL="0">
              <a:buNone/>
            </a:pPr>
            <a:r>
              <a:rPr lang="en-US" sz="1500" b="1" dirty="0">
                <a:solidFill>
                  <a:srgbClr val="255174"/>
                </a:solidFill>
                <a:latin typeface="Tajawal" pitchFamily="34" charset="0"/>
                <a:ea typeface="Tajawal" pitchFamily="34" charset="-122"/>
                <a:cs typeface="Tajawal" pitchFamily="34" charset="-120"/>
              </a:rPr>
              <a:t>محتوى</a:t>
            </a:r>
            <a:endParaRPr lang="en-US" sz="1500" dirty="0"/>
          </a:p>
        </p:txBody>
      </p:sp>
      <p:sp>
        <p:nvSpPr>
          <p:cNvPr id="15" name="Text 12"/>
          <p:cNvSpPr/>
          <p:nvPr/>
        </p:nvSpPr>
        <p:spPr>
          <a:xfrm>
            <a:off x="3733724" y="1773936"/>
            <a:ext cx="2005508" cy="603504"/>
          </a:xfrm>
          <a:prstGeom prst="rect">
            <a:avLst/>
          </a:prstGeom>
          <a:noFill/>
          <a:ln/>
        </p:spPr>
        <p:txBody>
          <a:bodyPr wrap="square" lIns="0" tIns="0" rIns="0" bIns="0" rtlCol="0" anchor="ctr"/>
          <a:lstStyle/>
          <a:p>
            <a:pPr rtl="1" algn="r" indent="0" marL="0">
              <a:lnSpc>
                <a:spcPts val="1700"/>
              </a:lnSpc>
              <a:buNone/>
            </a:pPr>
            <a:r>
              <a:rPr lang="en-US" sz="1150" dirty="0">
                <a:solidFill>
                  <a:srgbClr val="4B5B6E"/>
                </a:solidFill>
                <a:latin typeface="Tajawal" pitchFamily="34" charset="0"/>
                <a:ea typeface="Tajawal" pitchFamily="34" charset="-122"/>
                <a:cs typeface="Tajawal" pitchFamily="34" charset="-120"/>
              </a:rPr>
              <a:t>كتابة القصص وترجمتها</a:t>
            </a:r>
            <a:endParaRPr lang="en-US" sz="1150" dirty="0"/>
          </a:p>
        </p:txBody>
      </p:sp>
      <p:sp>
        <p:nvSpPr>
          <p:cNvPr id="16" name="Shape 13"/>
          <p:cNvSpPr/>
          <p:nvPr/>
        </p:nvSpPr>
        <p:spPr>
          <a:xfrm>
            <a:off x="777240" y="1234440"/>
            <a:ext cx="2480996" cy="1298448"/>
          </a:xfrm>
          <a:prstGeom prst="roundRect">
            <a:avLst>
              <a:gd name="adj" fmla="val 5634"/>
            </a:avLst>
          </a:prstGeom>
          <a:solidFill>
            <a:srgbClr val="EEF3F9"/>
          </a:solidFill>
          <a:ln w="9525">
            <a:solidFill>
              <a:srgbClr val="D9E2EC"/>
            </a:solidFill>
            <a:prstDash val="solid"/>
          </a:ln>
        </p:spPr>
      </p:sp>
      <p:sp>
        <p:nvSpPr>
          <p:cNvPr id="17" name="Text 14"/>
          <p:cNvSpPr/>
          <p:nvPr/>
        </p:nvSpPr>
        <p:spPr>
          <a:xfrm>
            <a:off x="978408" y="1353312"/>
            <a:ext cx="365760" cy="310896"/>
          </a:xfrm>
          <a:prstGeom prst="rect">
            <a:avLst/>
          </a:prstGeom>
          <a:noFill/>
          <a:ln/>
        </p:spPr>
        <p:txBody>
          <a:bodyPr wrap="square" lIns="0" tIns="0" rIns="0" bIns="0" rtlCol="0" anchor="ctr"/>
          <a:lstStyle/>
          <a:p>
            <a:pPr algn="l" indent="0" marL="0">
              <a:buNone/>
            </a:pPr>
            <a:r>
              <a:rPr lang="en-US" sz="1300" b="1" dirty="0">
                <a:solidFill>
                  <a:srgbClr val="AFC0D4"/>
                </a:solidFill>
                <a:latin typeface="Calibri" pitchFamily="34" charset="0"/>
                <a:ea typeface="Calibri" pitchFamily="34" charset="-122"/>
                <a:cs typeface="Calibri" pitchFamily="34" charset="-120"/>
              </a:rPr>
              <a:t>4</a:t>
            </a:r>
            <a:endParaRPr lang="en-US" sz="1300" dirty="0"/>
          </a:p>
        </p:txBody>
      </p:sp>
      <p:sp>
        <p:nvSpPr>
          <p:cNvPr id="18" name="Text 15"/>
          <p:cNvSpPr/>
          <p:nvPr/>
        </p:nvSpPr>
        <p:spPr>
          <a:xfrm>
            <a:off x="1014984" y="1371600"/>
            <a:ext cx="1658036" cy="310896"/>
          </a:xfrm>
          <a:prstGeom prst="rect">
            <a:avLst/>
          </a:prstGeom>
          <a:noFill/>
          <a:ln/>
        </p:spPr>
        <p:txBody>
          <a:bodyPr wrap="square" lIns="0" tIns="0" rIns="0" bIns="0" rtlCol="0" anchor="ctr"/>
          <a:lstStyle/>
          <a:p>
            <a:pPr rtl="1" algn="r" indent="0" marL="0">
              <a:buNone/>
            </a:pPr>
            <a:r>
              <a:rPr lang="en-US" sz="1500" b="1" dirty="0">
                <a:solidFill>
                  <a:srgbClr val="255174"/>
                </a:solidFill>
                <a:latin typeface="Tajawal" pitchFamily="34" charset="0"/>
                <a:ea typeface="Tajawal" pitchFamily="34" charset="-122"/>
                <a:cs typeface="Tajawal" pitchFamily="34" charset="-120"/>
              </a:rPr>
              <a:t>صوت</a:t>
            </a:r>
            <a:endParaRPr lang="en-US" sz="1500" dirty="0"/>
          </a:p>
        </p:txBody>
      </p:sp>
      <p:sp>
        <p:nvSpPr>
          <p:cNvPr id="19" name="Text 16"/>
          <p:cNvSpPr/>
          <p:nvPr/>
        </p:nvSpPr>
        <p:spPr>
          <a:xfrm>
            <a:off x="1014984" y="1773936"/>
            <a:ext cx="2005508" cy="603504"/>
          </a:xfrm>
          <a:prstGeom prst="rect">
            <a:avLst/>
          </a:prstGeom>
          <a:noFill/>
          <a:ln/>
        </p:spPr>
        <p:txBody>
          <a:bodyPr wrap="square" lIns="0" tIns="0" rIns="0" bIns="0" rtlCol="0" anchor="ctr"/>
          <a:lstStyle/>
          <a:p>
            <a:pPr rtl="1" algn="r" indent="0" marL="0">
              <a:lnSpc>
                <a:spcPts val="1700"/>
              </a:lnSpc>
              <a:buNone/>
            </a:pPr>
            <a:r>
              <a:rPr lang="en-US" sz="1150" dirty="0">
                <a:solidFill>
                  <a:srgbClr val="4B5B6E"/>
                </a:solidFill>
                <a:latin typeface="Tajawal" pitchFamily="34" charset="0"/>
                <a:ea typeface="Tajawal" pitchFamily="34" charset="-122"/>
                <a:cs typeface="Tajawal" pitchFamily="34" charset="-120"/>
              </a:rPr>
              <a:t>توليد الرواية بتسع وعشرين لغة</a:t>
            </a:r>
            <a:endParaRPr lang="en-US" sz="1150" dirty="0"/>
          </a:p>
        </p:txBody>
      </p:sp>
      <p:sp>
        <p:nvSpPr>
          <p:cNvPr id="20" name="Shape 17"/>
          <p:cNvSpPr/>
          <p:nvPr/>
        </p:nvSpPr>
        <p:spPr>
          <a:xfrm>
            <a:off x="6233008" y="2761488"/>
            <a:ext cx="5181448" cy="2249424"/>
          </a:xfrm>
          <a:prstGeom prst="roundRect">
            <a:avLst>
              <a:gd name="adj" fmla="val 3252"/>
            </a:avLst>
          </a:prstGeom>
          <a:solidFill>
            <a:srgbClr val="EEF3F9"/>
          </a:solidFill>
          <a:ln w="9525">
            <a:solidFill>
              <a:srgbClr val="D9E2EC"/>
            </a:solidFill>
            <a:prstDash val="solid"/>
          </a:ln>
        </p:spPr>
      </p:sp>
      <p:sp>
        <p:nvSpPr>
          <p:cNvPr id="21" name="Text 18"/>
          <p:cNvSpPr/>
          <p:nvPr/>
        </p:nvSpPr>
        <p:spPr>
          <a:xfrm>
            <a:off x="6507328" y="2962656"/>
            <a:ext cx="4632808" cy="329184"/>
          </a:xfrm>
          <a:prstGeom prst="rect">
            <a:avLst/>
          </a:prstGeom>
          <a:noFill/>
          <a:ln/>
        </p:spPr>
        <p:txBody>
          <a:bodyPr wrap="square" lIns="0" tIns="0" rIns="0" bIns="0" rtlCol="0" anchor="ctr"/>
          <a:lstStyle/>
          <a:p>
            <a:pPr rtl="1" algn="r" indent="0" marL="0">
              <a:buNone/>
            </a:pPr>
            <a:r>
              <a:rPr lang="en-US" sz="1500" b="1" dirty="0">
                <a:solidFill>
                  <a:srgbClr val="255174"/>
                </a:solidFill>
                <a:latin typeface="Tajawal" pitchFamily="34" charset="0"/>
                <a:ea typeface="Tajawal" pitchFamily="34" charset="-122"/>
                <a:cs typeface="Tajawal" pitchFamily="34" charset="-120"/>
              </a:rPr>
              <a:t>لا إعادة تدريب ولا بنية تحتية</a:t>
            </a:r>
            <a:endParaRPr lang="en-US" sz="1500" dirty="0"/>
          </a:p>
        </p:txBody>
      </p:sp>
      <p:sp>
        <p:nvSpPr>
          <p:cNvPr id="22" name="Text 19"/>
          <p:cNvSpPr/>
          <p:nvPr/>
        </p:nvSpPr>
        <p:spPr>
          <a:xfrm>
            <a:off x="6507328" y="3383280"/>
            <a:ext cx="4632808" cy="1463040"/>
          </a:xfrm>
          <a:prstGeom prst="rect">
            <a:avLst/>
          </a:prstGeom>
          <a:noFill/>
          <a:ln/>
        </p:spPr>
        <p:txBody>
          <a:bodyPr wrap="square" lIns="0" tIns="0" rIns="0" bIns="0" rtlCol="0" anchor="t"/>
          <a:lstStyle/>
          <a:p>
            <a:pPr rtl="1" algn="r" indent="0" marL="0">
              <a:lnSpc>
                <a:spcPts val="2000"/>
              </a:lnSpc>
              <a:spcAft>
                <a:spcPts val="1300"/>
              </a:spcAft>
              <a:buNone/>
            </a:pPr>
            <a:r>
              <a:rPr lang="en-US" sz="1250" dirty="0">
                <a:solidFill>
                  <a:srgbClr val="4B5B6E"/>
                </a:solidFill>
                <a:latin typeface="Tajawal" pitchFamily="34" charset="0"/>
                <a:ea typeface="Tajawal" pitchFamily="34" charset="-122"/>
                <a:cs typeface="Tajawal" pitchFamily="34" charset="-120"/>
              </a:rPr>
              <a:t>النموذج يتعلم أي موقع بالطريقة نفسها</a:t>
            </a:r>
            <a:endParaRPr lang="en-US" sz="1250" dirty="0"/>
          </a:p>
          <a:p>
            <a:pPr rtl="1" algn="r" indent="0" marL="0">
              <a:lnSpc>
                <a:spcPts val="2000"/>
              </a:lnSpc>
              <a:spcAft>
                <a:spcPts val="1300"/>
              </a:spcAft>
              <a:buNone/>
            </a:pPr>
            <a:r>
              <a:rPr lang="en-US" sz="1250" dirty="0">
                <a:solidFill>
                  <a:srgbClr val="4B5B6E"/>
                </a:solidFill>
                <a:latin typeface="Tajawal" pitchFamily="34" charset="0"/>
                <a:ea typeface="Tajawal" pitchFamily="34" charset="-122"/>
                <a:cs typeface="Tajawal" pitchFamily="34" charset="-120"/>
              </a:rPr>
              <a:t>والموقع الجديد يحتاج إلى صوره فقط</a:t>
            </a:r>
            <a:endParaRPr lang="en-US" sz="1250" dirty="0"/>
          </a:p>
          <a:p>
            <a:pPr rtl="1" algn="r" indent="0" marL="0">
              <a:lnSpc>
                <a:spcPts val="2000"/>
              </a:lnSpc>
              <a:spcAft>
                <a:spcPts val="1300"/>
              </a:spcAft>
              <a:buNone/>
            </a:pPr>
            <a:r>
              <a:rPr lang="en-US" sz="1250" dirty="0">
                <a:solidFill>
                  <a:srgbClr val="4B5B6E"/>
                </a:solidFill>
                <a:latin typeface="Tajawal" pitchFamily="34" charset="0"/>
                <a:ea typeface="Tajawal" pitchFamily="34" charset="-122"/>
                <a:cs typeface="Tajawal" pitchFamily="34" charset="-120"/>
              </a:rPr>
              <a:t>وكل تصحيح من سائح يزيد الدقة لمن بعده</a:t>
            </a:r>
            <a:endParaRPr lang="en-US" sz="1250" dirty="0"/>
          </a:p>
        </p:txBody>
      </p:sp>
      <p:sp>
        <p:nvSpPr>
          <p:cNvPr id="23" name="Shape 20"/>
          <p:cNvSpPr/>
          <p:nvPr/>
        </p:nvSpPr>
        <p:spPr>
          <a:xfrm>
            <a:off x="777240" y="2761488"/>
            <a:ext cx="5181448" cy="2249424"/>
          </a:xfrm>
          <a:prstGeom prst="roundRect">
            <a:avLst>
              <a:gd name="adj" fmla="val 3252"/>
            </a:avLst>
          </a:prstGeom>
          <a:solidFill>
            <a:srgbClr val="EEF3F9"/>
          </a:solidFill>
          <a:ln w="9525">
            <a:solidFill>
              <a:srgbClr val="D9E2EC"/>
            </a:solidFill>
            <a:prstDash val="solid"/>
          </a:ln>
        </p:spPr>
      </p:sp>
      <p:sp>
        <p:nvSpPr>
          <p:cNvPr id="24" name="Text 21"/>
          <p:cNvSpPr/>
          <p:nvPr/>
        </p:nvSpPr>
        <p:spPr>
          <a:xfrm>
            <a:off x="1051560" y="2962656"/>
            <a:ext cx="4632808" cy="329184"/>
          </a:xfrm>
          <a:prstGeom prst="rect">
            <a:avLst/>
          </a:prstGeom>
          <a:noFill/>
          <a:ln/>
        </p:spPr>
        <p:txBody>
          <a:bodyPr wrap="square" lIns="0" tIns="0" rIns="0" bIns="0" rtlCol="0" anchor="ctr"/>
          <a:lstStyle/>
          <a:p>
            <a:pPr rtl="1" algn="r" indent="0" marL="0">
              <a:buNone/>
            </a:pPr>
            <a:r>
              <a:rPr lang="en-US" sz="1500" b="1" dirty="0">
                <a:solidFill>
                  <a:srgbClr val="255174"/>
                </a:solidFill>
                <a:latin typeface="Tajawal" pitchFamily="34" charset="0"/>
                <a:ea typeface="Tajawal" pitchFamily="34" charset="-122"/>
                <a:cs typeface="Tajawal" pitchFamily="34" charset="-120"/>
              </a:rPr>
              <a:t>إلى أين يتوسع</a:t>
            </a:r>
            <a:endParaRPr lang="en-US" sz="1500" dirty="0"/>
          </a:p>
        </p:txBody>
      </p:sp>
      <p:sp>
        <p:nvSpPr>
          <p:cNvPr id="25" name="Text 22"/>
          <p:cNvSpPr/>
          <p:nvPr/>
        </p:nvSpPr>
        <p:spPr>
          <a:xfrm>
            <a:off x="1051560" y="3383280"/>
            <a:ext cx="4632808" cy="1463040"/>
          </a:xfrm>
          <a:prstGeom prst="rect">
            <a:avLst/>
          </a:prstGeom>
          <a:noFill/>
          <a:ln/>
        </p:spPr>
        <p:txBody>
          <a:bodyPr wrap="square" lIns="0" tIns="0" rIns="0" bIns="0" rtlCol="0" anchor="t"/>
          <a:lstStyle/>
          <a:p>
            <a:pPr rtl="1" algn="r" indent="0" marL="0">
              <a:lnSpc>
                <a:spcPts val="2000"/>
              </a:lnSpc>
              <a:spcAft>
                <a:spcPts val="900"/>
              </a:spcAft>
              <a:buNone/>
            </a:pPr>
            <a:r>
              <a:rPr lang="en-US" sz="1250" dirty="0">
                <a:solidFill>
                  <a:srgbClr val="4B5B6E"/>
                </a:solidFill>
                <a:latin typeface="Tajawal" pitchFamily="34" charset="0"/>
                <a:ea typeface="Tajawal" pitchFamily="34" charset="-122"/>
                <a:cs typeface="Tajawal" pitchFamily="34" charset="-120"/>
              </a:rPr>
              <a:t>بقية مواقع حائل: الشويمس، وجبال أجا، والقشلة، وقلعة أعيرف</a:t>
            </a:r>
            <a:endParaRPr lang="en-US" sz="1250" dirty="0"/>
          </a:p>
          <a:p>
            <a:pPr rtl="1" algn="r" indent="0" marL="0">
              <a:lnSpc>
                <a:spcPts val="2000"/>
              </a:lnSpc>
              <a:spcAft>
                <a:spcPts val="900"/>
              </a:spcAft>
              <a:buNone/>
            </a:pPr>
            <a:r>
              <a:rPr lang="en-US" sz="1250" dirty="0">
                <a:solidFill>
                  <a:srgbClr val="4B5B6E"/>
                </a:solidFill>
                <a:latin typeface="Tajawal" pitchFamily="34" charset="0"/>
                <a:ea typeface="Tajawal" pitchFamily="34" charset="-122"/>
                <a:cs typeface="Tajawal" pitchFamily="34" charset="-120"/>
              </a:rPr>
              <a:t>ثم الجنوب: أبها، وعسير، ونجران، وجازان</a:t>
            </a:r>
            <a:endParaRPr lang="en-US" sz="1250" dirty="0"/>
          </a:p>
          <a:p>
            <a:pPr rtl="1" algn="r" indent="0" marL="0">
              <a:lnSpc>
                <a:spcPts val="2000"/>
              </a:lnSpc>
              <a:spcAft>
                <a:spcPts val="900"/>
              </a:spcAft>
              <a:buNone/>
            </a:pPr>
            <a:r>
              <a:rPr lang="en-US" sz="1250" dirty="0">
                <a:solidFill>
                  <a:srgbClr val="4B5B6E"/>
                </a:solidFill>
                <a:latin typeface="Tajawal" pitchFamily="34" charset="0"/>
                <a:ea typeface="Tajawal" pitchFamily="34" charset="-122"/>
                <a:cs typeface="Tajawal" pitchFamily="34" charset="-120"/>
              </a:rPr>
              <a:t>وكل مدينة غنية بالنقوش: العلا، وتيماء، وتبوك، والجوف</a:t>
            </a:r>
            <a:endParaRPr lang="en-US" sz="1250" dirty="0"/>
          </a:p>
          <a:p>
            <a:pPr rtl="1" algn="r" indent="0" marL="0">
              <a:lnSpc>
                <a:spcPts val="2000"/>
              </a:lnSpc>
              <a:spcAft>
                <a:spcPts val="900"/>
              </a:spcAft>
              <a:buNone/>
            </a:pPr>
            <a:r>
              <a:rPr lang="en-US" sz="1250" dirty="0">
                <a:solidFill>
                  <a:srgbClr val="4B5B6E"/>
                </a:solidFill>
                <a:latin typeface="Tajawal" pitchFamily="34" charset="0"/>
                <a:ea typeface="Tajawal" pitchFamily="34" charset="-122"/>
                <a:cs typeface="Tajawal" pitchFamily="34" charset="-120"/>
              </a:rPr>
              <a:t>ثم أي متحف بنسخة تحمل اسمه</a:t>
            </a:r>
            <a:endParaRPr lang="en-US" sz="1250" dirty="0"/>
          </a:p>
        </p:txBody>
      </p:sp>
      <p:pic>
        <p:nvPicPr>
          <p:cNvPr id="26" name="Image 1" descr="preencoded.png">    </p:cNvPr>
          <p:cNvPicPr>
            <a:picLocks noChangeAspect="1"/>
          </p:cNvPicPr>
          <p:nvPr/>
        </p:nvPicPr>
        <p:blipFill>
          <a:blip r:embed="rId2"/>
          <a:stretch>
            <a:fillRect/>
          </a:stretch>
        </p:blipFill>
        <p:spPr>
          <a:xfrm>
            <a:off x="9677095" y="5175504"/>
            <a:ext cx="1737360" cy="1158240"/>
          </a:xfrm>
          <a:prstGeom prst="rect">
            <a:avLst/>
          </a:prstGeom>
        </p:spPr>
      </p:pic>
      <p:sp>
        <p:nvSpPr>
          <p:cNvPr id="27" name="Text 23"/>
          <p:cNvSpPr/>
          <p:nvPr/>
        </p:nvSpPr>
        <p:spPr>
          <a:xfrm>
            <a:off x="9585655" y="6406896"/>
            <a:ext cx="1920240" cy="256032"/>
          </a:xfrm>
          <a:prstGeom prst="rect">
            <a:avLst/>
          </a:prstGeom>
          <a:noFill/>
          <a:ln/>
        </p:spPr>
        <p:txBody>
          <a:bodyPr wrap="square" lIns="0" tIns="0" rIns="0" bIns="0" rtlCol="0" anchor="ctr"/>
          <a:lstStyle/>
          <a:p>
            <a:pPr rtl="1" algn="ctr" indent="0" marL="0">
              <a:buNone/>
            </a:pPr>
            <a:r>
              <a:rPr lang="en-US" sz="1100" dirty="0">
                <a:solidFill>
                  <a:srgbClr val="4B5B6E"/>
                </a:solidFill>
                <a:latin typeface="Tajawal" pitchFamily="34" charset="0"/>
                <a:ea typeface="Tajawal" pitchFamily="34" charset="-122"/>
                <a:cs typeface="Tajawal" pitchFamily="34" charset="-120"/>
              </a:rPr>
              <a:t>الشويمس</a:t>
            </a:r>
            <a:endParaRPr lang="en-US" sz="1100" dirty="0"/>
          </a:p>
        </p:txBody>
      </p:sp>
      <p:pic>
        <p:nvPicPr>
          <p:cNvPr id="28" name="Image 2" descr="preencoded.png">    </p:cNvPr>
          <p:cNvPicPr>
            <a:picLocks noChangeAspect="1"/>
          </p:cNvPicPr>
          <p:nvPr/>
        </p:nvPicPr>
        <p:blipFill>
          <a:blip r:embed="rId3"/>
          <a:stretch>
            <a:fillRect/>
          </a:stretch>
        </p:blipFill>
        <p:spPr>
          <a:xfrm>
            <a:off x="7720279" y="5175504"/>
            <a:ext cx="1737360" cy="1158240"/>
          </a:xfrm>
          <a:prstGeom prst="rect">
            <a:avLst/>
          </a:prstGeom>
        </p:spPr>
      </p:pic>
      <p:sp>
        <p:nvSpPr>
          <p:cNvPr id="29" name="Text 24"/>
          <p:cNvSpPr/>
          <p:nvPr/>
        </p:nvSpPr>
        <p:spPr>
          <a:xfrm>
            <a:off x="7628839" y="6406896"/>
            <a:ext cx="1920240" cy="256032"/>
          </a:xfrm>
          <a:prstGeom prst="rect">
            <a:avLst/>
          </a:prstGeom>
          <a:noFill/>
          <a:ln/>
        </p:spPr>
        <p:txBody>
          <a:bodyPr wrap="square" lIns="0" tIns="0" rIns="0" bIns="0" rtlCol="0" anchor="ctr"/>
          <a:lstStyle/>
          <a:p>
            <a:pPr rtl="1" algn="ctr" indent="0" marL="0">
              <a:buNone/>
            </a:pPr>
            <a:r>
              <a:rPr lang="en-US" sz="1100" dirty="0">
                <a:solidFill>
                  <a:srgbClr val="4B5B6E"/>
                </a:solidFill>
                <a:latin typeface="Tajawal" pitchFamily="34" charset="0"/>
                <a:ea typeface="Tajawal" pitchFamily="34" charset="-122"/>
                <a:cs typeface="Tajawal" pitchFamily="34" charset="-120"/>
              </a:rPr>
              <a:t>جبال أجا</a:t>
            </a:r>
            <a:endParaRPr lang="en-US" sz="1100" dirty="0"/>
          </a:p>
        </p:txBody>
      </p:sp>
      <p:pic>
        <p:nvPicPr>
          <p:cNvPr id="30" name="Image 3" descr="preencoded.png">    </p:cNvPr>
          <p:cNvPicPr>
            <a:picLocks noChangeAspect="1"/>
          </p:cNvPicPr>
          <p:nvPr/>
        </p:nvPicPr>
        <p:blipFill>
          <a:blip r:embed="rId4"/>
          <a:stretch>
            <a:fillRect/>
          </a:stretch>
        </p:blipFill>
        <p:spPr>
          <a:xfrm>
            <a:off x="5763463" y="5175504"/>
            <a:ext cx="1737360" cy="1158240"/>
          </a:xfrm>
          <a:prstGeom prst="rect">
            <a:avLst/>
          </a:prstGeom>
        </p:spPr>
      </p:pic>
      <p:sp>
        <p:nvSpPr>
          <p:cNvPr id="31" name="Text 25"/>
          <p:cNvSpPr/>
          <p:nvPr/>
        </p:nvSpPr>
        <p:spPr>
          <a:xfrm>
            <a:off x="5672023" y="6406896"/>
            <a:ext cx="1920240" cy="256032"/>
          </a:xfrm>
          <a:prstGeom prst="rect">
            <a:avLst/>
          </a:prstGeom>
          <a:noFill/>
          <a:ln/>
        </p:spPr>
        <p:txBody>
          <a:bodyPr wrap="square" lIns="0" tIns="0" rIns="0" bIns="0" rtlCol="0" anchor="ctr"/>
          <a:lstStyle/>
          <a:p>
            <a:pPr rtl="1" algn="ctr" indent="0" marL="0">
              <a:buNone/>
            </a:pPr>
            <a:r>
              <a:rPr lang="en-US" sz="1100" dirty="0">
                <a:solidFill>
                  <a:srgbClr val="4B5B6E"/>
                </a:solidFill>
                <a:latin typeface="Tajawal" pitchFamily="34" charset="0"/>
                <a:ea typeface="Tajawal" pitchFamily="34" charset="-122"/>
                <a:cs typeface="Tajawal" pitchFamily="34" charset="-120"/>
              </a:rPr>
              <a:t>القشلة</a:t>
            </a:r>
            <a:endParaRPr lang="en-US" sz="1100" dirty="0"/>
          </a:p>
        </p:txBody>
      </p:sp>
      <p:pic>
        <p:nvPicPr>
          <p:cNvPr id="32" name="Image 4" descr="preencoded.png">    </p:cNvPr>
          <p:cNvPicPr>
            <a:picLocks noChangeAspect="1"/>
          </p:cNvPicPr>
          <p:nvPr/>
        </p:nvPicPr>
        <p:blipFill>
          <a:blip r:embed="rId5"/>
          <a:stretch>
            <a:fillRect/>
          </a:stretch>
        </p:blipFill>
        <p:spPr>
          <a:xfrm>
            <a:off x="3806647" y="5175504"/>
            <a:ext cx="1737360" cy="1158240"/>
          </a:xfrm>
          <a:prstGeom prst="rect">
            <a:avLst/>
          </a:prstGeom>
        </p:spPr>
      </p:pic>
      <p:sp>
        <p:nvSpPr>
          <p:cNvPr id="33" name="Text 26"/>
          <p:cNvSpPr/>
          <p:nvPr/>
        </p:nvSpPr>
        <p:spPr>
          <a:xfrm>
            <a:off x="3715207" y="6406896"/>
            <a:ext cx="1920240" cy="256032"/>
          </a:xfrm>
          <a:prstGeom prst="rect">
            <a:avLst/>
          </a:prstGeom>
          <a:noFill/>
          <a:ln/>
        </p:spPr>
        <p:txBody>
          <a:bodyPr wrap="square" lIns="0" tIns="0" rIns="0" bIns="0" rtlCol="0" anchor="ctr"/>
          <a:lstStyle/>
          <a:p>
            <a:pPr rtl="1" algn="ctr" indent="0" marL="0">
              <a:buNone/>
            </a:pPr>
            <a:r>
              <a:rPr lang="en-US" sz="1100" dirty="0">
                <a:solidFill>
                  <a:srgbClr val="4B5B6E"/>
                </a:solidFill>
                <a:latin typeface="Tajawal" pitchFamily="34" charset="0"/>
                <a:ea typeface="Tajawal" pitchFamily="34" charset="-122"/>
                <a:cs typeface="Tajawal" pitchFamily="34" charset="-120"/>
              </a:rPr>
              <a:t>قلعة أعيرف</a:t>
            </a:r>
            <a:endParaRPr lang="en-US" sz="11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61223"/>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6858000"/>
          </a:xfrm>
          <a:prstGeom prst="rect">
            <a:avLst/>
          </a:prstGeom>
        </p:spPr>
      </p:pic>
      <p:pic>
        <p:nvPicPr>
          <p:cNvPr id="3" name="Image 1" descr="preencoded.png">    </p:cNvPr>
          <p:cNvPicPr>
            <a:picLocks noChangeAspect="1"/>
          </p:cNvPicPr>
          <p:nvPr/>
        </p:nvPicPr>
        <p:blipFill>
          <a:blip r:embed="rId2"/>
          <a:stretch>
            <a:fillRect/>
          </a:stretch>
        </p:blipFill>
        <p:spPr>
          <a:xfrm>
            <a:off x="457200" y="384048"/>
            <a:ext cx="1371600" cy="512064"/>
          </a:xfrm>
          <a:prstGeom prst="rect">
            <a:avLst/>
          </a:prstGeom>
        </p:spPr>
      </p:pic>
      <p:pic>
        <p:nvPicPr>
          <p:cNvPr id="4" name="Image 2" descr="preencoded.png">    </p:cNvPr>
          <p:cNvPicPr>
            <a:picLocks noChangeAspect="1"/>
          </p:cNvPicPr>
          <p:nvPr/>
        </p:nvPicPr>
        <p:blipFill>
          <a:blip r:embed="rId3"/>
          <a:stretch>
            <a:fillRect/>
          </a:stretch>
        </p:blipFill>
        <p:spPr>
          <a:xfrm>
            <a:off x="10591495" y="320040"/>
            <a:ext cx="1143000" cy="1124712"/>
          </a:xfrm>
          <a:prstGeom prst="rect">
            <a:avLst/>
          </a:prstGeom>
        </p:spPr>
      </p:pic>
      <p:sp>
        <p:nvSpPr>
          <p:cNvPr id="5" name="Text 0"/>
          <p:cNvSpPr/>
          <p:nvPr/>
        </p:nvSpPr>
        <p:spPr>
          <a:xfrm>
            <a:off x="4632808" y="2788920"/>
            <a:ext cx="2926080" cy="822960"/>
          </a:xfrm>
          <a:prstGeom prst="rect">
            <a:avLst/>
          </a:prstGeom>
          <a:noFill/>
          <a:ln/>
        </p:spPr>
        <p:txBody>
          <a:bodyPr wrap="square" lIns="0" tIns="0" rIns="0" bIns="0" rtlCol="0" anchor="ctr"/>
          <a:lstStyle/>
          <a:p>
            <a:pPr rtl="1" algn="ctr" indent="0" marL="0">
              <a:buNone/>
            </a:pPr>
            <a:r>
              <a:rPr lang="en-US" sz="3800" b="1" dirty="0">
                <a:solidFill>
                  <a:srgbClr val="FFFFFF"/>
                </a:solidFill>
                <a:latin typeface="Tajawal" pitchFamily="34" charset="0"/>
                <a:ea typeface="Tajawal" pitchFamily="34" charset="-122"/>
                <a:cs typeface="Tajawal" pitchFamily="34" charset="-120"/>
              </a:rPr>
              <a:t>شكرا لكم</a:t>
            </a:r>
            <a:endParaRPr lang="en-US" sz="3800" dirty="0"/>
          </a:p>
        </p:txBody>
      </p:sp>
      <p:sp>
        <p:nvSpPr>
          <p:cNvPr id="6" name="Shape 1"/>
          <p:cNvSpPr/>
          <p:nvPr/>
        </p:nvSpPr>
        <p:spPr>
          <a:xfrm>
            <a:off x="5227168" y="3767328"/>
            <a:ext cx="1737360" cy="91440"/>
          </a:xfrm>
          <a:prstGeom prst="rect">
            <a:avLst/>
          </a:prstGeom>
          <a:solidFill>
            <a:srgbClr val="8357F6"/>
          </a:solidFill>
          <a:ln w="12700">
            <a:solidFill>
              <a:srgbClr val="333333"/>
            </a:solidFill>
            <a:prstDash val="solid"/>
          </a:ln>
        </p:spPr>
      </p:sp>
      <p:sp>
        <p:nvSpPr>
          <p:cNvPr id="7" name="Text 2"/>
          <p:cNvSpPr/>
          <p:nvPr/>
        </p:nvSpPr>
        <p:spPr>
          <a:xfrm>
            <a:off x="0" y="4114800"/>
            <a:ext cx="12191695" cy="411480"/>
          </a:xfrm>
          <a:prstGeom prst="rect">
            <a:avLst/>
          </a:prstGeom>
          <a:noFill/>
          <a:ln/>
        </p:spPr>
        <p:txBody>
          <a:bodyPr wrap="square" lIns="0" tIns="0" rIns="0" bIns="0" rtlCol="0" anchor="ctr"/>
          <a:lstStyle/>
          <a:p>
            <a:pPr algn="ctr" indent="0" marL="0">
              <a:buNone/>
            </a:pPr>
            <a:r>
              <a:rPr lang="en-US" sz="1500" dirty="0">
                <a:solidFill>
                  <a:srgbClr val="A9B6C8"/>
                </a:solidFill>
                <a:latin typeface="Calibri" pitchFamily="34" charset="0"/>
                <a:ea typeface="Calibri" pitchFamily="34" charset="-122"/>
                <a:cs typeface="Calibri" pitchFamily="34" charset="-120"/>
              </a:rPr>
              <a:t>w-electro.github.io/athr</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أثر — تسليم هاكاثون AJA AI</dc:title>
  <dc:subject>PptxGenJS Presentation</dc:subject>
  <dc:creator>أثر</dc:creator>
  <cp:lastModifiedBy>أثر</cp:lastModifiedBy>
  <cp:revision>1</cp:revision>
  <dcterms:created xsi:type="dcterms:W3CDTF">2026-09-30T13:19:48Z</dcterms:created>
  <dcterms:modified xsi:type="dcterms:W3CDTF">2026-09-30T13:19:48Z</dcterms:modified>
</cp:coreProperties>
</file>