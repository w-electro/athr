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jpeg"/><Relationship Id="rId4" Type="http://schemas.openxmlformats.org/officeDocument/2006/relationships/image" Target="../media/image-10-4.jpeg"/><Relationship Id="rId5" Type="http://schemas.openxmlformats.org/officeDocument/2006/relationships/image" Target="../media/image-10-5.jpeg"/><Relationship Id="rId6" Type="http://schemas.openxmlformats.org/officeDocument/2006/relationships/image" Target="../media/image-10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image" Target="../media/image-14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6205576" y="26974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هاكاثون</a:t>
            </a:r>
            <a:endParaRPr lang="en-US" sz="4000" dirty="0"/>
          </a:p>
        </p:txBody>
      </p:sp>
      <p:sp>
        <p:nvSpPr>
          <p:cNvPr id="6" name="Text 1"/>
          <p:cNvSpPr/>
          <p:nvPr/>
        </p:nvSpPr>
        <p:spPr>
          <a:xfrm>
            <a:off x="3883000" y="2724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 AI</a:t>
            </a:r>
            <a:endParaRPr lang="en-US" sz="4000" dirty="0"/>
          </a:p>
        </p:txBody>
      </p:sp>
      <p:sp>
        <p:nvSpPr>
          <p:cNvPr id="7" name="Shape 2"/>
          <p:cNvSpPr/>
          <p:nvPr/>
        </p:nvSpPr>
        <p:spPr>
          <a:xfrm>
            <a:off x="3883000" y="3895344"/>
            <a:ext cx="155448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5638648" y="3712464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فريق أثر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نبذة عنا</a:t>
            </a:r>
            <a:endParaRPr lang="en-US" sz="2600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71600"/>
            <a:ext cx="1489409" cy="31089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0969" y="1371600"/>
            <a:ext cx="1489409" cy="310896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9017" y="1463040"/>
            <a:ext cx="683543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 دليل تراثي ذكي لمنطقة حائل، يعمل دون اتصال بالإنترنت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يشمل مسارا كاملا لرحلة السائح، إضافة إلى ماسح ذكي يعمل بنموذج الذكاء الاصطناعي DINOv3</a:t>
            </a:r>
            <a:endParaRPr lang="en-US" sz="1500" dirty="0"/>
          </a:p>
          <a:p>
            <a:pPr rtl="1" algn="r" indent="0" marL="0">
              <a:lnSpc>
                <a:spcPts val="2700"/>
              </a:lnSpc>
              <a:spcAft>
                <a:spcPts val="1600"/>
              </a:spcAft>
              <a:buNone/>
            </a:pPr>
            <a:r>
              <a:rPr lang="en-US" sz="15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يوجه السائح كاميرا جواله إلى النقش الصخري، فيتعرف عليه الماسح بعينه، ويروي له قصته بصوت مسموع وبلغته</a:t>
            </a:r>
            <a:endParaRPr lang="en-US" sz="1500" dirty="0"/>
          </a:p>
        </p:txBody>
      </p:sp>
      <p:sp>
        <p:nvSpPr>
          <p:cNvPr id="7" name="Shape 2"/>
          <p:cNvSpPr/>
          <p:nvPr/>
        </p:nvSpPr>
        <p:spPr>
          <a:xfrm>
            <a:off x="9282280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9282280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2800" dirty="0"/>
          </a:p>
        </p:txBody>
      </p:sp>
      <p:sp>
        <p:nvSpPr>
          <p:cNvPr id="9" name="Text 4"/>
          <p:cNvSpPr/>
          <p:nvPr/>
        </p:nvSpPr>
        <p:spPr>
          <a:xfrm>
            <a:off x="9392008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ولكل لغة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رواية مسموعة</a:t>
            </a:r>
            <a:endParaRPr lang="en-US" sz="1100" dirty="0"/>
          </a:p>
        </p:txBody>
      </p:sp>
      <p:sp>
        <p:nvSpPr>
          <p:cNvPr id="10" name="Shape 5"/>
          <p:cNvSpPr/>
          <p:nvPr/>
        </p:nvSpPr>
        <p:spPr>
          <a:xfrm>
            <a:off x="6930649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930649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12" name="Text 7"/>
          <p:cNvSpPr/>
          <p:nvPr/>
        </p:nvSpPr>
        <p:spPr>
          <a:xfrm>
            <a:off x="7040377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موثقة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جبة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4579017" y="3950208"/>
            <a:ext cx="213217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579017" y="4096512"/>
            <a:ext cx="2132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15" name="Text 10"/>
          <p:cNvSpPr/>
          <p:nvPr/>
        </p:nvSpPr>
        <p:spPr>
          <a:xfrm>
            <a:off x="4688745" y="4681728"/>
            <a:ext cx="191271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خوادم، وصفر تكلفة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سائح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21472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48904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وليد الشمري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48904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قائد الفريق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5413248"/>
            <a:ext cx="5199736" cy="841248"/>
          </a:xfrm>
          <a:prstGeom prst="roundRect">
            <a:avLst>
              <a:gd name="adj" fmla="val 8696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51560" y="5541264"/>
            <a:ext cx="4651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فالح الغسلان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1051560" y="5888736"/>
            <a:ext cx="465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مؤرخ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الابتكار والأصالة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تميز الفكرة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يقرأ النقش نفسه، لا لافتة عامة عند المدخل، فيسمي النقش الذي أمامك من بين مئات النقوش على الصخرة الواحدة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مستوى الابتكار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الرؤية يعمل كاملا داخل المتصفح بحجم 22 ميغابايت، ويتعلم من تصحيح السائح على جهازه فيصيب في المسح التالي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الاختلاف عن البدائل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بديل حد يقف عنده، فاللافتة عامة، والمرشد يحتاج إلى موعد، والتطبيق السحابي يتوقف حيث لا شبكة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842455" y="331012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البدائل الحالية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31012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أثر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455" y="3712464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61911" y="3794760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لافتة واحدة عند مدخل الموقع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77240" y="3712464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96696" y="3794760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يسمي النقش الذي أمامك بعينه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842455" y="4224528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61911" y="4306824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مرشد بحجز مسبق وبلغات محدودة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77240" y="4224528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4306824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تسع وعشرون لغة، ولكل لغة صوت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42455" y="4736592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61911" y="4818888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سحابي يتوقف بلا تغطية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777240" y="4736592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96696" y="4818888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كاملا بلا إنترنت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842455" y="5248656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061911" y="5330952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بحث بالصور يعطي نتيجة عامة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77240" y="5248656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6696" y="5330952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2B3A4C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مبني على 201 صورة من جبة نفسها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842455" y="5760720"/>
            <a:ext cx="4572000" cy="420624"/>
          </a:xfrm>
          <a:prstGeom prst="roundRect">
            <a:avLst>
              <a:gd name="adj" fmla="val 17391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061911" y="5843016"/>
            <a:ext cx="4133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 الصخرة في ChatGPT فيقول: نقوش صخرية، وبإنترنت فقط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777240" y="5760720"/>
            <a:ext cx="6035040" cy="420624"/>
          </a:xfrm>
          <a:prstGeom prst="roundRect">
            <a:avLst>
              <a:gd name="adj" fmla="val 17391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96696" y="5843016"/>
            <a:ext cx="5596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تصورها بماسح أثر فيقول: هذا نقش الأسد ومروضه، ويروي قصته بلا شبكة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توظيف الذكاء الاصطناعي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2735" y="1234440"/>
            <a:ext cx="2331720" cy="4297680"/>
          </a:xfrm>
          <a:prstGeom prst="roundRect">
            <a:avLst>
              <a:gd name="adj" fmla="val 3137"/>
            </a:avLst>
          </a:prstGeom>
          <a:solidFill>
            <a:srgbClr val="F4F6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481328"/>
            <a:ext cx="1234440" cy="92583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082735" y="245059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السائح يصور النقش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9082735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9631375" y="2980944"/>
            <a:ext cx="12344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9631375" y="3044952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0.417   0.902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9631375" y="32461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551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0.773   0.264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9082735" y="3547872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يلخص شكله في أرقام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9082735" y="382219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9576511" y="4096512"/>
            <a:ext cx="1344168" cy="1035558"/>
          </a:xfrm>
          <a:prstGeom prst="roundRect">
            <a:avLst>
              <a:gd name="adj" fmla="val 4415"/>
            </a:avLst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1375" y="4151376"/>
            <a:ext cx="1234440" cy="92583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082735" y="523036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يطابقها بنقوش جبة فيعرف اسمه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777240" y="1234440"/>
            <a:ext cx="7985455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14984" y="1380744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جوهرية الذكاء الاصطناعي في الحل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014984" y="1728216"/>
            <a:ext cx="750996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التعرف على النقش هو المنتج نفسه لا ميزة مضافة إليه، فلا منتج دون النموذج، ونموذج الرؤية DINOv3 من Meta مفتوح المصدر، تعلم أشكال الأشياء من ملايين الصور دون وسم بشري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777240" y="2642616"/>
            <a:ext cx="7985455" cy="1572768"/>
          </a:xfrm>
          <a:prstGeom prst="roundRect">
            <a:avLst>
              <a:gd name="adj" fmla="val 4651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1014984" y="2788920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ملاءمة استخدامه للمشكلة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014984" y="3136392"/>
            <a:ext cx="750996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 بصرية لا نصية، فأمام السائح صخرة لا نص، والموقع بلا تغطية، فاخترنا نموذجا يعمل داخل الجهاز لا على السحابة، وبنينا فوقه طبقة القرار: فهرس بصمات من الميدان، وسلم قص يعالج اختلاف الإطار، وحكم يقول لا أعرف بدل أن يخمن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777240" y="4398264"/>
            <a:ext cx="7985455" cy="1133856"/>
          </a:xfrm>
          <a:prstGeom prst="roundRect">
            <a:avLst>
              <a:gd name="adj" fmla="val 64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1014984" y="4544568"/>
            <a:ext cx="75099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الحقيقية المضافة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1014984" y="4892040"/>
            <a:ext cx="750996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يتعلم من تصحيح السائح على جهازه فيتحسن كلما استعمل، ونوظف الذكاء الاصطناعي مرة ثانية في توليد الرواية المسموعة بتسع وعشرين لغة بنماذج نطق مفتوحة المصدر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حاجة السوق والقيمة المقدمة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33008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1453896"/>
            <a:ext cx="560349" cy="4572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07328" y="1472184"/>
            <a:ext cx="38895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المشكلة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6507328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 مسجلة في قائمة التراث العالمي لليونسكو وفيها مئات النقوش، لكن السائح يقف أمام الصخرة فلا يعرف ما أمامه ولا كم عمره، ولا تغطية للشبكة في الموقع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7240" y="1234440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1453896"/>
            <a:ext cx="493986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472184"/>
            <a:ext cx="39559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الفئة المستهدفة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1051560" y="2020824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جبة والشويمس من داخل المملكة وخارجها، والرحلات المدرسية والجامعية، وهيئة التراث ومركز الزوار، والمنشآت المحلية التي تريد الوصول إلى السائح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233008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040" y="3493008"/>
            <a:ext cx="391187" cy="4572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07328" y="3511296"/>
            <a:ext cx="4058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الحاجة الفعلية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07328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سياح من كل مكان وبكل لغة، وموقع في الصحراء المفتوحة، فكل حل يعتمد على السحابة يتوقف هناك، وكل حل بلغة واحدة لا يخدم أكثر السياح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777240" y="3273552"/>
            <a:ext cx="5181448" cy="1783080"/>
          </a:xfrm>
          <a:prstGeom prst="roundRect">
            <a:avLst>
              <a:gd name="adj" fmla="val 4103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" y="3493008"/>
            <a:ext cx="720896" cy="4572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1560" y="3511296"/>
            <a:ext cx="372903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القيمة المقدمة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1051560" y="4059936"/>
            <a:ext cx="463280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للسائح أن يفهم ما أمامه بلغته وبصوت مسموع، وللجهة المشغلة تجربة سائح أفضل دون أي تكلفة تشغيل ولا بنية تحتية تحتاج إلى إدارة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جودة الحل والنموذج الأولي MVP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777240" y="1115568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يعمل الآن على الويب، يفتح من الرابط بلا تنزيل:   w-electro.github.io/athr</a:t>
            </a:r>
            <a:endParaRPr lang="en-US" sz="13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7399" y="1536192"/>
            <a:ext cx="1117057" cy="2331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8767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اختيار اللغة</a:t>
            </a:r>
            <a:endParaRPr lang="en-US" sz="10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7359" y="1536192"/>
            <a:ext cx="1117057" cy="23317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780763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الاستكشاف</a:t>
            </a:r>
            <a:endParaRPr lang="en-US" sz="10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7319" y="1536192"/>
            <a:ext cx="1117057" cy="233172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27591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القصة والصوت</a:t>
            </a:r>
            <a:endParaRPr lang="en-US" sz="10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7280" y="1536192"/>
            <a:ext cx="1117057" cy="233172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304755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</a:t>
            </a:r>
            <a:endParaRPr lang="en-US" sz="10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1536192"/>
            <a:ext cx="1117057" cy="2331720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67512" y="3941064"/>
            <a:ext cx="13365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بناء الرحلة</a:t>
            </a:r>
            <a:endParaRPr lang="en-US" sz="1050" dirty="0"/>
          </a:p>
        </p:txBody>
      </p:sp>
      <p:sp>
        <p:nvSpPr>
          <p:cNvPr id="15" name="Shape 7"/>
          <p:cNvSpPr/>
          <p:nvPr/>
        </p:nvSpPr>
        <p:spPr>
          <a:xfrm>
            <a:off x="8933459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8"/>
          <p:cNvSpPr/>
          <p:nvPr/>
        </p:nvSpPr>
        <p:spPr>
          <a:xfrm>
            <a:off x="8933459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96.5%</a:t>
            </a:r>
            <a:endParaRPr lang="en-US" sz="2800" dirty="0"/>
          </a:p>
        </p:txBody>
      </p:sp>
      <p:sp>
        <p:nvSpPr>
          <p:cNvPr id="17" name="Text 9"/>
          <p:cNvSpPr/>
          <p:nvPr/>
        </p:nvSpPr>
        <p:spPr>
          <a:xfrm>
            <a:off x="9043187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تعرف صحيح على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 الموقع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621472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1"/>
          <p:cNvSpPr/>
          <p:nvPr/>
        </p:nvSpPr>
        <p:spPr>
          <a:xfrm>
            <a:off x="621472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800" dirty="0"/>
          </a:p>
        </p:txBody>
      </p:sp>
      <p:sp>
        <p:nvSpPr>
          <p:cNvPr id="20" name="Text 12"/>
          <p:cNvSpPr/>
          <p:nvPr/>
        </p:nvSpPr>
        <p:spPr>
          <a:xfrm>
            <a:off x="632444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إجابة خاطئة على 175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من خارج الفهرس</a:t>
            </a:r>
            <a:endParaRPr lang="en-US" sz="1100" dirty="0"/>
          </a:p>
        </p:txBody>
      </p:sp>
      <p:sp>
        <p:nvSpPr>
          <p:cNvPr id="21" name="Shape 13"/>
          <p:cNvSpPr/>
          <p:nvPr/>
        </p:nvSpPr>
        <p:spPr>
          <a:xfrm>
            <a:off x="349598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349598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663</a:t>
            </a:r>
            <a:endParaRPr lang="en-US" sz="2800" dirty="0"/>
          </a:p>
        </p:txBody>
      </p:sp>
      <p:sp>
        <p:nvSpPr>
          <p:cNvPr id="23" name="Text 15"/>
          <p:cNvSpPr/>
          <p:nvPr/>
        </p:nvSpPr>
        <p:spPr>
          <a:xfrm>
            <a:off x="360570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تعمل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 كل تعديل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77240" y="4498848"/>
            <a:ext cx="2480996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Text 17"/>
          <p:cNvSpPr/>
          <p:nvPr/>
        </p:nvSpPr>
        <p:spPr>
          <a:xfrm>
            <a:off x="777240" y="4645152"/>
            <a:ext cx="24809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51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174</a:t>
            </a:r>
            <a:endParaRPr lang="en-US" sz="2800" dirty="0"/>
          </a:p>
        </p:txBody>
      </p:sp>
      <p:sp>
        <p:nvSpPr>
          <p:cNvPr id="26" name="Text 18"/>
          <p:cNvSpPr/>
          <p:nvPr/>
        </p:nvSpPr>
        <p:spPr>
          <a:xfrm>
            <a:off x="886968" y="5230368"/>
            <a:ext cx="22615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مقطعا صوتيا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29 لغة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777240" y="5888736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قراءة النقوش الثمودية قيد التطوير، ولن نخترع ترجمة لا نملك أصلها الموثق، فنعرض الآن جدول الحروف الرسمي ليقارن السائح بنفسه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العمل والجدوى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027213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64957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العملاء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64957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الجهة المشغلة: هيئة التراث ومركز الزوار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والمنشآت المحلية: مطاعم ومقاهي وفنادق حائل، والمحميات السياحية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والسائح نفسه، والتطبيق مجاني له دائما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402226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39970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مصادر الإيرادات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639970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رسوم إدراج محددة للمطاعم والمقاهي والفنادق والمحميات السياحية في مسار رحلتي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وترخيص سنوي للجهة المشغلة عن كل موقع، ورسوم إعداد لكل موقع جديد، ونسخة بيضاء لمتاحف أخرى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" y="1234440"/>
            <a:ext cx="3387242" cy="2697480"/>
          </a:xfrm>
          <a:prstGeom prst="roundRect">
            <a:avLst>
              <a:gd name="adj" fmla="val 271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1417320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8357F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الاستدامة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1801368"/>
            <a:ext cx="291175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يكلفنا السائح الإضافي شيئا، فلا خوادم ولا واجهات برمجية مدفوعة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والتكلفة كلها إعداد لمرة واحدة عن كل موقع: تصوير وفهرسة ومحتوى وترجمة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7240" y="4114800"/>
            <a:ext cx="10637215" cy="841248"/>
          </a:xfrm>
          <a:prstGeom prst="roundRect">
            <a:avLst>
              <a:gd name="adj" fmla="val 8696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4334256"/>
            <a:ext cx="1001542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سائح واحد ومليون سائح كلهم سواء في الكلفة، لأن التعرف والصوت والمحتوى كلها داخل جهاز السائح لا على خادم نملكه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9585655" y="5138928"/>
            <a:ext cx="1828800" cy="1225296"/>
          </a:xfrm>
          <a:prstGeom prst="roundRect">
            <a:avLst>
              <a:gd name="adj" fmla="val 5970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85655" y="528523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357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0$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695383" y="5870448"/>
            <a:ext cx="16093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تشغيل</a:t>
            </a:r>
            <a:endParaRPr lang="en-US" sz="1100" dirty="0"/>
          </a:p>
          <a:p>
            <a:pPr rtl="1"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شهرية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181448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00904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حجز بعد المسح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400904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بعد مسح النقش يقترح التطبيق أقرب مقهى أو مطعم أو محمية شريكة، فيحجز السائح منه مباشرة، ويدفع الشريك رسما ثابتا عن كل حجز مؤكد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7240" y="5138928"/>
            <a:ext cx="4166464" cy="1225296"/>
          </a:xfrm>
          <a:prstGeom prst="roundRect">
            <a:avLst>
              <a:gd name="adj" fmla="val 5970"/>
            </a:avLst>
          </a:prstGeom>
          <a:solidFill>
            <a:srgbClr val="E9E2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96696" y="5248656"/>
            <a:ext cx="372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4B2E9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عمولة الحجوزات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996696" y="5559552"/>
            <a:ext cx="3727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يحجز السائح من مسار رحلتي جولة مرشدة أو تخييما في محمية أو رحلة برية، ونأخذ نسبة من كل حجز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920240"/>
            <a:ext cx="4754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0" b="1" dirty="0">
                <a:solidFill>
                  <a:srgbClr val="DCE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0" dirty="0"/>
          </a:p>
        </p:txBody>
      </p:sp>
      <p:sp>
        <p:nvSpPr>
          <p:cNvPr id="4" name="Text 1"/>
          <p:cNvSpPr/>
          <p:nvPr/>
        </p:nvSpPr>
        <p:spPr>
          <a:xfrm>
            <a:off x="5120640" y="2788920"/>
            <a:ext cx="62938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77240" y="54864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قابلية النمو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933459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34627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9171203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171203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زيارة ميدانية واحدة للموقع الجديد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472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1588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5246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فهرسة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5246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تحويل الصور إلى بصمات — دقائق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9598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9714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73372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محتوى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73372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كتابة القصص وترجمتها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7240" y="1234440"/>
            <a:ext cx="2480996" cy="1298448"/>
          </a:xfrm>
          <a:prstGeom prst="roundRect">
            <a:avLst>
              <a:gd name="adj" fmla="val 5634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78408" y="135331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F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014984" y="1371600"/>
            <a:ext cx="16580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1014984" y="1773936"/>
            <a:ext cx="20055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توليد الرواية بتسع وعشرين لغة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233008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507328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إعادة تدريب ولا بنية تحتية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07328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ندرب النموذج على جبة، فهو يتعلم أي موقع بالطريقة نفسها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وإضافة موقع جديد لا تغير البرمجة، بل تحتاج إلى صوره فقط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13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والفهرس يتوسع بلا حد، فكل تصحيح من سائح يزيد دقته لمن بعده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777240" y="2761488"/>
            <a:ext cx="5181448" cy="2249424"/>
          </a:xfrm>
          <a:prstGeom prst="roundRect">
            <a:avLst>
              <a:gd name="adj" fmla="val 3252"/>
            </a:avLst>
          </a:prstGeom>
          <a:solidFill>
            <a:srgbClr val="EEF3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51560" y="2962656"/>
            <a:ext cx="4632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55174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إلى أين يتوسع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051560" y="33832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بقية مواقع حائل: الشويمس، وجبال أجا، والقشلة، وقلعة أعيرف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الجنوب حيث النقوش بالآلاف: أبها، وعسير، ونجران، وجازان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وكل مدينة غنية بالنقوش: العلا، وتيماء، وتبوك، والجوف</a:t>
            </a:r>
            <a:endParaRPr lang="en-US" sz="1250" dirty="0"/>
          </a:p>
          <a:p>
            <a:pPr rtl="1" algn="r" indent="0" marL="0">
              <a:lnSpc>
                <a:spcPts val="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ثم نسخة بيضاء لأي متحف أو موقع تراثي</a:t>
            </a:r>
            <a:endParaRPr lang="en-US" sz="1250" dirty="0"/>
          </a:p>
        </p:txBody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7095" y="5175504"/>
            <a:ext cx="1737360" cy="115824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585655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الشويمس</a:t>
            </a:r>
            <a:endParaRPr lang="en-US" sz="1100" dirty="0"/>
          </a:p>
        </p:txBody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0279" y="5175504"/>
            <a:ext cx="1737360" cy="11582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7628839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جبال أجا</a:t>
            </a:r>
            <a:endParaRPr lang="en-US" sz="1100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3463" y="5175504"/>
            <a:ext cx="1737360" cy="11582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72023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القشلة</a:t>
            </a:r>
            <a:endParaRPr lang="en-US" sz="11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6647" y="5175504"/>
            <a:ext cx="1737360" cy="115824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3715207" y="6406896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B5B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قلعة أعيرف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12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71600" cy="512064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1495" y="320040"/>
            <a:ext cx="1143000" cy="1124712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4632808" y="278892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شكرا لكم</a:t>
            </a:r>
            <a:endParaRPr lang="en-US" sz="3800" dirty="0"/>
          </a:p>
        </p:txBody>
      </p:sp>
      <p:sp>
        <p:nvSpPr>
          <p:cNvPr id="6" name="Shape 1"/>
          <p:cNvSpPr/>
          <p:nvPr/>
        </p:nvSpPr>
        <p:spPr>
          <a:xfrm>
            <a:off x="5227168" y="3767328"/>
            <a:ext cx="1737360" cy="91440"/>
          </a:xfrm>
          <a:prstGeom prst="rect">
            <a:avLst/>
          </a:prstGeom>
          <a:solidFill>
            <a:srgbClr val="8357F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0" y="41148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تسليم هاكاثون AJA AI</dc:title>
  <dc:subject>PptxGenJS Presentation</dc:subject>
  <dc:creator>أثر</dc:creator>
  <cp:lastModifiedBy>أثر</cp:lastModifiedBy>
  <cp:revision>1</cp:revision>
  <dcterms:created xsi:type="dcterms:W3CDTF">2026-09-30T10:59:11Z</dcterms:created>
  <dcterms:modified xsi:type="dcterms:W3CDTF">2026-09-30T10:59:11Z</dcterms:modified>
</cp:coreProperties>
</file>