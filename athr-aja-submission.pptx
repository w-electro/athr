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النسخة البيضاء: نبيع التطبيق نفسه لمتحف أو جهة تراثية أخرى، فننشره باسمها وشعارها ونقوشها وقصصها، ولا يرى السائح اسم أثر. والجهة تدفع لنا البناء والإعداد، ونحن لا نبني تطبيقا جديدا في كل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image" Target="../media/image-14-5.jpe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22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457200" y="384048"/>
            <a:ext cx="1371600" cy="512064"/>
          </a:xfrm>
          <a:prstGeom prst="rect">
            <a:avLst/>
          </a:prstGeom>
        </p:spPr>
      </p:pic>
      <p:pic>
        <p:nvPicPr>
          <p:cNvPr id="4" name="Image 2" descr="preencoded.png">    </p:cNvPr>
          <p:cNvPicPr>
            <a:picLocks noChangeAspect="1"/>
          </p:cNvPicPr>
          <p:nvPr/>
        </p:nvPicPr>
        <p:blipFill>
          <a:blip r:embed="rId3"/>
          <a:stretch>
            <a:fillRect/>
          </a:stretch>
        </p:blipFill>
        <p:spPr>
          <a:xfrm>
            <a:off x="10591495" y="320040"/>
            <a:ext cx="1143000" cy="1124712"/>
          </a:xfrm>
          <a:prstGeom prst="rect">
            <a:avLst/>
          </a:prstGeom>
        </p:spPr>
      </p:pic>
      <p:sp>
        <p:nvSpPr>
          <p:cNvPr id="5" name="Text 0"/>
          <p:cNvSpPr/>
          <p:nvPr/>
        </p:nvSpPr>
        <p:spPr>
          <a:xfrm>
            <a:off x="6205576" y="2697480"/>
            <a:ext cx="2103120" cy="822960"/>
          </a:xfrm>
          <a:prstGeom prst="rect">
            <a:avLst/>
          </a:prstGeom>
          <a:noFill/>
          <a:ln/>
        </p:spPr>
        <p:txBody>
          <a:bodyPr wrap="square" lIns="0" tIns="0" rIns="0" bIns="0" rtlCol="0" anchor="ctr"/>
          <a:lstStyle/>
          <a:p>
            <a:pPr rtl="1" algn="r" indent="0" marL="0">
              <a:buNone/>
            </a:pPr>
            <a:r>
              <a:rPr lang="en-US" sz="4000" b="1" dirty="0">
                <a:solidFill>
                  <a:srgbClr val="FFFFFF"/>
                </a:solidFill>
                <a:latin typeface="Tajawal" pitchFamily="34" charset="0"/>
                <a:ea typeface="Tajawal" pitchFamily="34" charset="-122"/>
                <a:cs typeface="Tajawal" pitchFamily="34" charset="-120"/>
              </a:rPr>
              <a:t>هاكاثون</a:t>
            </a:r>
            <a:endParaRPr lang="en-US" sz="4000" dirty="0"/>
          </a:p>
        </p:txBody>
      </p:sp>
      <p:sp>
        <p:nvSpPr>
          <p:cNvPr id="6" name="Text 1"/>
          <p:cNvSpPr/>
          <p:nvPr/>
        </p:nvSpPr>
        <p:spPr>
          <a:xfrm>
            <a:off x="3883000" y="2724912"/>
            <a:ext cx="2103120" cy="777240"/>
          </a:xfrm>
          <a:prstGeom prst="rect">
            <a:avLst/>
          </a:prstGeom>
          <a:noFill/>
          <a:ln/>
        </p:spPr>
        <p:txBody>
          <a:bodyPr wrap="square" lIns="0" tIns="0" rIns="0" bIns="0" rtlCol="0" anchor="ctr"/>
          <a:lstStyle/>
          <a:p>
            <a:pPr algn="l" indent="0" marL="0">
              <a:buNone/>
            </a:pPr>
            <a:r>
              <a:rPr lang="en-US" sz="4000" b="1" spc="600" kern="0" dirty="0">
                <a:solidFill>
                  <a:srgbClr val="FFFFFF"/>
                </a:solidFill>
                <a:latin typeface="Calibri" pitchFamily="34" charset="0"/>
                <a:ea typeface="Calibri" pitchFamily="34" charset="-122"/>
                <a:cs typeface="Calibri" pitchFamily="34" charset="-120"/>
              </a:rPr>
              <a:t>AJA AI</a:t>
            </a:r>
            <a:endParaRPr lang="en-US" sz="4000" dirty="0"/>
          </a:p>
        </p:txBody>
      </p:sp>
      <p:sp>
        <p:nvSpPr>
          <p:cNvPr id="7" name="Shape 2"/>
          <p:cNvSpPr/>
          <p:nvPr/>
        </p:nvSpPr>
        <p:spPr>
          <a:xfrm>
            <a:off x="3883000" y="3895344"/>
            <a:ext cx="1554480" cy="91440"/>
          </a:xfrm>
          <a:prstGeom prst="rect">
            <a:avLst/>
          </a:prstGeom>
          <a:solidFill>
            <a:srgbClr val="8357F6"/>
          </a:solidFill>
          <a:ln w="12700">
            <a:solidFill>
              <a:srgbClr val="333333"/>
            </a:solidFill>
            <a:prstDash val="solid"/>
          </a:ln>
        </p:spPr>
      </p:sp>
      <p:sp>
        <p:nvSpPr>
          <p:cNvPr id="8" name="Text 3"/>
          <p:cNvSpPr/>
          <p:nvPr/>
        </p:nvSpPr>
        <p:spPr>
          <a:xfrm>
            <a:off x="5638648" y="3712464"/>
            <a:ext cx="2670048" cy="457200"/>
          </a:xfrm>
          <a:prstGeom prst="rect">
            <a:avLst/>
          </a:prstGeom>
          <a:noFill/>
          <a:ln/>
        </p:spPr>
        <p:txBody>
          <a:bodyPr wrap="square" lIns="0" tIns="0" rIns="0" bIns="0" rtlCol="0" anchor="ctr"/>
          <a:lstStyle/>
          <a:p>
            <a:pPr rtl="1" algn="r" indent="0" marL="0">
              <a:buNone/>
            </a:pPr>
            <a:r>
              <a:rPr lang="en-US" sz="2100" dirty="0">
                <a:solidFill>
                  <a:srgbClr val="FFFFFF"/>
                </a:solidFill>
                <a:latin typeface="Tajawal" pitchFamily="34" charset="0"/>
                <a:ea typeface="Tajawal" pitchFamily="34" charset="-122"/>
                <a:cs typeface="Tajawal" pitchFamily="34" charset="-120"/>
              </a:rPr>
              <a:t>فريق أثر</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نبذة عنا</a:t>
            </a:r>
            <a:endParaRPr lang="en-US" sz="2600" dirty="0"/>
          </a:p>
        </p:txBody>
      </p:sp>
      <p:pic>
        <p:nvPicPr>
          <p:cNvPr id="4" name="Image 1" descr="preencoded.png">    </p:cNvPr>
          <p:cNvPicPr>
            <a:picLocks noChangeAspect="1"/>
          </p:cNvPicPr>
          <p:nvPr/>
        </p:nvPicPr>
        <p:blipFill>
          <a:blip r:embed="rId2"/>
          <a:stretch>
            <a:fillRect/>
          </a:stretch>
        </p:blipFill>
        <p:spPr>
          <a:xfrm>
            <a:off x="777240" y="1371600"/>
            <a:ext cx="1489409" cy="3108960"/>
          </a:xfrm>
          <a:prstGeom prst="rect">
            <a:avLst/>
          </a:prstGeom>
        </p:spPr>
      </p:pic>
      <p:pic>
        <p:nvPicPr>
          <p:cNvPr id="5" name="Image 2" descr="preencoded.png">    </p:cNvPr>
          <p:cNvPicPr>
            <a:picLocks noChangeAspect="1"/>
          </p:cNvPicPr>
          <p:nvPr/>
        </p:nvPicPr>
        <p:blipFill>
          <a:blip r:embed="rId3"/>
          <a:stretch>
            <a:fillRect/>
          </a:stretch>
        </p:blipFill>
        <p:spPr>
          <a:xfrm>
            <a:off x="2540969" y="1371600"/>
            <a:ext cx="1489409" cy="3108960"/>
          </a:xfrm>
          <a:prstGeom prst="rect">
            <a:avLst/>
          </a:prstGeom>
        </p:spPr>
      </p:pic>
      <p:sp>
        <p:nvSpPr>
          <p:cNvPr id="6" name="Text 1"/>
          <p:cNvSpPr/>
          <p:nvPr/>
        </p:nvSpPr>
        <p:spPr>
          <a:xfrm>
            <a:off x="4579017" y="1463040"/>
            <a:ext cx="6835438" cy="2286000"/>
          </a:xfrm>
          <a:prstGeom prst="rect">
            <a:avLst/>
          </a:prstGeom>
          <a:noFill/>
          <a:ln/>
        </p:spPr>
        <p:txBody>
          <a:bodyPr wrap="square" lIns="0" tIns="0" rIns="0" bIns="0" rtlCol="0" anchor="ctr"/>
          <a:lstStyle/>
          <a:p>
            <a:pPr rtl="1" algn="r" indent="0" marL="0">
              <a:lnSpc>
                <a:spcPts val="2700"/>
              </a:lnSpc>
              <a:spcAft>
                <a:spcPts val="1600"/>
              </a:spcAft>
              <a:buNone/>
            </a:pPr>
            <a:r>
              <a:rPr lang="en-US" sz="1500" dirty="0">
                <a:solidFill>
                  <a:srgbClr val="4B5B6E"/>
                </a:solidFill>
                <a:latin typeface="Tajawal" pitchFamily="34" charset="0"/>
                <a:ea typeface="Tajawal" pitchFamily="34" charset="-122"/>
                <a:cs typeface="Tajawal" pitchFamily="34" charset="-120"/>
              </a:rPr>
              <a:t>أثر دليل تراثي ذكي لمنطقة حائل، يعمل دون اتصال بالإنترنت</a:t>
            </a:r>
            <a:endParaRPr lang="en-US" sz="1500" dirty="0"/>
          </a:p>
          <a:p>
            <a:pPr rtl="1" algn="r" indent="0" marL="0">
              <a:lnSpc>
                <a:spcPts val="2700"/>
              </a:lnSpc>
              <a:spcAft>
                <a:spcPts val="1600"/>
              </a:spcAft>
              <a:buNone/>
            </a:pPr>
            <a:r>
              <a:rPr lang="en-US" sz="1500" dirty="0">
                <a:solidFill>
                  <a:srgbClr val="4B5B6E"/>
                </a:solidFill>
                <a:latin typeface="Tajawal" pitchFamily="34" charset="0"/>
                <a:ea typeface="Tajawal" pitchFamily="34" charset="-122"/>
                <a:cs typeface="Tajawal" pitchFamily="34" charset="-120"/>
              </a:rPr>
              <a:t>يرسم مسار رحلة السائح كاملا، ومعه ماسح ذكي يعمل بنموذج DINOv3</a:t>
            </a:r>
            <a:endParaRPr lang="en-US" sz="1500" dirty="0"/>
          </a:p>
          <a:p>
            <a:pPr rtl="1" algn="r" indent="0" marL="0">
              <a:lnSpc>
                <a:spcPts val="2700"/>
              </a:lnSpc>
              <a:spcAft>
                <a:spcPts val="1600"/>
              </a:spcAft>
              <a:buNone/>
            </a:pPr>
            <a:r>
              <a:rPr lang="en-US" sz="1500" dirty="0">
                <a:solidFill>
                  <a:srgbClr val="4B5B6E"/>
                </a:solidFill>
                <a:latin typeface="Tajawal" pitchFamily="34" charset="0"/>
                <a:ea typeface="Tajawal" pitchFamily="34" charset="-122"/>
                <a:cs typeface="Tajawal" pitchFamily="34" charset="-120"/>
              </a:rPr>
              <a:t>يصور السائح النقش، فيسميه الماسح ويروي قصته بلغته</a:t>
            </a:r>
            <a:endParaRPr lang="en-US" sz="1500" dirty="0"/>
          </a:p>
        </p:txBody>
      </p:sp>
      <p:sp>
        <p:nvSpPr>
          <p:cNvPr id="7" name="Shape 2"/>
          <p:cNvSpPr/>
          <p:nvPr/>
        </p:nvSpPr>
        <p:spPr>
          <a:xfrm>
            <a:off x="9282280" y="3950208"/>
            <a:ext cx="2132175" cy="1225296"/>
          </a:xfrm>
          <a:prstGeom prst="roundRect">
            <a:avLst>
              <a:gd name="adj" fmla="val 5970"/>
            </a:avLst>
          </a:prstGeom>
          <a:solidFill>
            <a:srgbClr val="EEF3F9"/>
          </a:solidFill>
          <a:ln w="9525">
            <a:solidFill>
              <a:srgbClr val="D9E2EC"/>
            </a:solidFill>
            <a:prstDash val="solid"/>
          </a:ln>
        </p:spPr>
      </p:sp>
      <p:sp>
        <p:nvSpPr>
          <p:cNvPr id="8" name="Text 3"/>
          <p:cNvSpPr/>
          <p:nvPr/>
        </p:nvSpPr>
        <p:spPr>
          <a:xfrm>
            <a:off x="9282280" y="4096512"/>
            <a:ext cx="2132175" cy="548640"/>
          </a:xfrm>
          <a:prstGeom prst="rect">
            <a:avLst/>
          </a:prstGeom>
          <a:noFill/>
          <a:ln/>
        </p:spPr>
        <p:txBody>
          <a:bodyPr wrap="square" lIns="0" tIns="0" rIns="0" bIns="0" rtlCol="0" anchor="ctr"/>
          <a:lstStyle/>
          <a:p>
            <a:pPr algn="ctr" indent="0" marL="0">
              <a:buNone/>
            </a:pPr>
            <a:r>
              <a:rPr lang="en-US" sz="2800" b="1" dirty="0">
                <a:solidFill>
                  <a:srgbClr val="255174"/>
                </a:solidFill>
                <a:latin typeface="Calibri" pitchFamily="34" charset="0"/>
                <a:ea typeface="Calibri" pitchFamily="34" charset="-122"/>
                <a:cs typeface="Calibri" pitchFamily="34" charset="-120"/>
              </a:rPr>
              <a:t>29</a:t>
            </a:r>
            <a:endParaRPr lang="en-US" sz="2800" dirty="0"/>
          </a:p>
        </p:txBody>
      </p:sp>
      <p:sp>
        <p:nvSpPr>
          <p:cNvPr id="9" name="Text 4"/>
          <p:cNvSpPr/>
          <p:nvPr/>
        </p:nvSpPr>
        <p:spPr>
          <a:xfrm>
            <a:off x="9392008" y="4681728"/>
            <a:ext cx="1912719"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لغة، ولكل لغة</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رواية مسموعة</a:t>
            </a:r>
            <a:endParaRPr lang="en-US" sz="1100" dirty="0"/>
          </a:p>
        </p:txBody>
      </p:sp>
      <p:sp>
        <p:nvSpPr>
          <p:cNvPr id="10" name="Shape 5"/>
          <p:cNvSpPr/>
          <p:nvPr/>
        </p:nvSpPr>
        <p:spPr>
          <a:xfrm>
            <a:off x="6930649" y="3950208"/>
            <a:ext cx="2132175" cy="1225296"/>
          </a:xfrm>
          <a:prstGeom prst="roundRect">
            <a:avLst>
              <a:gd name="adj" fmla="val 5970"/>
            </a:avLst>
          </a:prstGeom>
          <a:solidFill>
            <a:srgbClr val="EEF3F9"/>
          </a:solidFill>
          <a:ln w="9525">
            <a:solidFill>
              <a:srgbClr val="D9E2EC"/>
            </a:solidFill>
            <a:prstDash val="solid"/>
          </a:ln>
        </p:spPr>
      </p:sp>
      <p:sp>
        <p:nvSpPr>
          <p:cNvPr id="11" name="Text 6"/>
          <p:cNvSpPr/>
          <p:nvPr/>
        </p:nvSpPr>
        <p:spPr>
          <a:xfrm>
            <a:off x="6930649" y="4096512"/>
            <a:ext cx="2132175" cy="548640"/>
          </a:xfrm>
          <a:prstGeom prst="rect">
            <a:avLst/>
          </a:prstGeom>
          <a:noFill/>
          <a:ln/>
        </p:spPr>
        <p:txBody>
          <a:bodyPr wrap="square" lIns="0" tIns="0" rIns="0" bIns="0" rtlCol="0" anchor="ctr"/>
          <a:lstStyle/>
          <a:p>
            <a:pPr algn="ctr" indent="0" marL="0">
              <a:buNone/>
            </a:pPr>
            <a:r>
              <a:rPr lang="en-US" sz="2800" b="1" dirty="0">
                <a:solidFill>
                  <a:srgbClr val="255174"/>
                </a:solidFill>
                <a:latin typeface="Calibri" pitchFamily="34" charset="0"/>
                <a:ea typeface="Calibri" pitchFamily="34" charset="-122"/>
                <a:cs typeface="Calibri" pitchFamily="34" charset="-120"/>
              </a:rPr>
              <a:t>10</a:t>
            </a:r>
            <a:endParaRPr lang="en-US" sz="2800" dirty="0"/>
          </a:p>
        </p:txBody>
      </p:sp>
      <p:sp>
        <p:nvSpPr>
          <p:cNvPr id="12" name="Text 7"/>
          <p:cNvSpPr/>
          <p:nvPr/>
        </p:nvSpPr>
        <p:spPr>
          <a:xfrm>
            <a:off x="7040377" y="4681728"/>
            <a:ext cx="1912719"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نقوش موثقة</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في جبة</a:t>
            </a:r>
            <a:endParaRPr lang="en-US" sz="1100" dirty="0"/>
          </a:p>
        </p:txBody>
      </p:sp>
      <p:sp>
        <p:nvSpPr>
          <p:cNvPr id="13" name="Shape 8"/>
          <p:cNvSpPr/>
          <p:nvPr/>
        </p:nvSpPr>
        <p:spPr>
          <a:xfrm>
            <a:off x="4579017" y="3950208"/>
            <a:ext cx="2132175" cy="1225296"/>
          </a:xfrm>
          <a:prstGeom prst="roundRect">
            <a:avLst>
              <a:gd name="adj" fmla="val 5970"/>
            </a:avLst>
          </a:prstGeom>
          <a:solidFill>
            <a:srgbClr val="EEF3F9"/>
          </a:solidFill>
          <a:ln w="9525">
            <a:solidFill>
              <a:srgbClr val="D9E2EC"/>
            </a:solidFill>
            <a:prstDash val="solid"/>
          </a:ln>
        </p:spPr>
      </p:sp>
      <p:sp>
        <p:nvSpPr>
          <p:cNvPr id="14" name="Text 9"/>
          <p:cNvSpPr/>
          <p:nvPr/>
        </p:nvSpPr>
        <p:spPr>
          <a:xfrm>
            <a:off x="4579017" y="4096512"/>
            <a:ext cx="2132175" cy="548640"/>
          </a:xfrm>
          <a:prstGeom prst="rect">
            <a:avLst/>
          </a:prstGeom>
          <a:noFill/>
          <a:ln/>
        </p:spPr>
        <p:txBody>
          <a:bodyPr wrap="square" lIns="0" tIns="0" rIns="0" bIns="0" rtlCol="0" anchor="ctr"/>
          <a:lstStyle/>
          <a:p>
            <a:pPr algn="ctr" indent="0" marL="0">
              <a:buNone/>
            </a:pPr>
            <a:r>
              <a:rPr lang="en-US" sz="2800" b="1" dirty="0">
                <a:solidFill>
                  <a:srgbClr val="8357F6"/>
                </a:solidFill>
                <a:latin typeface="Calibri" pitchFamily="34" charset="0"/>
                <a:ea typeface="Calibri" pitchFamily="34" charset="-122"/>
                <a:cs typeface="Calibri" pitchFamily="34" charset="-120"/>
              </a:rPr>
              <a:t>0</a:t>
            </a:r>
            <a:endParaRPr lang="en-US" sz="2800" dirty="0"/>
          </a:p>
        </p:txBody>
      </p:sp>
      <p:sp>
        <p:nvSpPr>
          <p:cNvPr id="15" name="Text 10"/>
          <p:cNvSpPr/>
          <p:nvPr/>
        </p:nvSpPr>
        <p:spPr>
          <a:xfrm>
            <a:off x="4688745" y="4681728"/>
            <a:ext cx="1912719"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خوادم، وصفر تكلفة</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لكل سائح</a:t>
            </a:r>
            <a:endParaRPr lang="en-US" sz="1100" dirty="0"/>
          </a:p>
        </p:txBody>
      </p:sp>
      <p:sp>
        <p:nvSpPr>
          <p:cNvPr id="16" name="Shape 11"/>
          <p:cNvSpPr/>
          <p:nvPr/>
        </p:nvSpPr>
        <p:spPr>
          <a:xfrm>
            <a:off x="6214720" y="5413248"/>
            <a:ext cx="5199736" cy="841248"/>
          </a:xfrm>
          <a:prstGeom prst="roundRect">
            <a:avLst>
              <a:gd name="adj" fmla="val 8696"/>
            </a:avLst>
          </a:prstGeom>
          <a:solidFill>
            <a:srgbClr val="EEF3F9"/>
          </a:solidFill>
          <a:ln w="9525">
            <a:solidFill>
              <a:srgbClr val="D9E2EC"/>
            </a:solidFill>
            <a:prstDash val="solid"/>
          </a:ln>
        </p:spPr>
      </p:sp>
      <p:sp>
        <p:nvSpPr>
          <p:cNvPr id="17" name="Text 12"/>
          <p:cNvSpPr/>
          <p:nvPr/>
        </p:nvSpPr>
        <p:spPr>
          <a:xfrm>
            <a:off x="6489040" y="5541264"/>
            <a:ext cx="4651096" cy="329184"/>
          </a:xfrm>
          <a:prstGeom prst="rect">
            <a:avLst/>
          </a:prstGeom>
          <a:noFill/>
          <a:ln/>
        </p:spPr>
        <p:txBody>
          <a:bodyPr wrap="square" lIns="0" tIns="0" rIns="0" bIns="0" rtlCol="0" anchor="ctr"/>
          <a:lstStyle/>
          <a:p>
            <a:pPr rtl="1" algn="r" indent="0" marL="0">
              <a:buNone/>
            </a:pPr>
            <a:r>
              <a:rPr lang="en-US" sz="1600" b="1" dirty="0">
                <a:solidFill>
                  <a:srgbClr val="255174"/>
                </a:solidFill>
                <a:latin typeface="Tajawal" pitchFamily="34" charset="0"/>
                <a:ea typeface="Tajawal" pitchFamily="34" charset="-122"/>
                <a:cs typeface="Tajawal" pitchFamily="34" charset="-120"/>
              </a:rPr>
              <a:t>وليد الشمري</a:t>
            </a:r>
            <a:endParaRPr lang="en-US" sz="1600" dirty="0"/>
          </a:p>
        </p:txBody>
      </p:sp>
      <p:sp>
        <p:nvSpPr>
          <p:cNvPr id="18" name="Text 13"/>
          <p:cNvSpPr/>
          <p:nvPr/>
        </p:nvSpPr>
        <p:spPr>
          <a:xfrm>
            <a:off x="6489040" y="5888736"/>
            <a:ext cx="4651096" cy="274320"/>
          </a:xfrm>
          <a:prstGeom prst="rect">
            <a:avLst/>
          </a:prstGeom>
          <a:noFill/>
          <a:ln/>
        </p:spPr>
        <p:txBody>
          <a:bodyPr wrap="square" lIns="0" tIns="0" rIns="0" bIns="0" rtlCol="0" anchor="ctr"/>
          <a:lstStyle/>
          <a:p>
            <a:pPr rtl="1" algn="r" indent="0" marL="0">
              <a:buNone/>
            </a:pPr>
            <a:r>
              <a:rPr lang="en-US" sz="1250" dirty="0">
                <a:solidFill>
                  <a:srgbClr val="4B5B6E"/>
                </a:solidFill>
                <a:latin typeface="Tajawal" pitchFamily="34" charset="0"/>
                <a:ea typeface="Tajawal" pitchFamily="34" charset="-122"/>
                <a:cs typeface="Tajawal" pitchFamily="34" charset="-120"/>
              </a:rPr>
              <a:t>قائد الفريق</a:t>
            </a:r>
            <a:endParaRPr lang="en-US" sz="1250" dirty="0"/>
          </a:p>
        </p:txBody>
      </p:sp>
      <p:sp>
        <p:nvSpPr>
          <p:cNvPr id="19" name="Shape 14"/>
          <p:cNvSpPr/>
          <p:nvPr/>
        </p:nvSpPr>
        <p:spPr>
          <a:xfrm>
            <a:off x="777240" y="5413248"/>
            <a:ext cx="5199736" cy="841248"/>
          </a:xfrm>
          <a:prstGeom prst="roundRect">
            <a:avLst>
              <a:gd name="adj" fmla="val 8696"/>
            </a:avLst>
          </a:prstGeom>
          <a:solidFill>
            <a:srgbClr val="EEF3F9"/>
          </a:solidFill>
          <a:ln w="9525">
            <a:solidFill>
              <a:srgbClr val="D9E2EC"/>
            </a:solidFill>
            <a:prstDash val="solid"/>
          </a:ln>
        </p:spPr>
      </p:sp>
      <p:sp>
        <p:nvSpPr>
          <p:cNvPr id="20" name="Text 15"/>
          <p:cNvSpPr/>
          <p:nvPr/>
        </p:nvSpPr>
        <p:spPr>
          <a:xfrm>
            <a:off x="1051560" y="5541264"/>
            <a:ext cx="4651096" cy="329184"/>
          </a:xfrm>
          <a:prstGeom prst="rect">
            <a:avLst/>
          </a:prstGeom>
          <a:noFill/>
          <a:ln/>
        </p:spPr>
        <p:txBody>
          <a:bodyPr wrap="square" lIns="0" tIns="0" rIns="0" bIns="0" rtlCol="0" anchor="ctr"/>
          <a:lstStyle/>
          <a:p>
            <a:pPr rtl="1" algn="r" indent="0" marL="0">
              <a:buNone/>
            </a:pPr>
            <a:r>
              <a:rPr lang="en-US" sz="1600" b="1" dirty="0">
                <a:solidFill>
                  <a:srgbClr val="255174"/>
                </a:solidFill>
                <a:latin typeface="Tajawal" pitchFamily="34" charset="0"/>
                <a:ea typeface="Tajawal" pitchFamily="34" charset="-122"/>
                <a:cs typeface="Tajawal" pitchFamily="34" charset="-120"/>
              </a:rPr>
              <a:t>فالح الغسلان</a:t>
            </a:r>
            <a:endParaRPr lang="en-US" sz="1600" dirty="0"/>
          </a:p>
        </p:txBody>
      </p:sp>
      <p:sp>
        <p:nvSpPr>
          <p:cNvPr id="21" name="Text 16"/>
          <p:cNvSpPr/>
          <p:nvPr/>
        </p:nvSpPr>
        <p:spPr>
          <a:xfrm>
            <a:off x="1051560" y="5888736"/>
            <a:ext cx="4651096" cy="274320"/>
          </a:xfrm>
          <a:prstGeom prst="rect">
            <a:avLst/>
          </a:prstGeom>
          <a:noFill/>
          <a:ln/>
        </p:spPr>
        <p:txBody>
          <a:bodyPr wrap="square" lIns="0" tIns="0" rIns="0" bIns="0" rtlCol="0" anchor="ctr"/>
          <a:lstStyle/>
          <a:p>
            <a:pPr rtl="1" algn="r" indent="0" marL="0">
              <a:buNone/>
            </a:pPr>
            <a:r>
              <a:rPr lang="en-US" sz="1250" dirty="0">
                <a:solidFill>
                  <a:srgbClr val="4B5B6E"/>
                </a:solidFill>
                <a:latin typeface="Tajawal" pitchFamily="34" charset="0"/>
                <a:ea typeface="Tajawal" pitchFamily="34" charset="-122"/>
                <a:cs typeface="Tajawal" pitchFamily="34" charset="-120"/>
              </a:rPr>
              <a:t>مؤرخ</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01</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الابتكار والأصالة</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الابتكار والأصالة</a:t>
            </a:r>
            <a:endParaRPr lang="en-US" sz="2600" dirty="0"/>
          </a:p>
        </p:txBody>
      </p:sp>
      <p:sp>
        <p:nvSpPr>
          <p:cNvPr id="4" name="Shape 1"/>
          <p:cNvSpPr/>
          <p:nvPr/>
        </p:nvSpPr>
        <p:spPr>
          <a:xfrm>
            <a:off x="8027213" y="1234440"/>
            <a:ext cx="3387242" cy="1783080"/>
          </a:xfrm>
          <a:prstGeom prst="roundRect">
            <a:avLst>
              <a:gd name="adj" fmla="val 4103"/>
            </a:avLst>
          </a:prstGeom>
          <a:solidFill>
            <a:srgbClr val="EEF3F9"/>
          </a:solidFill>
          <a:ln w="9525">
            <a:solidFill>
              <a:srgbClr val="D9E2EC"/>
            </a:solidFill>
            <a:prstDash val="solid"/>
          </a:ln>
        </p:spPr>
      </p:sp>
      <p:sp>
        <p:nvSpPr>
          <p:cNvPr id="5" name="Text 2"/>
          <p:cNvSpPr/>
          <p:nvPr/>
        </p:nvSpPr>
        <p:spPr>
          <a:xfrm>
            <a:off x="8264957"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تميز الفكرة</a:t>
            </a:r>
            <a:endParaRPr lang="en-US" sz="1400" dirty="0"/>
          </a:p>
        </p:txBody>
      </p:sp>
      <p:sp>
        <p:nvSpPr>
          <p:cNvPr id="6" name="Text 3"/>
          <p:cNvSpPr/>
          <p:nvPr/>
        </p:nvSpPr>
        <p:spPr>
          <a:xfrm>
            <a:off x="8264957" y="1801368"/>
            <a:ext cx="2911754" cy="1033272"/>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دليل يقرأ النقش نفسه، فيسمي النقش الذي يراه السائح من بين مئات النقوش</a:t>
            </a:r>
            <a:endParaRPr lang="en-US" sz="1250" dirty="0"/>
          </a:p>
        </p:txBody>
      </p:sp>
      <p:sp>
        <p:nvSpPr>
          <p:cNvPr id="7" name="Shape 4"/>
          <p:cNvSpPr/>
          <p:nvPr/>
        </p:nvSpPr>
        <p:spPr>
          <a:xfrm>
            <a:off x="4402226" y="1234440"/>
            <a:ext cx="3387242" cy="1783080"/>
          </a:xfrm>
          <a:prstGeom prst="roundRect">
            <a:avLst>
              <a:gd name="adj" fmla="val 4103"/>
            </a:avLst>
          </a:prstGeom>
          <a:solidFill>
            <a:srgbClr val="EEF3F9"/>
          </a:solidFill>
          <a:ln w="9525">
            <a:solidFill>
              <a:srgbClr val="D9E2EC"/>
            </a:solidFill>
            <a:prstDash val="solid"/>
          </a:ln>
        </p:spPr>
      </p:sp>
      <p:sp>
        <p:nvSpPr>
          <p:cNvPr id="8" name="Text 5"/>
          <p:cNvSpPr/>
          <p:nvPr/>
        </p:nvSpPr>
        <p:spPr>
          <a:xfrm>
            <a:off x="4639970"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مستوى الابتكار</a:t>
            </a:r>
            <a:endParaRPr lang="en-US" sz="1400" dirty="0"/>
          </a:p>
        </p:txBody>
      </p:sp>
      <p:sp>
        <p:nvSpPr>
          <p:cNvPr id="9" name="Text 6"/>
          <p:cNvSpPr/>
          <p:nvPr/>
        </p:nvSpPr>
        <p:spPr>
          <a:xfrm>
            <a:off x="4639970" y="1801368"/>
            <a:ext cx="2911754" cy="1033272"/>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ذكاء اصطناعي كامل داخل الجوال، يتعلم من تصحيحات السياح ويتحسن مع كل تحديث</a:t>
            </a:r>
            <a:endParaRPr lang="en-US" sz="1250" dirty="0"/>
          </a:p>
        </p:txBody>
      </p:sp>
      <p:sp>
        <p:nvSpPr>
          <p:cNvPr id="10" name="Shape 7"/>
          <p:cNvSpPr/>
          <p:nvPr/>
        </p:nvSpPr>
        <p:spPr>
          <a:xfrm>
            <a:off x="777240" y="1234440"/>
            <a:ext cx="3387242" cy="1783080"/>
          </a:xfrm>
          <a:prstGeom prst="roundRect">
            <a:avLst>
              <a:gd name="adj" fmla="val 4103"/>
            </a:avLst>
          </a:prstGeom>
          <a:solidFill>
            <a:srgbClr val="EEF3F9"/>
          </a:solidFill>
          <a:ln w="9525">
            <a:solidFill>
              <a:srgbClr val="D9E2EC"/>
            </a:solidFill>
            <a:prstDash val="solid"/>
          </a:ln>
        </p:spPr>
      </p:sp>
      <p:sp>
        <p:nvSpPr>
          <p:cNvPr id="11" name="Text 8"/>
          <p:cNvSpPr/>
          <p:nvPr/>
        </p:nvSpPr>
        <p:spPr>
          <a:xfrm>
            <a:off x="1014984"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الاختلاف عن البدائل</a:t>
            </a:r>
            <a:endParaRPr lang="en-US" sz="1400" dirty="0"/>
          </a:p>
        </p:txBody>
      </p:sp>
      <p:sp>
        <p:nvSpPr>
          <p:cNvPr id="12" name="Text 9"/>
          <p:cNvSpPr/>
          <p:nvPr/>
        </p:nvSpPr>
        <p:spPr>
          <a:xfrm>
            <a:off x="1014984" y="1801368"/>
            <a:ext cx="2911754" cy="1033272"/>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اللافتة عامة، والمرشد بموعد، والتطبيق السحابي يتوقف بلا شبكة</a:t>
            </a:r>
            <a:endParaRPr lang="en-US" sz="1250" dirty="0"/>
          </a:p>
        </p:txBody>
      </p:sp>
      <p:sp>
        <p:nvSpPr>
          <p:cNvPr id="13" name="Text 10"/>
          <p:cNvSpPr/>
          <p:nvPr/>
        </p:nvSpPr>
        <p:spPr>
          <a:xfrm>
            <a:off x="6842455" y="3310128"/>
            <a:ext cx="4297680" cy="292608"/>
          </a:xfrm>
          <a:prstGeom prst="rect">
            <a:avLst/>
          </a:prstGeom>
          <a:noFill/>
          <a:ln/>
        </p:spPr>
        <p:txBody>
          <a:bodyPr wrap="square" lIns="0" tIns="0" rIns="0" bIns="0" rtlCol="0" anchor="ctr"/>
          <a:lstStyle/>
          <a:p>
            <a:pPr rtl="1" algn="r" indent="0" marL="0">
              <a:buNone/>
            </a:pPr>
            <a:r>
              <a:rPr lang="en-US" sz="1300" b="1" dirty="0">
                <a:solidFill>
                  <a:srgbClr val="4B5B6E"/>
                </a:solidFill>
                <a:latin typeface="Tajawal" pitchFamily="34" charset="0"/>
                <a:ea typeface="Tajawal" pitchFamily="34" charset="-122"/>
                <a:cs typeface="Tajawal" pitchFamily="34" charset="-120"/>
              </a:rPr>
              <a:t>البدائل الحالية</a:t>
            </a:r>
            <a:endParaRPr lang="en-US" sz="1300" dirty="0"/>
          </a:p>
        </p:txBody>
      </p:sp>
      <p:sp>
        <p:nvSpPr>
          <p:cNvPr id="14" name="Text 11"/>
          <p:cNvSpPr/>
          <p:nvPr/>
        </p:nvSpPr>
        <p:spPr>
          <a:xfrm>
            <a:off x="777240" y="3310128"/>
            <a:ext cx="5760720" cy="292608"/>
          </a:xfrm>
          <a:prstGeom prst="rect">
            <a:avLst/>
          </a:prstGeom>
          <a:noFill/>
          <a:ln/>
        </p:spPr>
        <p:txBody>
          <a:bodyPr wrap="square" lIns="0" tIns="0" rIns="0" bIns="0" rtlCol="0" anchor="ctr"/>
          <a:lstStyle/>
          <a:p>
            <a:pPr rtl="1" algn="r" indent="0" marL="0">
              <a:buNone/>
            </a:pPr>
            <a:r>
              <a:rPr lang="en-US" sz="1300" b="1" dirty="0">
                <a:solidFill>
                  <a:srgbClr val="255174"/>
                </a:solidFill>
                <a:latin typeface="Tajawal" pitchFamily="34" charset="0"/>
                <a:ea typeface="Tajawal" pitchFamily="34" charset="-122"/>
                <a:cs typeface="Tajawal" pitchFamily="34" charset="-120"/>
              </a:rPr>
              <a:t>أثر</a:t>
            </a:r>
            <a:endParaRPr lang="en-US" sz="1300" dirty="0"/>
          </a:p>
        </p:txBody>
      </p:sp>
      <p:sp>
        <p:nvSpPr>
          <p:cNvPr id="15" name="Shape 12"/>
          <p:cNvSpPr/>
          <p:nvPr/>
        </p:nvSpPr>
        <p:spPr>
          <a:xfrm>
            <a:off x="6842455" y="3712464"/>
            <a:ext cx="4572000" cy="420624"/>
          </a:xfrm>
          <a:prstGeom prst="roundRect">
            <a:avLst>
              <a:gd name="adj" fmla="val 17391"/>
            </a:avLst>
          </a:prstGeom>
          <a:solidFill>
            <a:srgbClr val="F4F6F9"/>
          </a:solidFill>
          <a:ln w="9525">
            <a:solidFill>
              <a:srgbClr val="D9E2EC"/>
            </a:solidFill>
            <a:prstDash val="solid"/>
          </a:ln>
        </p:spPr>
      </p:sp>
      <p:sp>
        <p:nvSpPr>
          <p:cNvPr id="16" name="Text 13"/>
          <p:cNvSpPr/>
          <p:nvPr/>
        </p:nvSpPr>
        <p:spPr>
          <a:xfrm>
            <a:off x="7061911" y="3794760"/>
            <a:ext cx="4133088" cy="256032"/>
          </a:xfrm>
          <a:prstGeom prst="rect">
            <a:avLst/>
          </a:prstGeom>
          <a:noFill/>
          <a:ln/>
        </p:spPr>
        <p:txBody>
          <a:bodyPr wrap="square" lIns="0" tIns="0" rIns="0" bIns="0" rtlCol="0" anchor="ctr"/>
          <a:lstStyle/>
          <a:p>
            <a:pPr rtl="1" algn="r" indent="0" marL="0">
              <a:buNone/>
            </a:pPr>
            <a:r>
              <a:rPr lang="en-US" sz="1200" dirty="0">
                <a:solidFill>
                  <a:srgbClr val="4B5B6E"/>
                </a:solidFill>
                <a:latin typeface="Tajawal" pitchFamily="34" charset="0"/>
                <a:ea typeface="Tajawal" pitchFamily="34" charset="-122"/>
                <a:cs typeface="Tajawal" pitchFamily="34" charset="-120"/>
              </a:rPr>
              <a:t>لافتة واحدة عند مدخل الموقع</a:t>
            </a:r>
            <a:endParaRPr lang="en-US" sz="1200" dirty="0"/>
          </a:p>
        </p:txBody>
      </p:sp>
      <p:sp>
        <p:nvSpPr>
          <p:cNvPr id="17" name="Shape 14"/>
          <p:cNvSpPr/>
          <p:nvPr/>
        </p:nvSpPr>
        <p:spPr>
          <a:xfrm>
            <a:off x="777240" y="3712464"/>
            <a:ext cx="6035040" cy="420624"/>
          </a:xfrm>
          <a:prstGeom prst="roundRect">
            <a:avLst>
              <a:gd name="adj" fmla="val 17391"/>
            </a:avLst>
          </a:prstGeom>
          <a:solidFill>
            <a:srgbClr val="EEF3F9"/>
          </a:solidFill>
          <a:ln w="9525">
            <a:solidFill>
              <a:srgbClr val="D9E2EC"/>
            </a:solidFill>
            <a:prstDash val="solid"/>
          </a:ln>
        </p:spPr>
      </p:sp>
      <p:sp>
        <p:nvSpPr>
          <p:cNvPr id="18" name="Text 15"/>
          <p:cNvSpPr/>
          <p:nvPr/>
        </p:nvSpPr>
        <p:spPr>
          <a:xfrm>
            <a:off x="996696" y="3794760"/>
            <a:ext cx="5596128" cy="256032"/>
          </a:xfrm>
          <a:prstGeom prst="rect">
            <a:avLst/>
          </a:prstGeom>
          <a:noFill/>
          <a:ln/>
        </p:spPr>
        <p:txBody>
          <a:bodyPr wrap="square" lIns="0" tIns="0" rIns="0" bIns="0" rtlCol="0" anchor="ctr"/>
          <a:lstStyle/>
          <a:p>
            <a:pPr rtl="1" algn="r" indent="0" marL="0">
              <a:buNone/>
            </a:pPr>
            <a:r>
              <a:rPr lang="en-US" sz="1200" b="1" dirty="0">
                <a:solidFill>
                  <a:srgbClr val="2B3A4C"/>
                </a:solidFill>
                <a:latin typeface="Tajawal" pitchFamily="34" charset="0"/>
                <a:ea typeface="Tajawal" pitchFamily="34" charset="-122"/>
                <a:cs typeface="Tajawal" pitchFamily="34" charset="-120"/>
              </a:rPr>
              <a:t>يسمي النقش الذي أمامك بعينه</a:t>
            </a:r>
            <a:endParaRPr lang="en-US" sz="1200" dirty="0"/>
          </a:p>
        </p:txBody>
      </p:sp>
      <p:sp>
        <p:nvSpPr>
          <p:cNvPr id="19" name="Shape 16"/>
          <p:cNvSpPr/>
          <p:nvPr/>
        </p:nvSpPr>
        <p:spPr>
          <a:xfrm>
            <a:off x="6842455" y="4224528"/>
            <a:ext cx="4572000" cy="420624"/>
          </a:xfrm>
          <a:prstGeom prst="roundRect">
            <a:avLst>
              <a:gd name="adj" fmla="val 17391"/>
            </a:avLst>
          </a:prstGeom>
          <a:solidFill>
            <a:srgbClr val="F4F6F9"/>
          </a:solidFill>
          <a:ln w="9525">
            <a:solidFill>
              <a:srgbClr val="D9E2EC"/>
            </a:solidFill>
            <a:prstDash val="solid"/>
          </a:ln>
        </p:spPr>
      </p:sp>
      <p:sp>
        <p:nvSpPr>
          <p:cNvPr id="20" name="Text 17"/>
          <p:cNvSpPr/>
          <p:nvPr/>
        </p:nvSpPr>
        <p:spPr>
          <a:xfrm>
            <a:off x="7061911" y="4306824"/>
            <a:ext cx="4133088" cy="256032"/>
          </a:xfrm>
          <a:prstGeom prst="rect">
            <a:avLst/>
          </a:prstGeom>
          <a:noFill/>
          <a:ln/>
        </p:spPr>
        <p:txBody>
          <a:bodyPr wrap="square" lIns="0" tIns="0" rIns="0" bIns="0" rtlCol="0" anchor="ctr"/>
          <a:lstStyle/>
          <a:p>
            <a:pPr rtl="1" algn="r" indent="0" marL="0">
              <a:buNone/>
            </a:pPr>
            <a:r>
              <a:rPr lang="en-US" sz="1200" dirty="0">
                <a:solidFill>
                  <a:srgbClr val="4B5B6E"/>
                </a:solidFill>
                <a:latin typeface="Tajawal" pitchFamily="34" charset="0"/>
                <a:ea typeface="Tajawal" pitchFamily="34" charset="-122"/>
                <a:cs typeface="Tajawal" pitchFamily="34" charset="-120"/>
              </a:rPr>
              <a:t>مرشد بحجز مسبق وبلغات محدودة</a:t>
            </a:r>
            <a:endParaRPr lang="en-US" sz="1200" dirty="0"/>
          </a:p>
        </p:txBody>
      </p:sp>
      <p:sp>
        <p:nvSpPr>
          <p:cNvPr id="21" name="Shape 18"/>
          <p:cNvSpPr/>
          <p:nvPr/>
        </p:nvSpPr>
        <p:spPr>
          <a:xfrm>
            <a:off x="777240" y="4224528"/>
            <a:ext cx="6035040" cy="420624"/>
          </a:xfrm>
          <a:prstGeom prst="roundRect">
            <a:avLst>
              <a:gd name="adj" fmla="val 17391"/>
            </a:avLst>
          </a:prstGeom>
          <a:solidFill>
            <a:srgbClr val="EEF3F9"/>
          </a:solidFill>
          <a:ln w="9525">
            <a:solidFill>
              <a:srgbClr val="D9E2EC"/>
            </a:solidFill>
            <a:prstDash val="solid"/>
          </a:ln>
        </p:spPr>
      </p:sp>
      <p:sp>
        <p:nvSpPr>
          <p:cNvPr id="22" name="Text 19"/>
          <p:cNvSpPr/>
          <p:nvPr/>
        </p:nvSpPr>
        <p:spPr>
          <a:xfrm>
            <a:off x="996696" y="4306824"/>
            <a:ext cx="5596128" cy="256032"/>
          </a:xfrm>
          <a:prstGeom prst="rect">
            <a:avLst/>
          </a:prstGeom>
          <a:noFill/>
          <a:ln/>
        </p:spPr>
        <p:txBody>
          <a:bodyPr wrap="square" lIns="0" tIns="0" rIns="0" bIns="0" rtlCol="0" anchor="ctr"/>
          <a:lstStyle/>
          <a:p>
            <a:pPr rtl="1" algn="r" indent="0" marL="0">
              <a:buNone/>
            </a:pPr>
            <a:r>
              <a:rPr lang="en-US" sz="1200" b="1" dirty="0">
                <a:solidFill>
                  <a:srgbClr val="2B3A4C"/>
                </a:solidFill>
                <a:latin typeface="Tajawal" pitchFamily="34" charset="0"/>
                <a:ea typeface="Tajawal" pitchFamily="34" charset="-122"/>
                <a:cs typeface="Tajawal" pitchFamily="34" charset="-120"/>
              </a:rPr>
              <a:t>تسع وعشرون لغة، ولكل لغة صوت</a:t>
            </a:r>
            <a:endParaRPr lang="en-US" sz="1200" dirty="0"/>
          </a:p>
        </p:txBody>
      </p:sp>
      <p:sp>
        <p:nvSpPr>
          <p:cNvPr id="23" name="Shape 20"/>
          <p:cNvSpPr/>
          <p:nvPr/>
        </p:nvSpPr>
        <p:spPr>
          <a:xfrm>
            <a:off x="6842455" y="4736592"/>
            <a:ext cx="4572000" cy="420624"/>
          </a:xfrm>
          <a:prstGeom prst="roundRect">
            <a:avLst>
              <a:gd name="adj" fmla="val 17391"/>
            </a:avLst>
          </a:prstGeom>
          <a:solidFill>
            <a:srgbClr val="F4F6F9"/>
          </a:solidFill>
          <a:ln w="9525">
            <a:solidFill>
              <a:srgbClr val="D9E2EC"/>
            </a:solidFill>
            <a:prstDash val="solid"/>
          </a:ln>
        </p:spPr>
      </p:sp>
      <p:sp>
        <p:nvSpPr>
          <p:cNvPr id="24" name="Text 21"/>
          <p:cNvSpPr/>
          <p:nvPr/>
        </p:nvSpPr>
        <p:spPr>
          <a:xfrm>
            <a:off x="7061911" y="4818888"/>
            <a:ext cx="4133088" cy="256032"/>
          </a:xfrm>
          <a:prstGeom prst="rect">
            <a:avLst/>
          </a:prstGeom>
          <a:noFill/>
          <a:ln/>
        </p:spPr>
        <p:txBody>
          <a:bodyPr wrap="square" lIns="0" tIns="0" rIns="0" bIns="0" rtlCol="0" anchor="ctr"/>
          <a:lstStyle/>
          <a:p>
            <a:pPr rtl="1" algn="r" indent="0" marL="0">
              <a:buNone/>
            </a:pPr>
            <a:r>
              <a:rPr lang="en-US" sz="1200" dirty="0">
                <a:solidFill>
                  <a:srgbClr val="4B5B6E"/>
                </a:solidFill>
                <a:latin typeface="Tajawal" pitchFamily="34" charset="0"/>
                <a:ea typeface="Tajawal" pitchFamily="34" charset="-122"/>
                <a:cs typeface="Tajawal" pitchFamily="34" charset="-120"/>
              </a:rPr>
              <a:t>تطبيق سحابي يتوقف بلا تغطية</a:t>
            </a:r>
            <a:endParaRPr lang="en-US" sz="1200" dirty="0"/>
          </a:p>
        </p:txBody>
      </p:sp>
      <p:sp>
        <p:nvSpPr>
          <p:cNvPr id="25" name="Shape 22"/>
          <p:cNvSpPr/>
          <p:nvPr/>
        </p:nvSpPr>
        <p:spPr>
          <a:xfrm>
            <a:off x="777240" y="4736592"/>
            <a:ext cx="6035040" cy="420624"/>
          </a:xfrm>
          <a:prstGeom prst="roundRect">
            <a:avLst>
              <a:gd name="adj" fmla="val 17391"/>
            </a:avLst>
          </a:prstGeom>
          <a:solidFill>
            <a:srgbClr val="EEF3F9"/>
          </a:solidFill>
          <a:ln w="9525">
            <a:solidFill>
              <a:srgbClr val="D9E2EC"/>
            </a:solidFill>
            <a:prstDash val="solid"/>
          </a:ln>
        </p:spPr>
      </p:sp>
      <p:sp>
        <p:nvSpPr>
          <p:cNvPr id="26" name="Text 23"/>
          <p:cNvSpPr/>
          <p:nvPr/>
        </p:nvSpPr>
        <p:spPr>
          <a:xfrm>
            <a:off x="996696" y="4818888"/>
            <a:ext cx="5596128" cy="256032"/>
          </a:xfrm>
          <a:prstGeom prst="rect">
            <a:avLst/>
          </a:prstGeom>
          <a:noFill/>
          <a:ln/>
        </p:spPr>
        <p:txBody>
          <a:bodyPr wrap="square" lIns="0" tIns="0" rIns="0" bIns="0" rtlCol="0" anchor="ctr"/>
          <a:lstStyle/>
          <a:p>
            <a:pPr rtl="1" algn="r" indent="0" marL="0">
              <a:buNone/>
            </a:pPr>
            <a:r>
              <a:rPr lang="en-US" sz="1200" b="1" dirty="0">
                <a:solidFill>
                  <a:srgbClr val="2B3A4C"/>
                </a:solidFill>
                <a:latin typeface="Tajawal" pitchFamily="34" charset="0"/>
                <a:ea typeface="Tajawal" pitchFamily="34" charset="-122"/>
                <a:cs typeface="Tajawal" pitchFamily="34" charset="-120"/>
              </a:rPr>
              <a:t>يعمل كاملا بلا إنترنت</a:t>
            </a:r>
            <a:endParaRPr lang="en-US" sz="1200" dirty="0"/>
          </a:p>
        </p:txBody>
      </p:sp>
      <p:sp>
        <p:nvSpPr>
          <p:cNvPr id="27" name="Shape 24"/>
          <p:cNvSpPr/>
          <p:nvPr/>
        </p:nvSpPr>
        <p:spPr>
          <a:xfrm>
            <a:off x="6842455" y="5248656"/>
            <a:ext cx="4572000" cy="420624"/>
          </a:xfrm>
          <a:prstGeom prst="roundRect">
            <a:avLst>
              <a:gd name="adj" fmla="val 17391"/>
            </a:avLst>
          </a:prstGeom>
          <a:solidFill>
            <a:srgbClr val="F4F6F9"/>
          </a:solidFill>
          <a:ln w="9525">
            <a:solidFill>
              <a:srgbClr val="D9E2EC"/>
            </a:solidFill>
            <a:prstDash val="solid"/>
          </a:ln>
        </p:spPr>
      </p:sp>
      <p:sp>
        <p:nvSpPr>
          <p:cNvPr id="28" name="Text 25"/>
          <p:cNvSpPr/>
          <p:nvPr/>
        </p:nvSpPr>
        <p:spPr>
          <a:xfrm>
            <a:off x="7061911" y="5330952"/>
            <a:ext cx="4133088" cy="256032"/>
          </a:xfrm>
          <a:prstGeom prst="rect">
            <a:avLst/>
          </a:prstGeom>
          <a:noFill/>
          <a:ln/>
        </p:spPr>
        <p:txBody>
          <a:bodyPr wrap="square" lIns="0" tIns="0" rIns="0" bIns="0" rtlCol="0" anchor="ctr"/>
          <a:lstStyle/>
          <a:p>
            <a:pPr rtl="1" algn="r" indent="0" marL="0">
              <a:buNone/>
            </a:pPr>
            <a:r>
              <a:rPr lang="en-US" sz="1200" dirty="0">
                <a:solidFill>
                  <a:srgbClr val="4B5B6E"/>
                </a:solidFill>
                <a:latin typeface="Tajawal" pitchFamily="34" charset="0"/>
                <a:ea typeface="Tajawal" pitchFamily="34" charset="-122"/>
                <a:cs typeface="Tajawal" pitchFamily="34" charset="-120"/>
              </a:rPr>
              <a:t>بحث بالصور يعطي نتيجة عامة</a:t>
            </a:r>
            <a:endParaRPr lang="en-US" sz="1200" dirty="0"/>
          </a:p>
        </p:txBody>
      </p:sp>
      <p:sp>
        <p:nvSpPr>
          <p:cNvPr id="29" name="Shape 26"/>
          <p:cNvSpPr/>
          <p:nvPr/>
        </p:nvSpPr>
        <p:spPr>
          <a:xfrm>
            <a:off x="777240" y="5248656"/>
            <a:ext cx="6035040" cy="420624"/>
          </a:xfrm>
          <a:prstGeom prst="roundRect">
            <a:avLst>
              <a:gd name="adj" fmla="val 17391"/>
            </a:avLst>
          </a:prstGeom>
          <a:solidFill>
            <a:srgbClr val="EEF3F9"/>
          </a:solidFill>
          <a:ln w="9525">
            <a:solidFill>
              <a:srgbClr val="D9E2EC"/>
            </a:solidFill>
            <a:prstDash val="solid"/>
          </a:ln>
        </p:spPr>
      </p:sp>
      <p:sp>
        <p:nvSpPr>
          <p:cNvPr id="30" name="Text 27"/>
          <p:cNvSpPr/>
          <p:nvPr/>
        </p:nvSpPr>
        <p:spPr>
          <a:xfrm>
            <a:off x="996696" y="5330952"/>
            <a:ext cx="5596128" cy="256032"/>
          </a:xfrm>
          <a:prstGeom prst="rect">
            <a:avLst/>
          </a:prstGeom>
          <a:noFill/>
          <a:ln/>
        </p:spPr>
        <p:txBody>
          <a:bodyPr wrap="square" lIns="0" tIns="0" rIns="0" bIns="0" rtlCol="0" anchor="ctr"/>
          <a:lstStyle/>
          <a:p>
            <a:pPr rtl="1" algn="r" indent="0" marL="0">
              <a:buNone/>
            </a:pPr>
            <a:r>
              <a:rPr lang="en-US" sz="1200" b="1" dirty="0">
                <a:solidFill>
                  <a:srgbClr val="2B3A4C"/>
                </a:solidFill>
                <a:latin typeface="Tajawal" pitchFamily="34" charset="0"/>
                <a:ea typeface="Tajawal" pitchFamily="34" charset="-122"/>
                <a:cs typeface="Tajawal" pitchFamily="34" charset="-120"/>
              </a:rPr>
              <a:t>مبني على 200 صورة من جبة نفسها</a:t>
            </a:r>
            <a:endParaRPr lang="en-US" sz="1200" dirty="0"/>
          </a:p>
        </p:txBody>
      </p:sp>
      <p:sp>
        <p:nvSpPr>
          <p:cNvPr id="31" name="Shape 28"/>
          <p:cNvSpPr/>
          <p:nvPr/>
        </p:nvSpPr>
        <p:spPr>
          <a:xfrm>
            <a:off x="6842455" y="5760720"/>
            <a:ext cx="4572000" cy="420624"/>
          </a:xfrm>
          <a:prstGeom prst="roundRect">
            <a:avLst>
              <a:gd name="adj" fmla="val 17391"/>
            </a:avLst>
          </a:prstGeom>
          <a:solidFill>
            <a:srgbClr val="F4F6F9"/>
          </a:solidFill>
          <a:ln w="9525">
            <a:solidFill>
              <a:srgbClr val="D9E2EC"/>
            </a:solidFill>
            <a:prstDash val="solid"/>
          </a:ln>
        </p:spPr>
      </p:sp>
      <p:sp>
        <p:nvSpPr>
          <p:cNvPr id="32" name="Text 29"/>
          <p:cNvSpPr/>
          <p:nvPr/>
        </p:nvSpPr>
        <p:spPr>
          <a:xfrm>
            <a:off x="7061911" y="5843016"/>
            <a:ext cx="4133088" cy="256032"/>
          </a:xfrm>
          <a:prstGeom prst="rect">
            <a:avLst/>
          </a:prstGeom>
          <a:noFill/>
          <a:ln/>
        </p:spPr>
        <p:txBody>
          <a:bodyPr wrap="square" lIns="0" tIns="0" rIns="0" bIns="0" rtlCol="0" anchor="ctr"/>
          <a:lstStyle/>
          <a:p>
            <a:pPr rtl="1" algn="r" indent="0" marL="0">
              <a:buNone/>
            </a:pPr>
            <a:r>
              <a:rPr lang="en-US" sz="1200" dirty="0">
                <a:solidFill>
                  <a:srgbClr val="4B5B6E"/>
                </a:solidFill>
                <a:latin typeface="Tajawal" pitchFamily="34" charset="0"/>
                <a:ea typeface="Tajawal" pitchFamily="34" charset="-122"/>
                <a:cs typeface="Tajawal" pitchFamily="34" charset="-120"/>
              </a:rPr>
              <a:t>تصور الصخرة في ChatGPT فيقول: نقوش صخرية، وبإنترنت فقط</a:t>
            </a:r>
            <a:endParaRPr lang="en-US" sz="1200" dirty="0"/>
          </a:p>
        </p:txBody>
      </p:sp>
      <p:sp>
        <p:nvSpPr>
          <p:cNvPr id="33" name="Shape 30"/>
          <p:cNvSpPr/>
          <p:nvPr/>
        </p:nvSpPr>
        <p:spPr>
          <a:xfrm>
            <a:off x="777240" y="5760720"/>
            <a:ext cx="6035040" cy="420624"/>
          </a:xfrm>
          <a:prstGeom prst="roundRect">
            <a:avLst>
              <a:gd name="adj" fmla="val 17391"/>
            </a:avLst>
          </a:prstGeom>
          <a:solidFill>
            <a:srgbClr val="E9E2FB"/>
          </a:solidFill>
          <a:ln w="9525">
            <a:solidFill>
              <a:srgbClr val="D9E2EC"/>
            </a:solidFill>
            <a:prstDash val="solid"/>
          </a:ln>
        </p:spPr>
      </p:sp>
      <p:sp>
        <p:nvSpPr>
          <p:cNvPr id="34" name="Text 31"/>
          <p:cNvSpPr/>
          <p:nvPr/>
        </p:nvSpPr>
        <p:spPr>
          <a:xfrm>
            <a:off x="996696" y="5843016"/>
            <a:ext cx="5596128" cy="256032"/>
          </a:xfrm>
          <a:prstGeom prst="rect">
            <a:avLst/>
          </a:prstGeom>
          <a:noFill/>
          <a:ln/>
        </p:spPr>
        <p:txBody>
          <a:bodyPr wrap="square" lIns="0" tIns="0" rIns="0" bIns="0" rtlCol="0" anchor="ctr"/>
          <a:lstStyle/>
          <a:p>
            <a:pPr rtl="1" algn="r" indent="0" marL="0">
              <a:buNone/>
            </a:pPr>
            <a:r>
              <a:rPr lang="en-US" sz="1200" b="1" dirty="0">
                <a:solidFill>
                  <a:srgbClr val="4B2E9E"/>
                </a:solidFill>
                <a:latin typeface="Tajawal" pitchFamily="34" charset="0"/>
                <a:ea typeface="Tajawal" pitchFamily="34" charset="-122"/>
                <a:cs typeface="Tajawal" pitchFamily="34" charset="-120"/>
              </a:rPr>
              <a:t>تصورها بماسح أثر فيقول: هذا نقش الأسد ومروضه، ويروي قصته بلا شبكة</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02</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توظيف الذكاء الاصطناعي</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توظيف الذكاء الاصطناعي</a:t>
            </a:r>
            <a:endParaRPr lang="en-US" sz="2600" dirty="0"/>
          </a:p>
        </p:txBody>
      </p:sp>
      <p:sp>
        <p:nvSpPr>
          <p:cNvPr id="4" name="Shape 1"/>
          <p:cNvSpPr/>
          <p:nvPr/>
        </p:nvSpPr>
        <p:spPr>
          <a:xfrm>
            <a:off x="9082735" y="1234440"/>
            <a:ext cx="2331720" cy="4297680"/>
          </a:xfrm>
          <a:prstGeom prst="roundRect">
            <a:avLst>
              <a:gd name="adj" fmla="val 3137"/>
            </a:avLst>
          </a:prstGeom>
          <a:solidFill>
            <a:srgbClr val="F4F6F9"/>
          </a:solidFill>
          <a:ln w="9525">
            <a:solidFill>
              <a:srgbClr val="D9E2EC"/>
            </a:solidFill>
            <a:prstDash val="solid"/>
          </a:ln>
        </p:spPr>
      </p:sp>
      <p:pic>
        <p:nvPicPr>
          <p:cNvPr id="5" name="Image 1" descr="preencoded.png">    </p:cNvPr>
          <p:cNvPicPr>
            <a:picLocks noChangeAspect="1"/>
          </p:cNvPicPr>
          <p:nvPr/>
        </p:nvPicPr>
        <p:blipFill>
          <a:blip r:embed="rId2"/>
          <a:stretch>
            <a:fillRect/>
          </a:stretch>
        </p:blipFill>
        <p:spPr>
          <a:xfrm>
            <a:off x="9631375" y="1481328"/>
            <a:ext cx="1234440" cy="925830"/>
          </a:xfrm>
          <a:prstGeom prst="rect">
            <a:avLst/>
          </a:prstGeom>
        </p:spPr>
      </p:pic>
      <p:sp>
        <p:nvSpPr>
          <p:cNvPr id="6" name="Text 2"/>
          <p:cNvSpPr/>
          <p:nvPr/>
        </p:nvSpPr>
        <p:spPr>
          <a:xfrm>
            <a:off x="9082735" y="2450592"/>
            <a:ext cx="2331720" cy="237744"/>
          </a:xfrm>
          <a:prstGeom prst="rect">
            <a:avLst/>
          </a:prstGeom>
          <a:noFill/>
          <a:ln/>
        </p:spPr>
        <p:txBody>
          <a:bodyPr wrap="square" lIns="0" tIns="0" rIns="0" bIns="0" rtlCol="0" anchor="ctr"/>
          <a:lstStyle/>
          <a:p>
            <a:pPr rtl="1" algn="ctr" indent="0" marL="0">
              <a:buNone/>
            </a:pPr>
            <a:r>
              <a:rPr lang="en-US" sz="1000" dirty="0">
                <a:solidFill>
                  <a:srgbClr val="4B5B6E"/>
                </a:solidFill>
                <a:latin typeface="Tajawal" pitchFamily="34" charset="0"/>
                <a:ea typeface="Tajawal" pitchFamily="34" charset="-122"/>
                <a:cs typeface="Tajawal" pitchFamily="34" charset="-120"/>
              </a:rPr>
              <a:t>السائح يصور النقش</a:t>
            </a:r>
            <a:endParaRPr lang="en-US" sz="1000" dirty="0"/>
          </a:p>
        </p:txBody>
      </p:sp>
      <p:sp>
        <p:nvSpPr>
          <p:cNvPr id="7" name="Text 3"/>
          <p:cNvSpPr/>
          <p:nvPr/>
        </p:nvSpPr>
        <p:spPr>
          <a:xfrm>
            <a:off x="9082735" y="2724912"/>
            <a:ext cx="2331720" cy="219456"/>
          </a:xfrm>
          <a:prstGeom prst="rect">
            <a:avLst/>
          </a:prstGeom>
          <a:noFill/>
          <a:ln/>
        </p:spPr>
        <p:txBody>
          <a:bodyPr wrap="square" lIns="0" tIns="0" rIns="0" bIns="0" rtlCol="0" anchor="ctr"/>
          <a:lstStyle/>
          <a:p>
            <a:pPr algn="ctr" indent="0" marL="0">
              <a:buNone/>
            </a:pPr>
            <a:r>
              <a:rPr lang="en-US" sz="1200" dirty="0">
                <a:solidFill>
                  <a:srgbClr val="8357F6"/>
                </a:solidFill>
                <a:latin typeface="Calibri" pitchFamily="34" charset="0"/>
                <a:ea typeface="Calibri" pitchFamily="34" charset="-122"/>
                <a:cs typeface="Calibri" pitchFamily="34" charset="-120"/>
              </a:rPr>
              <a:t>▼</a:t>
            </a:r>
            <a:endParaRPr lang="en-US" sz="1200" dirty="0"/>
          </a:p>
        </p:txBody>
      </p:sp>
      <p:sp>
        <p:nvSpPr>
          <p:cNvPr id="8" name="Shape 4"/>
          <p:cNvSpPr/>
          <p:nvPr/>
        </p:nvSpPr>
        <p:spPr>
          <a:xfrm>
            <a:off x="9631375" y="2980944"/>
            <a:ext cx="1234440" cy="530352"/>
          </a:xfrm>
          <a:prstGeom prst="roundRect">
            <a:avLst>
              <a:gd name="adj" fmla="val 13793"/>
            </a:avLst>
          </a:prstGeom>
          <a:solidFill>
            <a:srgbClr val="FFFFFF"/>
          </a:solidFill>
          <a:ln w="9525">
            <a:solidFill>
              <a:srgbClr val="D9E2EC"/>
            </a:solidFill>
            <a:prstDash val="solid"/>
          </a:ln>
        </p:spPr>
      </p:sp>
      <p:sp>
        <p:nvSpPr>
          <p:cNvPr id="9" name="Text 5"/>
          <p:cNvSpPr/>
          <p:nvPr/>
        </p:nvSpPr>
        <p:spPr>
          <a:xfrm>
            <a:off x="9631375" y="3044952"/>
            <a:ext cx="1234440" cy="219456"/>
          </a:xfrm>
          <a:prstGeom prst="rect">
            <a:avLst/>
          </a:prstGeom>
          <a:noFill/>
          <a:ln/>
        </p:spPr>
        <p:txBody>
          <a:bodyPr wrap="square" lIns="0" tIns="0" rIns="0" bIns="0" rtlCol="0" anchor="ctr"/>
          <a:lstStyle/>
          <a:p>
            <a:pPr algn="ctr" indent="0" marL="0">
              <a:buNone/>
            </a:pPr>
            <a:r>
              <a:rPr lang="en-US" sz="950" dirty="0">
                <a:solidFill>
                  <a:srgbClr val="255174"/>
                </a:solidFill>
                <a:latin typeface="Courier New" pitchFamily="34" charset="0"/>
                <a:ea typeface="Courier New" pitchFamily="34" charset="-122"/>
                <a:cs typeface="Courier New" pitchFamily="34" charset="-120"/>
              </a:rPr>
              <a:t>0.417   0.902</a:t>
            </a:r>
            <a:endParaRPr lang="en-US" sz="950" dirty="0"/>
          </a:p>
        </p:txBody>
      </p:sp>
      <p:sp>
        <p:nvSpPr>
          <p:cNvPr id="10" name="Text 6"/>
          <p:cNvSpPr/>
          <p:nvPr/>
        </p:nvSpPr>
        <p:spPr>
          <a:xfrm>
            <a:off x="9631375" y="3246120"/>
            <a:ext cx="1234440" cy="219456"/>
          </a:xfrm>
          <a:prstGeom prst="rect">
            <a:avLst/>
          </a:prstGeom>
          <a:noFill/>
          <a:ln/>
        </p:spPr>
        <p:txBody>
          <a:bodyPr wrap="square" lIns="0" tIns="0" rIns="0" bIns="0" rtlCol="0" anchor="ctr"/>
          <a:lstStyle/>
          <a:p>
            <a:pPr algn="ctr" indent="0" marL="0">
              <a:buNone/>
            </a:pPr>
            <a:r>
              <a:rPr lang="en-US" sz="950" dirty="0">
                <a:solidFill>
                  <a:srgbClr val="255174"/>
                </a:solidFill>
                <a:latin typeface="Courier New" pitchFamily="34" charset="0"/>
                <a:ea typeface="Courier New" pitchFamily="34" charset="-122"/>
                <a:cs typeface="Courier New" pitchFamily="34" charset="-120"/>
              </a:rPr>
              <a:t>0.773   0.264</a:t>
            </a:r>
            <a:endParaRPr lang="en-US" sz="950" dirty="0"/>
          </a:p>
        </p:txBody>
      </p:sp>
      <p:sp>
        <p:nvSpPr>
          <p:cNvPr id="11" name="Text 7"/>
          <p:cNvSpPr/>
          <p:nvPr/>
        </p:nvSpPr>
        <p:spPr>
          <a:xfrm>
            <a:off x="9082735" y="3547872"/>
            <a:ext cx="2331720" cy="237744"/>
          </a:xfrm>
          <a:prstGeom prst="rect">
            <a:avLst/>
          </a:prstGeom>
          <a:noFill/>
          <a:ln/>
        </p:spPr>
        <p:txBody>
          <a:bodyPr wrap="square" lIns="0" tIns="0" rIns="0" bIns="0" rtlCol="0" anchor="ctr"/>
          <a:lstStyle/>
          <a:p>
            <a:pPr rtl="1" algn="ctr" indent="0" marL="0">
              <a:buNone/>
            </a:pPr>
            <a:r>
              <a:rPr lang="en-US" sz="1000" dirty="0">
                <a:solidFill>
                  <a:srgbClr val="4B5B6E"/>
                </a:solidFill>
                <a:latin typeface="Tajawal" pitchFamily="34" charset="0"/>
                <a:ea typeface="Tajawal" pitchFamily="34" charset="-122"/>
                <a:cs typeface="Tajawal" pitchFamily="34" charset="-120"/>
              </a:rPr>
              <a:t>النموذج يلخص شكله في أرقام</a:t>
            </a:r>
            <a:endParaRPr lang="en-US" sz="1000" dirty="0"/>
          </a:p>
        </p:txBody>
      </p:sp>
      <p:sp>
        <p:nvSpPr>
          <p:cNvPr id="12" name="Text 8"/>
          <p:cNvSpPr/>
          <p:nvPr/>
        </p:nvSpPr>
        <p:spPr>
          <a:xfrm>
            <a:off x="9082735" y="3822192"/>
            <a:ext cx="2331720" cy="219456"/>
          </a:xfrm>
          <a:prstGeom prst="rect">
            <a:avLst/>
          </a:prstGeom>
          <a:noFill/>
          <a:ln/>
        </p:spPr>
        <p:txBody>
          <a:bodyPr wrap="square" lIns="0" tIns="0" rIns="0" bIns="0" rtlCol="0" anchor="ctr"/>
          <a:lstStyle/>
          <a:p>
            <a:pPr algn="ctr" indent="0" marL="0">
              <a:buNone/>
            </a:pPr>
            <a:r>
              <a:rPr lang="en-US" sz="1200" dirty="0">
                <a:solidFill>
                  <a:srgbClr val="8357F6"/>
                </a:solidFill>
                <a:latin typeface="Calibri" pitchFamily="34" charset="0"/>
                <a:ea typeface="Calibri" pitchFamily="34" charset="-122"/>
                <a:cs typeface="Calibri" pitchFamily="34" charset="-120"/>
              </a:rPr>
              <a:t>▼</a:t>
            </a:r>
            <a:endParaRPr lang="en-US" sz="1200" dirty="0"/>
          </a:p>
        </p:txBody>
      </p:sp>
      <p:sp>
        <p:nvSpPr>
          <p:cNvPr id="13" name="Shape 9"/>
          <p:cNvSpPr/>
          <p:nvPr/>
        </p:nvSpPr>
        <p:spPr>
          <a:xfrm>
            <a:off x="9576511" y="4096512"/>
            <a:ext cx="1344168" cy="1035558"/>
          </a:xfrm>
          <a:prstGeom prst="roundRect">
            <a:avLst>
              <a:gd name="adj" fmla="val 4415"/>
            </a:avLst>
          </a:prstGeom>
          <a:solidFill>
            <a:srgbClr val="8357F6"/>
          </a:solidFill>
          <a:ln w="12700">
            <a:solidFill>
              <a:srgbClr val="333333"/>
            </a:solidFill>
            <a:prstDash val="solid"/>
          </a:ln>
        </p:spPr>
      </p:sp>
      <p:pic>
        <p:nvPicPr>
          <p:cNvPr id="14" name="Image 2" descr="preencoded.png">    </p:cNvPr>
          <p:cNvPicPr>
            <a:picLocks noChangeAspect="1"/>
          </p:cNvPicPr>
          <p:nvPr/>
        </p:nvPicPr>
        <p:blipFill>
          <a:blip r:embed="rId3"/>
          <a:stretch>
            <a:fillRect/>
          </a:stretch>
        </p:blipFill>
        <p:spPr>
          <a:xfrm>
            <a:off x="9631375" y="4151376"/>
            <a:ext cx="1234440" cy="925830"/>
          </a:xfrm>
          <a:prstGeom prst="rect">
            <a:avLst/>
          </a:prstGeom>
        </p:spPr>
      </p:pic>
      <p:sp>
        <p:nvSpPr>
          <p:cNvPr id="15" name="Text 10"/>
          <p:cNvSpPr/>
          <p:nvPr/>
        </p:nvSpPr>
        <p:spPr>
          <a:xfrm>
            <a:off x="9082735" y="5230368"/>
            <a:ext cx="2331720" cy="237744"/>
          </a:xfrm>
          <a:prstGeom prst="rect">
            <a:avLst/>
          </a:prstGeom>
          <a:noFill/>
          <a:ln/>
        </p:spPr>
        <p:txBody>
          <a:bodyPr wrap="square" lIns="0" tIns="0" rIns="0" bIns="0" rtlCol="0" anchor="ctr"/>
          <a:lstStyle/>
          <a:p>
            <a:pPr rtl="1" algn="ctr" indent="0" marL="0">
              <a:buNone/>
            </a:pPr>
            <a:r>
              <a:rPr lang="en-US" sz="1000" dirty="0">
                <a:solidFill>
                  <a:srgbClr val="4B5B6E"/>
                </a:solidFill>
                <a:latin typeface="Tajawal" pitchFamily="34" charset="0"/>
                <a:ea typeface="Tajawal" pitchFamily="34" charset="-122"/>
                <a:cs typeface="Tajawal" pitchFamily="34" charset="-120"/>
              </a:rPr>
              <a:t>يطابقها بالنقوش فيعرف اسمه</a:t>
            </a:r>
            <a:endParaRPr lang="en-US" sz="1000" dirty="0"/>
          </a:p>
        </p:txBody>
      </p:sp>
      <p:sp>
        <p:nvSpPr>
          <p:cNvPr id="16" name="Shape 11"/>
          <p:cNvSpPr/>
          <p:nvPr/>
        </p:nvSpPr>
        <p:spPr>
          <a:xfrm>
            <a:off x="777240" y="1234440"/>
            <a:ext cx="7985455" cy="1225296"/>
          </a:xfrm>
          <a:prstGeom prst="roundRect">
            <a:avLst>
              <a:gd name="adj" fmla="val 5970"/>
            </a:avLst>
          </a:prstGeom>
          <a:solidFill>
            <a:srgbClr val="EEF3F9"/>
          </a:solidFill>
          <a:ln w="9525">
            <a:solidFill>
              <a:srgbClr val="D9E2EC"/>
            </a:solidFill>
            <a:prstDash val="solid"/>
          </a:ln>
        </p:spPr>
      </p:sp>
      <p:sp>
        <p:nvSpPr>
          <p:cNvPr id="17" name="Text 12"/>
          <p:cNvSpPr/>
          <p:nvPr/>
        </p:nvSpPr>
        <p:spPr>
          <a:xfrm>
            <a:off x="1014984" y="1380744"/>
            <a:ext cx="7509967" cy="292608"/>
          </a:xfrm>
          <a:prstGeom prst="rect">
            <a:avLst/>
          </a:prstGeom>
          <a:noFill/>
          <a:ln/>
        </p:spPr>
        <p:txBody>
          <a:bodyPr wrap="square" lIns="0" tIns="0" rIns="0" bIns="0" rtlCol="0" anchor="ctr"/>
          <a:lstStyle/>
          <a:p>
            <a:pPr rtl="1" algn="r" indent="0" marL="0">
              <a:buNone/>
            </a:pPr>
            <a:r>
              <a:rPr lang="en-US" sz="1350" b="1" dirty="0">
                <a:solidFill>
                  <a:srgbClr val="8357F6"/>
                </a:solidFill>
                <a:latin typeface="Tajawal" pitchFamily="34" charset="0"/>
                <a:ea typeface="Tajawal" pitchFamily="34" charset="-122"/>
                <a:cs typeface="Tajawal" pitchFamily="34" charset="-120"/>
              </a:rPr>
              <a:t>جوهرية الذكاء الاصطناعي في الحل</a:t>
            </a:r>
            <a:endParaRPr lang="en-US" sz="1350" dirty="0"/>
          </a:p>
        </p:txBody>
      </p:sp>
      <p:sp>
        <p:nvSpPr>
          <p:cNvPr id="18" name="Text 13"/>
          <p:cNvSpPr/>
          <p:nvPr/>
        </p:nvSpPr>
        <p:spPr>
          <a:xfrm>
            <a:off x="1014984" y="1728216"/>
            <a:ext cx="7509967" cy="585216"/>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التعرف على النقش هو المنتج نفسه، ويقوم على نموذج DINOv3 من Meta، المدرب على ملايين الصور فصار يميز الأشكال وحده</a:t>
            </a:r>
            <a:endParaRPr lang="en-US" sz="1250" dirty="0"/>
          </a:p>
        </p:txBody>
      </p:sp>
      <p:sp>
        <p:nvSpPr>
          <p:cNvPr id="19" name="Shape 14"/>
          <p:cNvSpPr/>
          <p:nvPr/>
        </p:nvSpPr>
        <p:spPr>
          <a:xfrm>
            <a:off x="777240" y="2642616"/>
            <a:ext cx="7985455" cy="1572768"/>
          </a:xfrm>
          <a:prstGeom prst="roundRect">
            <a:avLst>
              <a:gd name="adj" fmla="val 4651"/>
            </a:avLst>
          </a:prstGeom>
          <a:solidFill>
            <a:srgbClr val="EEF3F9"/>
          </a:solidFill>
          <a:ln w="9525">
            <a:solidFill>
              <a:srgbClr val="D9E2EC"/>
            </a:solidFill>
            <a:prstDash val="solid"/>
          </a:ln>
        </p:spPr>
      </p:sp>
      <p:sp>
        <p:nvSpPr>
          <p:cNvPr id="20" name="Text 15"/>
          <p:cNvSpPr/>
          <p:nvPr/>
        </p:nvSpPr>
        <p:spPr>
          <a:xfrm>
            <a:off x="1014984" y="2788920"/>
            <a:ext cx="7509967" cy="292608"/>
          </a:xfrm>
          <a:prstGeom prst="rect">
            <a:avLst/>
          </a:prstGeom>
          <a:noFill/>
          <a:ln/>
        </p:spPr>
        <p:txBody>
          <a:bodyPr wrap="square" lIns="0" tIns="0" rIns="0" bIns="0" rtlCol="0" anchor="ctr"/>
          <a:lstStyle/>
          <a:p>
            <a:pPr rtl="1" algn="r" indent="0" marL="0">
              <a:buNone/>
            </a:pPr>
            <a:r>
              <a:rPr lang="en-US" sz="1350" b="1" dirty="0">
                <a:solidFill>
                  <a:srgbClr val="8357F6"/>
                </a:solidFill>
                <a:latin typeface="Tajawal" pitchFamily="34" charset="0"/>
                <a:ea typeface="Tajawal" pitchFamily="34" charset="-122"/>
                <a:cs typeface="Tajawal" pitchFamily="34" charset="-120"/>
              </a:rPr>
              <a:t>ملاءمة استخدامه للمشكلة</a:t>
            </a:r>
            <a:endParaRPr lang="en-US" sz="1350" dirty="0"/>
          </a:p>
        </p:txBody>
      </p:sp>
      <p:sp>
        <p:nvSpPr>
          <p:cNvPr id="21" name="Text 16"/>
          <p:cNvSpPr/>
          <p:nvPr/>
        </p:nvSpPr>
        <p:spPr>
          <a:xfrm>
            <a:off x="1014984" y="3136392"/>
            <a:ext cx="7509967" cy="932688"/>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المشكلة صورة لا نص، والموقع بلا شبكة، فاخترنا نموذجا يعمل داخل الجوال، وبنينا فوقه فهرسا من 200 صورة ميدانية</a:t>
            </a:r>
            <a:endParaRPr lang="en-US" sz="1250" dirty="0"/>
          </a:p>
        </p:txBody>
      </p:sp>
      <p:sp>
        <p:nvSpPr>
          <p:cNvPr id="22" name="Shape 17"/>
          <p:cNvSpPr/>
          <p:nvPr/>
        </p:nvSpPr>
        <p:spPr>
          <a:xfrm>
            <a:off x="777240" y="4398264"/>
            <a:ext cx="7985455" cy="1133856"/>
          </a:xfrm>
          <a:prstGeom prst="roundRect">
            <a:avLst>
              <a:gd name="adj" fmla="val 6452"/>
            </a:avLst>
          </a:prstGeom>
          <a:solidFill>
            <a:srgbClr val="EEF3F9"/>
          </a:solidFill>
          <a:ln w="9525">
            <a:solidFill>
              <a:srgbClr val="D9E2EC"/>
            </a:solidFill>
            <a:prstDash val="solid"/>
          </a:ln>
        </p:spPr>
      </p:sp>
      <p:sp>
        <p:nvSpPr>
          <p:cNvPr id="23" name="Text 18"/>
          <p:cNvSpPr/>
          <p:nvPr/>
        </p:nvSpPr>
        <p:spPr>
          <a:xfrm>
            <a:off x="1014984" y="4544568"/>
            <a:ext cx="7509967" cy="292608"/>
          </a:xfrm>
          <a:prstGeom prst="rect">
            <a:avLst/>
          </a:prstGeom>
          <a:noFill/>
          <a:ln/>
        </p:spPr>
        <p:txBody>
          <a:bodyPr wrap="square" lIns="0" tIns="0" rIns="0" bIns="0" rtlCol="0" anchor="ctr"/>
          <a:lstStyle/>
          <a:p>
            <a:pPr rtl="1" algn="r" indent="0" marL="0">
              <a:buNone/>
            </a:pPr>
            <a:r>
              <a:rPr lang="en-US" sz="1350" b="1" dirty="0">
                <a:solidFill>
                  <a:srgbClr val="8357F6"/>
                </a:solidFill>
                <a:latin typeface="Tajawal" pitchFamily="34" charset="0"/>
                <a:ea typeface="Tajawal" pitchFamily="34" charset="-122"/>
                <a:cs typeface="Tajawal" pitchFamily="34" charset="-120"/>
              </a:rPr>
              <a:t>القيمة الحقيقية المضافة</a:t>
            </a:r>
            <a:endParaRPr lang="en-US" sz="1350" dirty="0"/>
          </a:p>
        </p:txBody>
      </p:sp>
      <p:sp>
        <p:nvSpPr>
          <p:cNvPr id="24" name="Text 19"/>
          <p:cNvSpPr/>
          <p:nvPr/>
        </p:nvSpPr>
        <p:spPr>
          <a:xfrm>
            <a:off x="1014984" y="4892040"/>
            <a:ext cx="7509967" cy="493776"/>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يتحسن مع كل تصحيح من السياح، ونوظف الذكاء الاصطناعي مرة أخرى في توليد الرواية المسموعة في 29 لغة</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03</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حاجة السوق والقيمة المقدمة</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حاجة السوق والقيمة المقدمة</a:t>
            </a:r>
            <a:endParaRPr lang="en-US" sz="2600" dirty="0"/>
          </a:p>
        </p:txBody>
      </p:sp>
      <p:sp>
        <p:nvSpPr>
          <p:cNvPr id="4" name="Shape 1"/>
          <p:cNvSpPr/>
          <p:nvPr/>
        </p:nvSpPr>
        <p:spPr>
          <a:xfrm>
            <a:off x="6233008" y="1234440"/>
            <a:ext cx="5181448" cy="1783080"/>
          </a:xfrm>
          <a:prstGeom prst="roundRect">
            <a:avLst>
              <a:gd name="adj" fmla="val 4103"/>
            </a:avLst>
          </a:prstGeom>
          <a:solidFill>
            <a:srgbClr val="EEF3F9"/>
          </a:solidFill>
          <a:ln w="9525">
            <a:solidFill>
              <a:srgbClr val="D9E2EC"/>
            </a:solidFill>
            <a:prstDash val="solid"/>
          </a:ln>
        </p:spPr>
      </p:sp>
      <p:pic>
        <p:nvPicPr>
          <p:cNvPr id="5" name="Image 1" descr="preencoded.png">    </p:cNvPr>
          <p:cNvPicPr>
            <a:picLocks noChangeAspect="1"/>
          </p:cNvPicPr>
          <p:nvPr/>
        </p:nvPicPr>
        <p:blipFill>
          <a:blip r:embed="rId2"/>
          <a:stretch>
            <a:fillRect/>
          </a:stretch>
        </p:blipFill>
        <p:spPr>
          <a:xfrm>
            <a:off x="6489040" y="1453896"/>
            <a:ext cx="560349" cy="457200"/>
          </a:xfrm>
          <a:prstGeom prst="rect">
            <a:avLst/>
          </a:prstGeom>
        </p:spPr>
      </p:pic>
      <p:sp>
        <p:nvSpPr>
          <p:cNvPr id="6" name="Text 2"/>
          <p:cNvSpPr/>
          <p:nvPr/>
        </p:nvSpPr>
        <p:spPr>
          <a:xfrm>
            <a:off x="6507328" y="1472184"/>
            <a:ext cx="3889579"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المشكلة</a:t>
            </a:r>
            <a:endParaRPr lang="en-US" sz="1500" dirty="0"/>
          </a:p>
        </p:txBody>
      </p:sp>
      <p:sp>
        <p:nvSpPr>
          <p:cNvPr id="7" name="Text 3"/>
          <p:cNvSpPr/>
          <p:nvPr/>
        </p:nvSpPr>
        <p:spPr>
          <a:xfrm>
            <a:off x="6507328" y="2020824"/>
            <a:ext cx="4632808" cy="832104"/>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في مواقع التراث حول العالم آلاف النقوش الصخرية، والسائح يقف أمامها لا يعرف ما يرى</a:t>
            </a:r>
            <a:endParaRPr lang="en-US" sz="1250" dirty="0"/>
          </a:p>
        </p:txBody>
      </p:sp>
      <p:sp>
        <p:nvSpPr>
          <p:cNvPr id="8" name="Shape 4"/>
          <p:cNvSpPr/>
          <p:nvPr/>
        </p:nvSpPr>
        <p:spPr>
          <a:xfrm>
            <a:off x="777240" y="1234440"/>
            <a:ext cx="5181448" cy="1783080"/>
          </a:xfrm>
          <a:prstGeom prst="roundRect">
            <a:avLst>
              <a:gd name="adj" fmla="val 4103"/>
            </a:avLst>
          </a:prstGeom>
          <a:solidFill>
            <a:srgbClr val="EEF3F9"/>
          </a:solidFill>
          <a:ln w="9525">
            <a:solidFill>
              <a:srgbClr val="D9E2EC"/>
            </a:solidFill>
            <a:prstDash val="solid"/>
          </a:ln>
        </p:spPr>
      </p:sp>
      <p:pic>
        <p:nvPicPr>
          <p:cNvPr id="9" name="Image 2" descr="preencoded.png">    </p:cNvPr>
          <p:cNvPicPr>
            <a:picLocks noChangeAspect="1"/>
          </p:cNvPicPr>
          <p:nvPr/>
        </p:nvPicPr>
        <p:blipFill>
          <a:blip r:embed="rId3"/>
          <a:stretch>
            <a:fillRect/>
          </a:stretch>
        </p:blipFill>
        <p:spPr>
          <a:xfrm>
            <a:off x="1033272" y="1453896"/>
            <a:ext cx="493986" cy="457200"/>
          </a:xfrm>
          <a:prstGeom prst="rect">
            <a:avLst/>
          </a:prstGeom>
        </p:spPr>
      </p:pic>
      <p:sp>
        <p:nvSpPr>
          <p:cNvPr id="10" name="Text 5"/>
          <p:cNvSpPr/>
          <p:nvPr/>
        </p:nvSpPr>
        <p:spPr>
          <a:xfrm>
            <a:off x="1051560" y="1472184"/>
            <a:ext cx="3955941"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الفئة المستهدفة</a:t>
            </a:r>
            <a:endParaRPr lang="en-US" sz="1500" dirty="0"/>
          </a:p>
        </p:txBody>
      </p:sp>
      <p:sp>
        <p:nvSpPr>
          <p:cNvPr id="11" name="Text 6"/>
          <p:cNvSpPr/>
          <p:nvPr/>
        </p:nvSpPr>
        <p:spPr>
          <a:xfrm>
            <a:off x="1051560" y="2020824"/>
            <a:ext cx="4632808" cy="832104"/>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السياح الذين يزورون النقوش، سواء من داخل المملكة أو من خارجها، والرحلات المدرسية، وهيئة التراث</a:t>
            </a:r>
            <a:endParaRPr lang="en-US" sz="1250" dirty="0"/>
          </a:p>
        </p:txBody>
      </p:sp>
      <p:sp>
        <p:nvSpPr>
          <p:cNvPr id="12" name="Shape 7"/>
          <p:cNvSpPr/>
          <p:nvPr/>
        </p:nvSpPr>
        <p:spPr>
          <a:xfrm>
            <a:off x="6233008" y="3273552"/>
            <a:ext cx="5181448" cy="1783080"/>
          </a:xfrm>
          <a:prstGeom prst="roundRect">
            <a:avLst>
              <a:gd name="adj" fmla="val 4103"/>
            </a:avLst>
          </a:prstGeom>
          <a:solidFill>
            <a:srgbClr val="EEF3F9"/>
          </a:solidFill>
          <a:ln w="9525">
            <a:solidFill>
              <a:srgbClr val="D9E2EC"/>
            </a:solidFill>
            <a:prstDash val="solid"/>
          </a:ln>
        </p:spPr>
      </p:sp>
      <p:pic>
        <p:nvPicPr>
          <p:cNvPr id="13" name="Image 3" descr="preencoded.png">    </p:cNvPr>
          <p:cNvPicPr>
            <a:picLocks noChangeAspect="1"/>
          </p:cNvPicPr>
          <p:nvPr/>
        </p:nvPicPr>
        <p:blipFill>
          <a:blip r:embed="rId4"/>
          <a:stretch>
            <a:fillRect/>
          </a:stretch>
        </p:blipFill>
        <p:spPr>
          <a:xfrm>
            <a:off x="6489040" y="3493008"/>
            <a:ext cx="391187" cy="457200"/>
          </a:xfrm>
          <a:prstGeom prst="rect">
            <a:avLst/>
          </a:prstGeom>
        </p:spPr>
      </p:pic>
      <p:sp>
        <p:nvSpPr>
          <p:cNvPr id="14" name="Text 8"/>
          <p:cNvSpPr/>
          <p:nvPr/>
        </p:nvSpPr>
        <p:spPr>
          <a:xfrm>
            <a:off x="6507328" y="3511296"/>
            <a:ext cx="4058740"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الحاجة الفعلية</a:t>
            </a:r>
            <a:endParaRPr lang="en-US" sz="1500" dirty="0"/>
          </a:p>
        </p:txBody>
      </p:sp>
      <p:sp>
        <p:nvSpPr>
          <p:cNvPr id="15" name="Text 9"/>
          <p:cNvSpPr/>
          <p:nvPr/>
        </p:nvSpPr>
        <p:spPr>
          <a:xfrm>
            <a:off x="6507328" y="4059936"/>
            <a:ext cx="4632808" cy="832104"/>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سياح بلغات كثيرة في صحراء بلا شبكة، فلا يخدمهم حل سحابي ولا حل بلغة واحدة</a:t>
            </a:r>
            <a:endParaRPr lang="en-US" sz="1250" dirty="0"/>
          </a:p>
        </p:txBody>
      </p:sp>
      <p:sp>
        <p:nvSpPr>
          <p:cNvPr id="16" name="Shape 10"/>
          <p:cNvSpPr/>
          <p:nvPr/>
        </p:nvSpPr>
        <p:spPr>
          <a:xfrm>
            <a:off x="777240" y="3273552"/>
            <a:ext cx="5181448" cy="1783080"/>
          </a:xfrm>
          <a:prstGeom prst="roundRect">
            <a:avLst>
              <a:gd name="adj" fmla="val 4103"/>
            </a:avLst>
          </a:prstGeom>
          <a:solidFill>
            <a:srgbClr val="EEF3F9"/>
          </a:solidFill>
          <a:ln w="9525">
            <a:solidFill>
              <a:srgbClr val="D9E2EC"/>
            </a:solidFill>
            <a:prstDash val="solid"/>
          </a:ln>
        </p:spPr>
      </p:sp>
      <p:pic>
        <p:nvPicPr>
          <p:cNvPr id="17" name="Image 4" descr="preencoded.png">    </p:cNvPr>
          <p:cNvPicPr>
            <a:picLocks noChangeAspect="1"/>
          </p:cNvPicPr>
          <p:nvPr/>
        </p:nvPicPr>
        <p:blipFill>
          <a:blip r:embed="rId5"/>
          <a:stretch>
            <a:fillRect/>
          </a:stretch>
        </p:blipFill>
        <p:spPr>
          <a:xfrm>
            <a:off x="1033272" y="3493008"/>
            <a:ext cx="720896" cy="457200"/>
          </a:xfrm>
          <a:prstGeom prst="rect">
            <a:avLst/>
          </a:prstGeom>
        </p:spPr>
      </p:pic>
      <p:sp>
        <p:nvSpPr>
          <p:cNvPr id="18" name="Text 11"/>
          <p:cNvSpPr/>
          <p:nvPr/>
        </p:nvSpPr>
        <p:spPr>
          <a:xfrm>
            <a:off x="1051560" y="3511296"/>
            <a:ext cx="3729031"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القيمة المقدمة</a:t>
            </a:r>
            <a:endParaRPr lang="en-US" sz="1500" dirty="0"/>
          </a:p>
        </p:txBody>
      </p:sp>
      <p:sp>
        <p:nvSpPr>
          <p:cNvPr id="19" name="Text 12"/>
          <p:cNvSpPr/>
          <p:nvPr/>
        </p:nvSpPr>
        <p:spPr>
          <a:xfrm>
            <a:off x="1051560" y="4059936"/>
            <a:ext cx="4632808" cy="832104"/>
          </a:xfrm>
          <a:prstGeom prst="rect">
            <a:avLst/>
          </a:prstGeom>
          <a:noFill/>
          <a:ln/>
        </p:spPr>
        <p:txBody>
          <a:bodyPr wrap="square" lIns="0" tIns="0" rIns="0" bIns="0" rtlCol="0" anchor="t"/>
          <a:lstStyle/>
          <a:p>
            <a:pPr rtl="1" algn="r" indent="0" marL="0">
              <a:lnSpc>
                <a:spcPts val="2000"/>
              </a:lnSpc>
              <a:buNone/>
            </a:pPr>
            <a:r>
              <a:rPr lang="en-US" sz="1250" dirty="0">
                <a:solidFill>
                  <a:srgbClr val="4B5B6E"/>
                </a:solidFill>
                <a:latin typeface="Tajawal" pitchFamily="34" charset="0"/>
                <a:ea typeface="Tajawal" pitchFamily="34" charset="-122"/>
                <a:cs typeface="Tajawal" pitchFamily="34" charset="-120"/>
              </a:rPr>
              <a:t>السائح يفهم ما يرى بلغته، والجهة المشغلة تقدم تجربة أفضل مجانا</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04</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جودة الحل والنموذج الأولي MVP</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جودة الحل والنموذج الأولي MVP</a:t>
            </a:r>
            <a:endParaRPr lang="en-US" sz="2600" dirty="0"/>
          </a:p>
        </p:txBody>
      </p:sp>
      <p:sp>
        <p:nvSpPr>
          <p:cNvPr id="4" name="Text 1"/>
          <p:cNvSpPr/>
          <p:nvPr/>
        </p:nvSpPr>
        <p:spPr>
          <a:xfrm>
            <a:off x="777240" y="1115568"/>
            <a:ext cx="10637215" cy="310896"/>
          </a:xfrm>
          <a:prstGeom prst="rect">
            <a:avLst/>
          </a:prstGeom>
          <a:noFill/>
          <a:ln/>
        </p:spPr>
        <p:txBody>
          <a:bodyPr wrap="square" lIns="0" tIns="0" rIns="0" bIns="0" rtlCol="0" anchor="ctr"/>
          <a:lstStyle/>
          <a:p>
            <a:pPr rtl="1" algn="r" indent="0" marL="0">
              <a:buNone/>
            </a:pPr>
            <a:r>
              <a:rPr lang="en-US" sz="1300" dirty="0">
                <a:solidFill>
                  <a:srgbClr val="4B5B6E"/>
                </a:solidFill>
                <a:latin typeface="Tajawal" pitchFamily="34" charset="0"/>
                <a:ea typeface="Tajawal" pitchFamily="34" charset="-122"/>
                <a:cs typeface="Tajawal" pitchFamily="34" charset="-120"/>
              </a:rPr>
              <a:t>تطبيق يعمل الآن على الويب، يفتح من الرابط بلا تنزيل:   w-electro.github.io/athr</a:t>
            </a:r>
            <a:endParaRPr lang="en-US" sz="1300" dirty="0"/>
          </a:p>
        </p:txBody>
      </p:sp>
      <p:pic>
        <p:nvPicPr>
          <p:cNvPr id="5" name="Image 1" descr="preencoded.png">    </p:cNvPr>
          <p:cNvPicPr>
            <a:picLocks noChangeAspect="1"/>
          </p:cNvPicPr>
          <p:nvPr/>
        </p:nvPicPr>
        <p:blipFill>
          <a:blip r:embed="rId2"/>
          <a:stretch>
            <a:fillRect/>
          </a:stretch>
        </p:blipFill>
        <p:spPr>
          <a:xfrm>
            <a:off x="10297399" y="1536192"/>
            <a:ext cx="1117057" cy="2331720"/>
          </a:xfrm>
          <a:prstGeom prst="rect">
            <a:avLst/>
          </a:prstGeom>
        </p:spPr>
      </p:pic>
      <p:sp>
        <p:nvSpPr>
          <p:cNvPr id="6" name="Text 2"/>
          <p:cNvSpPr/>
          <p:nvPr/>
        </p:nvSpPr>
        <p:spPr>
          <a:xfrm>
            <a:off x="10187671" y="3941064"/>
            <a:ext cx="1336513" cy="256032"/>
          </a:xfrm>
          <a:prstGeom prst="rect">
            <a:avLst/>
          </a:prstGeom>
          <a:noFill/>
          <a:ln/>
        </p:spPr>
        <p:txBody>
          <a:bodyPr wrap="square" lIns="0" tIns="0" rIns="0" bIns="0" rtlCol="0" anchor="ctr"/>
          <a:lstStyle/>
          <a:p>
            <a:pPr rtl="1" algn="ctr" indent="0" marL="0">
              <a:buNone/>
            </a:pPr>
            <a:r>
              <a:rPr lang="en-US" sz="1050" dirty="0">
                <a:solidFill>
                  <a:srgbClr val="4B5B6E"/>
                </a:solidFill>
                <a:latin typeface="Tajawal" pitchFamily="34" charset="0"/>
                <a:ea typeface="Tajawal" pitchFamily="34" charset="-122"/>
                <a:cs typeface="Tajawal" pitchFamily="34" charset="-120"/>
              </a:rPr>
              <a:t>اختيار اللغة</a:t>
            </a:r>
            <a:endParaRPr lang="en-US" sz="1050" dirty="0"/>
          </a:p>
        </p:txBody>
      </p:sp>
      <p:pic>
        <p:nvPicPr>
          <p:cNvPr id="7" name="Image 2" descr="preencoded.png">    </p:cNvPr>
          <p:cNvPicPr>
            <a:picLocks noChangeAspect="1"/>
          </p:cNvPicPr>
          <p:nvPr/>
        </p:nvPicPr>
        <p:blipFill>
          <a:blip r:embed="rId3"/>
          <a:stretch>
            <a:fillRect/>
          </a:stretch>
        </p:blipFill>
        <p:spPr>
          <a:xfrm>
            <a:off x="7917359" y="1536192"/>
            <a:ext cx="1117057" cy="2331720"/>
          </a:xfrm>
          <a:prstGeom prst="rect">
            <a:avLst/>
          </a:prstGeom>
        </p:spPr>
      </p:pic>
      <p:sp>
        <p:nvSpPr>
          <p:cNvPr id="8" name="Text 3"/>
          <p:cNvSpPr/>
          <p:nvPr/>
        </p:nvSpPr>
        <p:spPr>
          <a:xfrm>
            <a:off x="7807631" y="3941064"/>
            <a:ext cx="1336513" cy="256032"/>
          </a:xfrm>
          <a:prstGeom prst="rect">
            <a:avLst/>
          </a:prstGeom>
          <a:noFill/>
          <a:ln/>
        </p:spPr>
        <p:txBody>
          <a:bodyPr wrap="square" lIns="0" tIns="0" rIns="0" bIns="0" rtlCol="0" anchor="ctr"/>
          <a:lstStyle/>
          <a:p>
            <a:pPr rtl="1" algn="ctr" indent="0" marL="0">
              <a:buNone/>
            </a:pPr>
            <a:r>
              <a:rPr lang="en-US" sz="1050" dirty="0">
                <a:solidFill>
                  <a:srgbClr val="4B5B6E"/>
                </a:solidFill>
                <a:latin typeface="Tajawal" pitchFamily="34" charset="0"/>
                <a:ea typeface="Tajawal" pitchFamily="34" charset="-122"/>
                <a:cs typeface="Tajawal" pitchFamily="34" charset="-120"/>
              </a:rPr>
              <a:t>الاستكشاف</a:t>
            </a:r>
            <a:endParaRPr lang="en-US" sz="1050" dirty="0"/>
          </a:p>
        </p:txBody>
      </p:sp>
      <p:pic>
        <p:nvPicPr>
          <p:cNvPr id="9" name="Image 3" descr="preencoded.png">    </p:cNvPr>
          <p:cNvPicPr>
            <a:picLocks noChangeAspect="1"/>
          </p:cNvPicPr>
          <p:nvPr/>
        </p:nvPicPr>
        <p:blipFill>
          <a:blip r:embed="rId4"/>
          <a:stretch>
            <a:fillRect/>
          </a:stretch>
        </p:blipFill>
        <p:spPr>
          <a:xfrm>
            <a:off x="5537319" y="1536192"/>
            <a:ext cx="1117057" cy="2331720"/>
          </a:xfrm>
          <a:prstGeom prst="rect">
            <a:avLst/>
          </a:prstGeom>
        </p:spPr>
      </p:pic>
      <p:sp>
        <p:nvSpPr>
          <p:cNvPr id="10" name="Text 4"/>
          <p:cNvSpPr/>
          <p:nvPr/>
        </p:nvSpPr>
        <p:spPr>
          <a:xfrm>
            <a:off x="5427591" y="3941064"/>
            <a:ext cx="1336513" cy="256032"/>
          </a:xfrm>
          <a:prstGeom prst="rect">
            <a:avLst/>
          </a:prstGeom>
          <a:noFill/>
          <a:ln/>
        </p:spPr>
        <p:txBody>
          <a:bodyPr wrap="square" lIns="0" tIns="0" rIns="0" bIns="0" rtlCol="0" anchor="ctr"/>
          <a:lstStyle/>
          <a:p>
            <a:pPr rtl="1" algn="ctr" indent="0" marL="0">
              <a:buNone/>
            </a:pPr>
            <a:r>
              <a:rPr lang="en-US" sz="1050" dirty="0">
                <a:solidFill>
                  <a:srgbClr val="4B5B6E"/>
                </a:solidFill>
                <a:latin typeface="Tajawal" pitchFamily="34" charset="0"/>
                <a:ea typeface="Tajawal" pitchFamily="34" charset="-122"/>
                <a:cs typeface="Tajawal" pitchFamily="34" charset="-120"/>
              </a:rPr>
              <a:t>القصة والصوت</a:t>
            </a:r>
            <a:endParaRPr lang="en-US" sz="1050" dirty="0"/>
          </a:p>
        </p:txBody>
      </p:sp>
      <p:pic>
        <p:nvPicPr>
          <p:cNvPr id="11" name="Image 4" descr="preencoded.png">    </p:cNvPr>
          <p:cNvPicPr>
            <a:picLocks noChangeAspect="1"/>
          </p:cNvPicPr>
          <p:nvPr/>
        </p:nvPicPr>
        <p:blipFill>
          <a:blip r:embed="rId5"/>
          <a:stretch>
            <a:fillRect/>
          </a:stretch>
        </p:blipFill>
        <p:spPr>
          <a:xfrm>
            <a:off x="3157280" y="1536192"/>
            <a:ext cx="1117057" cy="2331720"/>
          </a:xfrm>
          <a:prstGeom prst="rect">
            <a:avLst/>
          </a:prstGeom>
        </p:spPr>
      </p:pic>
      <p:sp>
        <p:nvSpPr>
          <p:cNvPr id="12" name="Text 5"/>
          <p:cNvSpPr/>
          <p:nvPr/>
        </p:nvSpPr>
        <p:spPr>
          <a:xfrm>
            <a:off x="3047552" y="3941064"/>
            <a:ext cx="1336513" cy="256032"/>
          </a:xfrm>
          <a:prstGeom prst="rect">
            <a:avLst/>
          </a:prstGeom>
          <a:noFill/>
          <a:ln/>
        </p:spPr>
        <p:txBody>
          <a:bodyPr wrap="square" lIns="0" tIns="0" rIns="0" bIns="0" rtlCol="0" anchor="ctr"/>
          <a:lstStyle/>
          <a:p>
            <a:pPr rtl="1" algn="ctr" indent="0" marL="0">
              <a:buNone/>
            </a:pPr>
            <a:r>
              <a:rPr lang="en-US" sz="1050" dirty="0">
                <a:solidFill>
                  <a:srgbClr val="4B5B6E"/>
                </a:solidFill>
                <a:latin typeface="Tajawal" pitchFamily="34" charset="0"/>
                <a:ea typeface="Tajawal" pitchFamily="34" charset="-122"/>
                <a:cs typeface="Tajawal" pitchFamily="34" charset="-120"/>
              </a:rPr>
              <a:t>المسح</a:t>
            </a:r>
            <a:endParaRPr lang="en-US" sz="1050" dirty="0"/>
          </a:p>
        </p:txBody>
      </p:sp>
      <p:pic>
        <p:nvPicPr>
          <p:cNvPr id="13" name="Image 5" descr="preencoded.png">    </p:cNvPr>
          <p:cNvPicPr>
            <a:picLocks noChangeAspect="1"/>
          </p:cNvPicPr>
          <p:nvPr/>
        </p:nvPicPr>
        <p:blipFill>
          <a:blip r:embed="rId6"/>
          <a:stretch>
            <a:fillRect/>
          </a:stretch>
        </p:blipFill>
        <p:spPr>
          <a:xfrm>
            <a:off x="777240" y="1536192"/>
            <a:ext cx="1117057" cy="2331720"/>
          </a:xfrm>
          <a:prstGeom prst="rect">
            <a:avLst/>
          </a:prstGeom>
        </p:spPr>
      </p:pic>
      <p:sp>
        <p:nvSpPr>
          <p:cNvPr id="14" name="Text 6"/>
          <p:cNvSpPr/>
          <p:nvPr/>
        </p:nvSpPr>
        <p:spPr>
          <a:xfrm>
            <a:off x="667512" y="3941064"/>
            <a:ext cx="1336513" cy="256032"/>
          </a:xfrm>
          <a:prstGeom prst="rect">
            <a:avLst/>
          </a:prstGeom>
          <a:noFill/>
          <a:ln/>
        </p:spPr>
        <p:txBody>
          <a:bodyPr wrap="square" lIns="0" tIns="0" rIns="0" bIns="0" rtlCol="0" anchor="ctr"/>
          <a:lstStyle/>
          <a:p>
            <a:pPr rtl="1" algn="ctr" indent="0" marL="0">
              <a:buNone/>
            </a:pPr>
            <a:r>
              <a:rPr lang="en-US" sz="1050" dirty="0">
                <a:solidFill>
                  <a:srgbClr val="4B5B6E"/>
                </a:solidFill>
                <a:latin typeface="Tajawal" pitchFamily="34" charset="0"/>
                <a:ea typeface="Tajawal" pitchFamily="34" charset="-122"/>
                <a:cs typeface="Tajawal" pitchFamily="34" charset="-120"/>
              </a:rPr>
              <a:t>بناء الرحلة</a:t>
            </a:r>
            <a:endParaRPr lang="en-US" sz="1050" dirty="0"/>
          </a:p>
        </p:txBody>
      </p:sp>
      <p:sp>
        <p:nvSpPr>
          <p:cNvPr id="15" name="Shape 7"/>
          <p:cNvSpPr/>
          <p:nvPr/>
        </p:nvSpPr>
        <p:spPr>
          <a:xfrm>
            <a:off x="8027213" y="4498848"/>
            <a:ext cx="3387242" cy="1225296"/>
          </a:xfrm>
          <a:prstGeom prst="roundRect">
            <a:avLst>
              <a:gd name="adj" fmla="val 5970"/>
            </a:avLst>
          </a:prstGeom>
          <a:solidFill>
            <a:srgbClr val="EEF3F9"/>
          </a:solidFill>
          <a:ln w="9525">
            <a:solidFill>
              <a:srgbClr val="D9E2EC"/>
            </a:solidFill>
            <a:prstDash val="solid"/>
          </a:ln>
        </p:spPr>
      </p:sp>
      <p:sp>
        <p:nvSpPr>
          <p:cNvPr id="16" name="Text 8"/>
          <p:cNvSpPr/>
          <p:nvPr/>
        </p:nvSpPr>
        <p:spPr>
          <a:xfrm>
            <a:off x="8027213" y="4645152"/>
            <a:ext cx="3387242" cy="548640"/>
          </a:xfrm>
          <a:prstGeom prst="rect">
            <a:avLst/>
          </a:prstGeom>
          <a:noFill/>
          <a:ln/>
        </p:spPr>
        <p:txBody>
          <a:bodyPr wrap="square" lIns="0" tIns="0" rIns="0" bIns="0" rtlCol="0" anchor="ctr"/>
          <a:lstStyle/>
          <a:p>
            <a:pPr algn="ctr" indent="0" marL="0">
              <a:buNone/>
            </a:pPr>
            <a:r>
              <a:rPr lang="en-US" sz="2800" b="1" dirty="0">
                <a:solidFill>
                  <a:srgbClr val="8357F6"/>
                </a:solidFill>
                <a:latin typeface="Calibri" pitchFamily="34" charset="0"/>
                <a:ea typeface="Calibri" pitchFamily="34" charset="-122"/>
                <a:cs typeface="Calibri" pitchFamily="34" charset="-120"/>
              </a:rPr>
              <a:t>96.5%</a:t>
            </a:r>
            <a:endParaRPr lang="en-US" sz="2800" dirty="0"/>
          </a:p>
        </p:txBody>
      </p:sp>
      <p:sp>
        <p:nvSpPr>
          <p:cNvPr id="17" name="Text 9"/>
          <p:cNvSpPr/>
          <p:nvPr/>
        </p:nvSpPr>
        <p:spPr>
          <a:xfrm>
            <a:off x="8136941" y="5230368"/>
            <a:ext cx="3167786"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تعرف صحيح على</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صور الموقع</a:t>
            </a:r>
            <a:endParaRPr lang="en-US" sz="1100" dirty="0"/>
          </a:p>
        </p:txBody>
      </p:sp>
      <p:sp>
        <p:nvSpPr>
          <p:cNvPr id="18" name="Shape 10"/>
          <p:cNvSpPr/>
          <p:nvPr/>
        </p:nvSpPr>
        <p:spPr>
          <a:xfrm>
            <a:off x="4402226" y="4498848"/>
            <a:ext cx="3387242" cy="1225296"/>
          </a:xfrm>
          <a:prstGeom prst="roundRect">
            <a:avLst>
              <a:gd name="adj" fmla="val 5970"/>
            </a:avLst>
          </a:prstGeom>
          <a:solidFill>
            <a:srgbClr val="EEF3F9"/>
          </a:solidFill>
          <a:ln w="9525">
            <a:solidFill>
              <a:srgbClr val="D9E2EC"/>
            </a:solidFill>
            <a:prstDash val="solid"/>
          </a:ln>
        </p:spPr>
      </p:sp>
      <p:sp>
        <p:nvSpPr>
          <p:cNvPr id="19" name="Text 11"/>
          <p:cNvSpPr/>
          <p:nvPr/>
        </p:nvSpPr>
        <p:spPr>
          <a:xfrm>
            <a:off x="4402226" y="4645152"/>
            <a:ext cx="3387242" cy="548640"/>
          </a:xfrm>
          <a:prstGeom prst="rect">
            <a:avLst/>
          </a:prstGeom>
          <a:noFill/>
          <a:ln/>
        </p:spPr>
        <p:txBody>
          <a:bodyPr wrap="square" lIns="0" tIns="0" rIns="0" bIns="0" rtlCol="0" anchor="ctr"/>
          <a:lstStyle/>
          <a:p>
            <a:pPr algn="ctr" indent="0" marL="0">
              <a:buNone/>
            </a:pPr>
            <a:r>
              <a:rPr lang="en-US" sz="2800" b="1" dirty="0">
                <a:solidFill>
                  <a:srgbClr val="255174"/>
                </a:solidFill>
                <a:latin typeface="Calibri" pitchFamily="34" charset="0"/>
                <a:ea typeface="Calibri" pitchFamily="34" charset="-122"/>
                <a:cs typeface="Calibri" pitchFamily="34" charset="-120"/>
              </a:rPr>
              <a:t>663</a:t>
            </a:r>
            <a:endParaRPr lang="en-US" sz="2800" dirty="0"/>
          </a:p>
        </p:txBody>
      </p:sp>
      <p:sp>
        <p:nvSpPr>
          <p:cNvPr id="20" name="Text 12"/>
          <p:cNvSpPr/>
          <p:nvPr/>
        </p:nvSpPr>
        <p:spPr>
          <a:xfrm>
            <a:off x="4511954" y="5230368"/>
            <a:ext cx="3167786"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اختبارا آليا تعمل</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مع كل تعديل</a:t>
            </a:r>
            <a:endParaRPr lang="en-US" sz="1100" dirty="0"/>
          </a:p>
        </p:txBody>
      </p:sp>
      <p:sp>
        <p:nvSpPr>
          <p:cNvPr id="21" name="Shape 13"/>
          <p:cNvSpPr/>
          <p:nvPr/>
        </p:nvSpPr>
        <p:spPr>
          <a:xfrm>
            <a:off x="777240" y="4498848"/>
            <a:ext cx="3387242" cy="1225296"/>
          </a:xfrm>
          <a:prstGeom prst="roundRect">
            <a:avLst>
              <a:gd name="adj" fmla="val 5970"/>
            </a:avLst>
          </a:prstGeom>
          <a:solidFill>
            <a:srgbClr val="EEF3F9"/>
          </a:solidFill>
          <a:ln w="9525">
            <a:solidFill>
              <a:srgbClr val="D9E2EC"/>
            </a:solidFill>
            <a:prstDash val="solid"/>
          </a:ln>
        </p:spPr>
      </p:sp>
      <p:sp>
        <p:nvSpPr>
          <p:cNvPr id="22" name="Text 14"/>
          <p:cNvSpPr/>
          <p:nvPr/>
        </p:nvSpPr>
        <p:spPr>
          <a:xfrm>
            <a:off x="777240" y="4645152"/>
            <a:ext cx="3387242" cy="548640"/>
          </a:xfrm>
          <a:prstGeom prst="rect">
            <a:avLst/>
          </a:prstGeom>
          <a:noFill/>
          <a:ln/>
        </p:spPr>
        <p:txBody>
          <a:bodyPr wrap="square" lIns="0" tIns="0" rIns="0" bIns="0" rtlCol="0" anchor="ctr"/>
          <a:lstStyle/>
          <a:p>
            <a:pPr algn="ctr" indent="0" marL="0">
              <a:buNone/>
            </a:pPr>
            <a:r>
              <a:rPr lang="en-US" sz="2800" b="1" dirty="0">
                <a:solidFill>
                  <a:srgbClr val="255174"/>
                </a:solidFill>
                <a:latin typeface="Calibri" pitchFamily="34" charset="0"/>
                <a:ea typeface="Calibri" pitchFamily="34" charset="-122"/>
                <a:cs typeface="Calibri" pitchFamily="34" charset="-120"/>
              </a:rPr>
              <a:t>174</a:t>
            </a:r>
            <a:endParaRPr lang="en-US" sz="2800" dirty="0"/>
          </a:p>
        </p:txBody>
      </p:sp>
      <p:sp>
        <p:nvSpPr>
          <p:cNvPr id="23" name="Text 15"/>
          <p:cNvSpPr/>
          <p:nvPr/>
        </p:nvSpPr>
        <p:spPr>
          <a:xfrm>
            <a:off x="886968" y="5230368"/>
            <a:ext cx="3167786"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مقطعا صوتيا</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في 29 لغة</a:t>
            </a:r>
            <a:endParaRPr lang="en-US" sz="1100" dirty="0"/>
          </a:p>
        </p:txBody>
      </p:sp>
      <p:sp>
        <p:nvSpPr>
          <p:cNvPr id="24" name="Text 16"/>
          <p:cNvSpPr/>
          <p:nvPr/>
        </p:nvSpPr>
        <p:spPr>
          <a:xfrm>
            <a:off x="777240" y="5888736"/>
            <a:ext cx="10637215" cy="329184"/>
          </a:xfrm>
          <a:prstGeom prst="rect">
            <a:avLst/>
          </a:prstGeom>
          <a:noFill/>
          <a:ln/>
        </p:spPr>
        <p:txBody>
          <a:bodyPr wrap="square" lIns="0" tIns="0" rIns="0" bIns="0" rtlCol="0" anchor="ctr"/>
          <a:lstStyle/>
          <a:p>
            <a:pPr rtl="1" algn="ctr" indent="0" marL="0">
              <a:buNone/>
            </a:pPr>
            <a:r>
              <a:rPr lang="en-US" sz="1200" i="1" dirty="0">
                <a:solidFill>
                  <a:srgbClr val="4B5B6E"/>
                </a:solidFill>
                <a:latin typeface="Tajawal" pitchFamily="34" charset="0"/>
                <a:ea typeface="Tajawal" pitchFamily="34" charset="-122"/>
                <a:cs typeface="Tajawal" pitchFamily="34" charset="-120"/>
              </a:rPr>
              <a:t>قراءة النقوش الثمودية قيد التطوير، ونعرض الآن جدول الحروف الرسمي</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05</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نموذج العمل والجدوى</a:t>
            </a:r>
            <a:endParaRPr lang="en-US"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نموذج العمل والجدوى</a:t>
            </a:r>
            <a:endParaRPr lang="en-US" sz="2600" dirty="0"/>
          </a:p>
        </p:txBody>
      </p:sp>
      <p:sp>
        <p:nvSpPr>
          <p:cNvPr id="5" name="Shape 1"/>
          <p:cNvSpPr/>
          <p:nvPr/>
        </p:nvSpPr>
        <p:spPr>
          <a:xfrm>
            <a:off x="8027213" y="1234440"/>
            <a:ext cx="3387242" cy="2697480"/>
          </a:xfrm>
          <a:prstGeom prst="roundRect">
            <a:avLst>
              <a:gd name="adj" fmla="val 2712"/>
            </a:avLst>
          </a:prstGeom>
          <a:solidFill>
            <a:srgbClr val="EEF3F9"/>
          </a:solidFill>
          <a:ln w="9525">
            <a:solidFill>
              <a:srgbClr val="D9E2EC"/>
            </a:solidFill>
            <a:prstDash val="solid"/>
          </a:ln>
        </p:spPr>
      </p:sp>
      <p:sp>
        <p:nvSpPr>
          <p:cNvPr id="6" name="Text 2"/>
          <p:cNvSpPr/>
          <p:nvPr/>
        </p:nvSpPr>
        <p:spPr>
          <a:xfrm>
            <a:off x="8264957"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العملاء</a:t>
            </a:r>
            <a:endParaRPr lang="en-US" sz="1400" dirty="0"/>
          </a:p>
        </p:txBody>
      </p:sp>
      <p:sp>
        <p:nvSpPr>
          <p:cNvPr id="7" name="Text 3"/>
          <p:cNvSpPr/>
          <p:nvPr/>
        </p:nvSpPr>
        <p:spPr>
          <a:xfrm>
            <a:off x="8264957" y="1801368"/>
            <a:ext cx="2911754" cy="1947672"/>
          </a:xfrm>
          <a:prstGeom prst="rect">
            <a:avLst/>
          </a:prstGeom>
          <a:noFill/>
          <a:ln/>
        </p:spPr>
        <p:txBody>
          <a:bodyPr wrap="square" lIns="0" tIns="0" rIns="0" bIns="0" rtlCol="0" anchor="t"/>
          <a:lstStyle/>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الجهة المشغلة: هيئة التراث ومركز الزوار</a:t>
            </a:r>
            <a:endParaRPr lang="en-US" sz="1250" dirty="0"/>
          </a:p>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والمنشآت المحلية: مطاعم ومقاهي وفنادق حائل، والمحميات السياحية</a:t>
            </a:r>
            <a:endParaRPr lang="en-US" sz="1250" dirty="0"/>
          </a:p>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والسائح نفسه: مسحات مجانية، ثم باقات إضافية</a:t>
            </a:r>
            <a:endParaRPr lang="en-US" sz="1250" dirty="0"/>
          </a:p>
        </p:txBody>
      </p:sp>
      <p:sp>
        <p:nvSpPr>
          <p:cNvPr id="8" name="Shape 4"/>
          <p:cNvSpPr/>
          <p:nvPr/>
        </p:nvSpPr>
        <p:spPr>
          <a:xfrm>
            <a:off x="4402226" y="1234440"/>
            <a:ext cx="3387242" cy="2697480"/>
          </a:xfrm>
          <a:prstGeom prst="roundRect">
            <a:avLst>
              <a:gd name="adj" fmla="val 2712"/>
            </a:avLst>
          </a:prstGeom>
          <a:solidFill>
            <a:srgbClr val="EEF3F9"/>
          </a:solidFill>
          <a:ln w="9525">
            <a:solidFill>
              <a:srgbClr val="D9E2EC"/>
            </a:solidFill>
            <a:prstDash val="solid"/>
          </a:ln>
        </p:spPr>
      </p:sp>
      <p:sp>
        <p:nvSpPr>
          <p:cNvPr id="9" name="Text 5"/>
          <p:cNvSpPr/>
          <p:nvPr/>
        </p:nvSpPr>
        <p:spPr>
          <a:xfrm>
            <a:off x="4639970"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مصادر الإيرادات</a:t>
            </a:r>
            <a:endParaRPr lang="en-US" sz="1400" dirty="0"/>
          </a:p>
        </p:txBody>
      </p:sp>
      <p:sp>
        <p:nvSpPr>
          <p:cNvPr id="10" name="Text 6"/>
          <p:cNvSpPr/>
          <p:nvPr/>
        </p:nvSpPr>
        <p:spPr>
          <a:xfrm>
            <a:off x="4639970" y="1801368"/>
            <a:ext cx="2911754" cy="1947672"/>
          </a:xfrm>
          <a:prstGeom prst="rect">
            <a:avLst/>
          </a:prstGeom>
          <a:noFill/>
          <a:ln/>
        </p:spPr>
        <p:txBody>
          <a:bodyPr wrap="square" lIns="0" tIns="0" rIns="0" bIns="0" rtlCol="0" anchor="t"/>
          <a:lstStyle/>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رسوم إدراج للمطاعم والمقاهي والفنادق والمحميات في مسار الرحلة</a:t>
            </a:r>
            <a:endParaRPr lang="en-US" sz="1250" dirty="0"/>
          </a:p>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ورسوم إعداد لكل موقع جديد</a:t>
            </a:r>
            <a:endParaRPr lang="en-US" sz="1250" dirty="0"/>
          </a:p>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ونسخة بيضاء: التطبيق نفسه لمتحف آخر باسمه</a:t>
            </a:r>
            <a:endParaRPr lang="en-US" sz="1250" dirty="0"/>
          </a:p>
        </p:txBody>
      </p:sp>
      <p:sp>
        <p:nvSpPr>
          <p:cNvPr id="11" name="Shape 7"/>
          <p:cNvSpPr/>
          <p:nvPr/>
        </p:nvSpPr>
        <p:spPr>
          <a:xfrm>
            <a:off x="777240" y="1234440"/>
            <a:ext cx="3387242" cy="2697480"/>
          </a:xfrm>
          <a:prstGeom prst="roundRect">
            <a:avLst>
              <a:gd name="adj" fmla="val 2712"/>
            </a:avLst>
          </a:prstGeom>
          <a:solidFill>
            <a:srgbClr val="EEF3F9"/>
          </a:solidFill>
          <a:ln w="9525">
            <a:solidFill>
              <a:srgbClr val="D9E2EC"/>
            </a:solidFill>
            <a:prstDash val="solid"/>
          </a:ln>
        </p:spPr>
      </p:sp>
      <p:sp>
        <p:nvSpPr>
          <p:cNvPr id="12" name="Text 8"/>
          <p:cNvSpPr/>
          <p:nvPr/>
        </p:nvSpPr>
        <p:spPr>
          <a:xfrm>
            <a:off x="1014984" y="1417320"/>
            <a:ext cx="2911754" cy="310896"/>
          </a:xfrm>
          <a:prstGeom prst="rect">
            <a:avLst/>
          </a:prstGeom>
          <a:noFill/>
          <a:ln/>
        </p:spPr>
        <p:txBody>
          <a:bodyPr wrap="square" lIns="0" tIns="0" rIns="0" bIns="0" rtlCol="0" anchor="ctr"/>
          <a:lstStyle/>
          <a:p>
            <a:pPr rtl="1" algn="r" indent="0" marL="0">
              <a:buNone/>
            </a:pPr>
            <a:r>
              <a:rPr lang="en-US" sz="1400" b="1" dirty="0">
                <a:solidFill>
                  <a:srgbClr val="8357F6"/>
                </a:solidFill>
                <a:latin typeface="Tajawal" pitchFamily="34" charset="0"/>
                <a:ea typeface="Tajawal" pitchFamily="34" charset="-122"/>
                <a:cs typeface="Tajawal" pitchFamily="34" charset="-120"/>
              </a:rPr>
              <a:t>الاستدامة</a:t>
            </a:r>
            <a:endParaRPr lang="en-US" sz="1400" dirty="0"/>
          </a:p>
        </p:txBody>
      </p:sp>
      <p:sp>
        <p:nvSpPr>
          <p:cNvPr id="13" name="Text 9"/>
          <p:cNvSpPr/>
          <p:nvPr/>
        </p:nvSpPr>
        <p:spPr>
          <a:xfrm>
            <a:off x="1014984" y="1801368"/>
            <a:ext cx="2911754" cy="1947672"/>
          </a:xfrm>
          <a:prstGeom prst="rect">
            <a:avLst/>
          </a:prstGeom>
          <a:noFill/>
          <a:ln/>
        </p:spPr>
        <p:txBody>
          <a:bodyPr wrap="square" lIns="0" tIns="0" rIns="0" bIns="0" rtlCol="0" anchor="t"/>
          <a:lstStyle/>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السائح الإضافي لا يكلفنا شيئا، فلا خوادم</a:t>
            </a:r>
            <a:endParaRPr lang="en-US" sz="1250" dirty="0"/>
          </a:p>
          <a:p>
            <a:pPr rtl="1" algn="r" indent="0" marL="0">
              <a:lnSpc>
                <a:spcPts val="2000"/>
              </a:lnSpc>
              <a:spcAft>
                <a:spcPts val="1200"/>
              </a:spcAft>
              <a:buNone/>
            </a:pPr>
            <a:r>
              <a:rPr lang="en-US" sz="1250" dirty="0">
                <a:solidFill>
                  <a:srgbClr val="4B5B6E"/>
                </a:solidFill>
                <a:latin typeface="Tajawal" pitchFamily="34" charset="0"/>
                <a:ea typeface="Tajawal" pitchFamily="34" charset="-122"/>
                <a:cs typeface="Tajawal" pitchFamily="34" charset="-120"/>
              </a:rPr>
              <a:t>والتكلفة إعداد لمرة واحدة لكل موقع</a:t>
            </a:r>
            <a:endParaRPr lang="en-US" sz="1250" dirty="0"/>
          </a:p>
        </p:txBody>
      </p:sp>
      <p:sp>
        <p:nvSpPr>
          <p:cNvPr id="14" name="Shape 10"/>
          <p:cNvSpPr/>
          <p:nvPr/>
        </p:nvSpPr>
        <p:spPr>
          <a:xfrm>
            <a:off x="777240" y="4114800"/>
            <a:ext cx="10637215" cy="841248"/>
          </a:xfrm>
          <a:prstGeom prst="roundRect">
            <a:avLst>
              <a:gd name="adj" fmla="val 8696"/>
            </a:avLst>
          </a:prstGeom>
          <a:solidFill>
            <a:srgbClr val="E9E2FB"/>
          </a:solidFill>
          <a:ln w="9525">
            <a:solidFill>
              <a:srgbClr val="D9E2EC"/>
            </a:solidFill>
            <a:prstDash val="solid"/>
          </a:ln>
        </p:spPr>
      </p:sp>
      <p:sp>
        <p:nvSpPr>
          <p:cNvPr id="15" name="Text 11"/>
          <p:cNvSpPr/>
          <p:nvPr/>
        </p:nvSpPr>
        <p:spPr>
          <a:xfrm>
            <a:off x="1088136" y="4334256"/>
            <a:ext cx="10015423" cy="420624"/>
          </a:xfrm>
          <a:prstGeom prst="rect">
            <a:avLst/>
          </a:prstGeom>
          <a:noFill/>
          <a:ln/>
        </p:spPr>
        <p:txBody>
          <a:bodyPr wrap="square" lIns="0" tIns="0" rIns="0" bIns="0" rtlCol="0" anchor="ctr"/>
          <a:lstStyle/>
          <a:p>
            <a:pPr rtl="1" algn="ctr" indent="0" marL="0">
              <a:buNone/>
            </a:pPr>
            <a:r>
              <a:rPr lang="en-US" sz="1450" b="1" dirty="0">
                <a:solidFill>
                  <a:srgbClr val="4B2E9E"/>
                </a:solidFill>
                <a:latin typeface="Tajawal" pitchFamily="34" charset="0"/>
                <a:ea typeface="Tajawal" pitchFamily="34" charset="-122"/>
                <a:cs typeface="Tajawal" pitchFamily="34" charset="-120"/>
              </a:rPr>
              <a:t>سائح واحد ومليون سائح كلهم سواء في الكلفة، لأن كل شيء يعمل داخل جوال السائح</a:t>
            </a:r>
            <a:endParaRPr lang="en-US" sz="1450" dirty="0"/>
          </a:p>
        </p:txBody>
      </p:sp>
      <p:sp>
        <p:nvSpPr>
          <p:cNvPr id="16" name="Shape 12"/>
          <p:cNvSpPr/>
          <p:nvPr/>
        </p:nvSpPr>
        <p:spPr>
          <a:xfrm>
            <a:off x="9585655" y="5138928"/>
            <a:ext cx="1828800" cy="1225296"/>
          </a:xfrm>
          <a:prstGeom prst="roundRect">
            <a:avLst>
              <a:gd name="adj" fmla="val 5970"/>
            </a:avLst>
          </a:prstGeom>
          <a:solidFill>
            <a:srgbClr val="EEF3F9"/>
          </a:solidFill>
          <a:ln w="9525">
            <a:solidFill>
              <a:srgbClr val="D9E2EC"/>
            </a:solidFill>
            <a:prstDash val="solid"/>
          </a:ln>
        </p:spPr>
      </p:sp>
      <p:sp>
        <p:nvSpPr>
          <p:cNvPr id="17" name="Text 13"/>
          <p:cNvSpPr/>
          <p:nvPr/>
        </p:nvSpPr>
        <p:spPr>
          <a:xfrm>
            <a:off x="9585655" y="5285232"/>
            <a:ext cx="1828800" cy="548640"/>
          </a:xfrm>
          <a:prstGeom prst="rect">
            <a:avLst/>
          </a:prstGeom>
          <a:noFill/>
          <a:ln/>
        </p:spPr>
        <p:txBody>
          <a:bodyPr wrap="square" lIns="0" tIns="0" rIns="0" bIns="0" rtlCol="0" anchor="ctr"/>
          <a:lstStyle/>
          <a:p>
            <a:pPr algn="ctr" indent="0" marL="0">
              <a:buNone/>
            </a:pPr>
            <a:r>
              <a:rPr lang="en-US" sz="2800" b="1" dirty="0">
                <a:solidFill>
                  <a:srgbClr val="8357F6"/>
                </a:solidFill>
                <a:latin typeface="Calibri" pitchFamily="34" charset="0"/>
                <a:ea typeface="Calibri" pitchFamily="34" charset="-122"/>
                <a:cs typeface="Calibri" pitchFamily="34" charset="-120"/>
              </a:rPr>
              <a:t>0$</a:t>
            </a:r>
            <a:endParaRPr lang="en-US" sz="2800" dirty="0"/>
          </a:p>
        </p:txBody>
      </p:sp>
      <p:sp>
        <p:nvSpPr>
          <p:cNvPr id="18" name="Text 14"/>
          <p:cNvSpPr/>
          <p:nvPr/>
        </p:nvSpPr>
        <p:spPr>
          <a:xfrm>
            <a:off x="9695383" y="5870448"/>
            <a:ext cx="1609344" cy="402336"/>
          </a:xfrm>
          <a:prstGeom prst="rect">
            <a:avLst/>
          </a:prstGeom>
          <a:noFill/>
          <a:ln/>
        </p:spPr>
        <p:txBody>
          <a:bodyPr wrap="square" lIns="0" tIns="0" rIns="0" bIns="0" rtlCol="0" anchor="ctr"/>
          <a:lstStyle/>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تكلفة تشغيل</a:t>
            </a:r>
            <a:endParaRPr lang="en-US" sz="1100" dirty="0"/>
          </a:p>
          <a:p>
            <a:pPr rtl="1" algn="ctr" indent="0" marL="0">
              <a:lnSpc>
                <a:spcPts val="1500"/>
              </a:lnSpc>
              <a:buNone/>
            </a:pPr>
            <a:r>
              <a:rPr lang="en-US" sz="1100" dirty="0">
                <a:solidFill>
                  <a:srgbClr val="4B5B6E"/>
                </a:solidFill>
                <a:latin typeface="Tajawal" pitchFamily="34" charset="0"/>
                <a:ea typeface="Tajawal" pitchFamily="34" charset="-122"/>
                <a:cs typeface="Tajawal" pitchFamily="34" charset="-120"/>
              </a:rPr>
              <a:t>شهرية</a:t>
            </a:r>
            <a:endParaRPr lang="en-US" sz="1100" dirty="0"/>
          </a:p>
        </p:txBody>
      </p:sp>
      <p:sp>
        <p:nvSpPr>
          <p:cNvPr id="19" name="Shape 15"/>
          <p:cNvSpPr/>
          <p:nvPr/>
        </p:nvSpPr>
        <p:spPr>
          <a:xfrm>
            <a:off x="5181448" y="5138928"/>
            <a:ext cx="4166464" cy="1225296"/>
          </a:xfrm>
          <a:prstGeom prst="roundRect">
            <a:avLst>
              <a:gd name="adj" fmla="val 5970"/>
            </a:avLst>
          </a:prstGeom>
          <a:solidFill>
            <a:srgbClr val="E9E2FB"/>
          </a:solidFill>
          <a:ln w="9525">
            <a:solidFill>
              <a:srgbClr val="D9E2EC"/>
            </a:solidFill>
            <a:prstDash val="solid"/>
          </a:ln>
        </p:spPr>
      </p:sp>
      <p:sp>
        <p:nvSpPr>
          <p:cNvPr id="20" name="Text 16"/>
          <p:cNvSpPr/>
          <p:nvPr/>
        </p:nvSpPr>
        <p:spPr>
          <a:xfrm>
            <a:off x="5400904" y="5248656"/>
            <a:ext cx="3727552" cy="292608"/>
          </a:xfrm>
          <a:prstGeom prst="rect">
            <a:avLst/>
          </a:prstGeom>
          <a:noFill/>
          <a:ln/>
        </p:spPr>
        <p:txBody>
          <a:bodyPr wrap="square" lIns="0" tIns="0" rIns="0" bIns="0" rtlCol="0" anchor="ctr"/>
          <a:lstStyle/>
          <a:p>
            <a:pPr rtl="1" algn="r" indent="0" marL="0">
              <a:buNone/>
            </a:pPr>
            <a:r>
              <a:rPr lang="en-US" sz="1350" b="1" dirty="0">
                <a:solidFill>
                  <a:srgbClr val="4B2E9E"/>
                </a:solidFill>
                <a:latin typeface="Tajawal" pitchFamily="34" charset="0"/>
                <a:ea typeface="Tajawal" pitchFamily="34" charset="-122"/>
                <a:cs typeface="Tajawal" pitchFamily="34" charset="-120"/>
              </a:rPr>
              <a:t>حجز بعد المسح</a:t>
            </a:r>
            <a:endParaRPr lang="en-US" sz="1350" dirty="0"/>
          </a:p>
        </p:txBody>
      </p:sp>
      <p:sp>
        <p:nvSpPr>
          <p:cNvPr id="21" name="Text 17"/>
          <p:cNvSpPr/>
          <p:nvPr/>
        </p:nvSpPr>
        <p:spPr>
          <a:xfrm>
            <a:off x="5400904" y="5559552"/>
            <a:ext cx="3727552" cy="731520"/>
          </a:xfrm>
          <a:prstGeom prst="rect">
            <a:avLst/>
          </a:prstGeom>
          <a:noFill/>
          <a:ln/>
        </p:spPr>
        <p:txBody>
          <a:bodyPr wrap="square" lIns="0" tIns="0" rIns="0" bIns="0" rtlCol="0" anchor="t"/>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بعد المسح يقترح التطبيق أقرب شريك، فيحجز السائح منه، ويدفع الشريك عمولة عن كل حجز</a:t>
            </a:r>
            <a:endParaRPr lang="en-US" sz="1150" dirty="0"/>
          </a:p>
        </p:txBody>
      </p:sp>
      <p:sp>
        <p:nvSpPr>
          <p:cNvPr id="22" name="Shape 18"/>
          <p:cNvSpPr/>
          <p:nvPr/>
        </p:nvSpPr>
        <p:spPr>
          <a:xfrm>
            <a:off x="777240" y="5138928"/>
            <a:ext cx="4166464" cy="1225296"/>
          </a:xfrm>
          <a:prstGeom prst="roundRect">
            <a:avLst>
              <a:gd name="adj" fmla="val 5970"/>
            </a:avLst>
          </a:prstGeom>
          <a:solidFill>
            <a:srgbClr val="E9E2FB"/>
          </a:solidFill>
          <a:ln w="9525">
            <a:solidFill>
              <a:srgbClr val="D9E2EC"/>
            </a:solidFill>
            <a:prstDash val="solid"/>
          </a:ln>
        </p:spPr>
      </p:sp>
      <p:sp>
        <p:nvSpPr>
          <p:cNvPr id="23" name="Text 19"/>
          <p:cNvSpPr/>
          <p:nvPr/>
        </p:nvSpPr>
        <p:spPr>
          <a:xfrm>
            <a:off x="996696" y="5248656"/>
            <a:ext cx="3727552" cy="292608"/>
          </a:xfrm>
          <a:prstGeom prst="rect">
            <a:avLst/>
          </a:prstGeom>
          <a:noFill/>
          <a:ln/>
        </p:spPr>
        <p:txBody>
          <a:bodyPr wrap="square" lIns="0" tIns="0" rIns="0" bIns="0" rtlCol="0" anchor="ctr"/>
          <a:lstStyle/>
          <a:p>
            <a:pPr rtl="1" algn="r" indent="0" marL="0">
              <a:buNone/>
            </a:pPr>
            <a:r>
              <a:rPr lang="en-US" sz="1350" b="1" dirty="0">
                <a:solidFill>
                  <a:srgbClr val="4B2E9E"/>
                </a:solidFill>
                <a:latin typeface="Tajawal" pitchFamily="34" charset="0"/>
                <a:ea typeface="Tajawal" pitchFamily="34" charset="-122"/>
                <a:cs typeface="Tajawal" pitchFamily="34" charset="-120"/>
              </a:rPr>
              <a:t>باقات المسح</a:t>
            </a:r>
            <a:endParaRPr lang="en-US" sz="1350" dirty="0"/>
          </a:p>
        </p:txBody>
      </p:sp>
      <p:sp>
        <p:nvSpPr>
          <p:cNvPr id="24" name="Text 20"/>
          <p:cNvSpPr/>
          <p:nvPr/>
        </p:nvSpPr>
        <p:spPr>
          <a:xfrm>
            <a:off x="996696" y="5559552"/>
            <a:ext cx="3727552" cy="731520"/>
          </a:xfrm>
          <a:prstGeom prst="rect">
            <a:avLst/>
          </a:prstGeom>
          <a:noFill/>
          <a:ln/>
        </p:spPr>
        <p:txBody>
          <a:bodyPr wrap="square" lIns="0" tIns="0" rIns="0" bIns="0" rtlCol="0" anchor="t"/>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مسحات مجانية لكل سائح، ثم باقات إضافية من داخل التطبيق، والقصص مجانية دائما</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1920240"/>
            <a:ext cx="4754880" cy="3017520"/>
          </a:xfrm>
          <a:prstGeom prst="rect">
            <a:avLst/>
          </a:prstGeom>
          <a:noFill/>
          <a:ln/>
        </p:spPr>
        <p:txBody>
          <a:bodyPr wrap="square" lIns="0" tIns="0" rIns="0" bIns="0" rtlCol="0" anchor="ctr"/>
          <a:lstStyle/>
          <a:p>
            <a:pPr algn="l" indent="0" marL="0">
              <a:buNone/>
            </a:pPr>
            <a:r>
              <a:rPr lang="en-US" sz="17000" b="1" dirty="0">
                <a:solidFill>
                  <a:srgbClr val="DCE5F0"/>
                </a:solidFill>
                <a:latin typeface="Calibri" pitchFamily="34" charset="0"/>
                <a:ea typeface="Calibri" pitchFamily="34" charset="-122"/>
                <a:cs typeface="Calibri" pitchFamily="34" charset="-120"/>
              </a:rPr>
              <a:t>06</a:t>
            </a:r>
            <a:endParaRPr lang="en-US" sz="17000" dirty="0"/>
          </a:p>
        </p:txBody>
      </p:sp>
      <p:sp>
        <p:nvSpPr>
          <p:cNvPr id="4" name="Text 1"/>
          <p:cNvSpPr/>
          <p:nvPr/>
        </p:nvSpPr>
        <p:spPr>
          <a:xfrm>
            <a:off x="5120640" y="2788920"/>
            <a:ext cx="6293815" cy="1280160"/>
          </a:xfrm>
          <a:prstGeom prst="rect">
            <a:avLst/>
          </a:prstGeom>
          <a:noFill/>
          <a:ln/>
        </p:spPr>
        <p:txBody>
          <a:bodyPr wrap="square" lIns="0" tIns="0" rIns="0" bIns="0" rtlCol="0" anchor="ctr"/>
          <a:lstStyle/>
          <a:p>
            <a:pPr rtl="1" algn="r" indent="0" marL="0">
              <a:buNone/>
            </a:pPr>
            <a:r>
              <a:rPr lang="en-US" sz="3600" b="1" dirty="0">
                <a:solidFill>
                  <a:srgbClr val="255174"/>
                </a:solidFill>
                <a:latin typeface="Tajawal" pitchFamily="34" charset="0"/>
                <a:ea typeface="Tajawal" pitchFamily="34" charset="-122"/>
                <a:cs typeface="Tajawal" pitchFamily="34" charset="-120"/>
              </a:rPr>
              <a:t>قابلية النمو</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548640"/>
            <a:ext cx="10637215" cy="502920"/>
          </a:xfrm>
          <a:prstGeom prst="rect">
            <a:avLst/>
          </a:prstGeom>
          <a:noFill/>
          <a:ln/>
        </p:spPr>
        <p:txBody>
          <a:bodyPr wrap="square" lIns="0" tIns="0" rIns="0" bIns="0" rtlCol="0" anchor="ctr"/>
          <a:lstStyle/>
          <a:p>
            <a:pPr rtl="1" algn="r" indent="0" marL="0">
              <a:buNone/>
            </a:pPr>
            <a:r>
              <a:rPr lang="en-US" sz="2600" b="1" dirty="0">
                <a:solidFill>
                  <a:srgbClr val="255174"/>
                </a:solidFill>
                <a:latin typeface="Tajawal" pitchFamily="34" charset="0"/>
                <a:ea typeface="Tajawal" pitchFamily="34" charset="-122"/>
                <a:cs typeface="Tajawal" pitchFamily="34" charset="-120"/>
              </a:rPr>
              <a:t>قابلية النمو</a:t>
            </a:r>
            <a:endParaRPr lang="en-US" sz="2600" dirty="0"/>
          </a:p>
        </p:txBody>
      </p:sp>
      <p:sp>
        <p:nvSpPr>
          <p:cNvPr id="4" name="Shape 1"/>
          <p:cNvSpPr/>
          <p:nvPr/>
        </p:nvSpPr>
        <p:spPr>
          <a:xfrm>
            <a:off x="8933459" y="1234440"/>
            <a:ext cx="2480996" cy="1298448"/>
          </a:xfrm>
          <a:prstGeom prst="roundRect">
            <a:avLst>
              <a:gd name="adj" fmla="val 5634"/>
            </a:avLst>
          </a:prstGeom>
          <a:solidFill>
            <a:srgbClr val="EEF3F9"/>
          </a:solidFill>
          <a:ln w="9525">
            <a:solidFill>
              <a:srgbClr val="D9E2EC"/>
            </a:solidFill>
            <a:prstDash val="solid"/>
          </a:ln>
        </p:spPr>
      </p:sp>
      <p:sp>
        <p:nvSpPr>
          <p:cNvPr id="5" name="Text 2"/>
          <p:cNvSpPr/>
          <p:nvPr/>
        </p:nvSpPr>
        <p:spPr>
          <a:xfrm>
            <a:off x="9134627" y="1353312"/>
            <a:ext cx="365760" cy="310896"/>
          </a:xfrm>
          <a:prstGeom prst="rect">
            <a:avLst/>
          </a:prstGeom>
          <a:noFill/>
          <a:ln/>
        </p:spPr>
        <p:txBody>
          <a:bodyPr wrap="square" lIns="0" tIns="0" rIns="0" bIns="0" rtlCol="0" anchor="ctr"/>
          <a:lstStyle/>
          <a:p>
            <a:pPr algn="l" indent="0" marL="0">
              <a:buNone/>
            </a:pPr>
            <a:r>
              <a:rPr lang="en-US" sz="1300" b="1" dirty="0">
                <a:solidFill>
                  <a:srgbClr val="AFC0D4"/>
                </a:solidFill>
                <a:latin typeface="Calibri" pitchFamily="34" charset="0"/>
                <a:ea typeface="Calibri" pitchFamily="34" charset="-122"/>
                <a:cs typeface="Calibri" pitchFamily="34" charset="-120"/>
              </a:rPr>
              <a:t>1</a:t>
            </a:r>
            <a:endParaRPr lang="en-US" sz="1300" dirty="0"/>
          </a:p>
        </p:txBody>
      </p:sp>
      <p:sp>
        <p:nvSpPr>
          <p:cNvPr id="6" name="Text 3"/>
          <p:cNvSpPr/>
          <p:nvPr/>
        </p:nvSpPr>
        <p:spPr>
          <a:xfrm>
            <a:off x="9171203" y="1371600"/>
            <a:ext cx="1658036" cy="310896"/>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تصوير</a:t>
            </a:r>
            <a:endParaRPr lang="en-US" sz="1500" dirty="0"/>
          </a:p>
        </p:txBody>
      </p:sp>
      <p:sp>
        <p:nvSpPr>
          <p:cNvPr id="7" name="Text 4"/>
          <p:cNvSpPr/>
          <p:nvPr/>
        </p:nvSpPr>
        <p:spPr>
          <a:xfrm>
            <a:off x="9171203" y="1773936"/>
            <a:ext cx="2005508" cy="603504"/>
          </a:xfrm>
          <a:prstGeom prst="rect">
            <a:avLst/>
          </a:prstGeom>
          <a:noFill/>
          <a:ln/>
        </p:spPr>
        <p:txBody>
          <a:bodyPr wrap="square" lIns="0" tIns="0" rIns="0" bIns="0" rtlCol="0" anchor="ctr"/>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زيارة ميدانية واحدة للموقع الجديد</a:t>
            </a:r>
            <a:endParaRPr lang="en-US" sz="1150" dirty="0"/>
          </a:p>
        </p:txBody>
      </p:sp>
      <p:sp>
        <p:nvSpPr>
          <p:cNvPr id="8" name="Shape 5"/>
          <p:cNvSpPr/>
          <p:nvPr/>
        </p:nvSpPr>
        <p:spPr>
          <a:xfrm>
            <a:off x="6214720" y="1234440"/>
            <a:ext cx="2480996" cy="1298448"/>
          </a:xfrm>
          <a:prstGeom prst="roundRect">
            <a:avLst>
              <a:gd name="adj" fmla="val 5634"/>
            </a:avLst>
          </a:prstGeom>
          <a:solidFill>
            <a:srgbClr val="EEF3F9"/>
          </a:solidFill>
          <a:ln w="9525">
            <a:solidFill>
              <a:srgbClr val="D9E2EC"/>
            </a:solidFill>
            <a:prstDash val="solid"/>
          </a:ln>
        </p:spPr>
      </p:sp>
      <p:sp>
        <p:nvSpPr>
          <p:cNvPr id="9" name="Text 6"/>
          <p:cNvSpPr/>
          <p:nvPr/>
        </p:nvSpPr>
        <p:spPr>
          <a:xfrm>
            <a:off x="6415888" y="1353312"/>
            <a:ext cx="365760" cy="310896"/>
          </a:xfrm>
          <a:prstGeom prst="rect">
            <a:avLst/>
          </a:prstGeom>
          <a:noFill/>
          <a:ln/>
        </p:spPr>
        <p:txBody>
          <a:bodyPr wrap="square" lIns="0" tIns="0" rIns="0" bIns="0" rtlCol="0" anchor="ctr"/>
          <a:lstStyle/>
          <a:p>
            <a:pPr algn="l" indent="0" marL="0">
              <a:buNone/>
            </a:pPr>
            <a:r>
              <a:rPr lang="en-US" sz="1300" b="1" dirty="0">
                <a:solidFill>
                  <a:srgbClr val="AFC0D4"/>
                </a:solidFill>
                <a:latin typeface="Calibri" pitchFamily="34" charset="0"/>
                <a:ea typeface="Calibri" pitchFamily="34" charset="-122"/>
                <a:cs typeface="Calibri" pitchFamily="34" charset="-120"/>
              </a:rPr>
              <a:t>2</a:t>
            </a:r>
            <a:endParaRPr lang="en-US" sz="1300" dirty="0"/>
          </a:p>
        </p:txBody>
      </p:sp>
      <p:sp>
        <p:nvSpPr>
          <p:cNvPr id="10" name="Text 7"/>
          <p:cNvSpPr/>
          <p:nvPr/>
        </p:nvSpPr>
        <p:spPr>
          <a:xfrm>
            <a:off x="6452464" y="1371600"/>
            <a:ext cx="1658036" cy="310896"/>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فهرسة</a:t>
            </a:r>
            <a:endParaRPr lang="en-US" sz="1500" dirty="0"/>
          </a:p>
        </p:txBody>
      </p:sp>
      <p:sp>
        <p:nvSpPr>
          <p:cNvPr id="11" name="Text 8"/>
          <p:cNvSpPr/>
          <p:nvPr/>
        </p:nvSpPr>
        <p:spPr>
          <a:xfrm>
            <a:off x="6452464" y="1773936"/>
            <a:ext cx="2005508" cy="603504"/>
          </a:xfrm>
          <a:prstGeom prst="rect">
            <a:avLst/>
          </a:prstGeom>
          <a:noFill/>
          <a:ln/>
        </p:spPr>
        <p:txBody>
          <a:bodyPr wrap="square" lIns="0" tIns="0" rIns="0" bIns="0" rtlCol="0" anchor="ctr"/>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تحويل الصور إلى بصمات — دقائق</a:t>
            </a:r>
            <a:endParaRPr lang="en-US" sz="1150" dirty="0"/>
          </a:p>
        </p:txBody>
      </p:sp>
      <p:sp>
        <p:nvSpPr>
          <p:cNvPr id="12" name="Shape 9"/>
          <p:cNvSpPr/>
          <p:nvPr/>
        </p:nvSpPr>
        <p:spPr>
          <a:xfrm>
            <a:off x="3495980" y="1234440"/>
            <a:ext cx="2480996" cy="1298448"/>
          </a:xfrm>
          <a:prstGeom prst="roundRect">
            <a:avLst>
              <a:gd name="adj" fmla="val 5634"/>
            </a:avLst>
          </a:prstGeom>
          <a:solidFill>
            <a:srgbClr val="EEF3F9"/>
          </a:solidFill>
          <a:ln w="9525">
            <a:solidFill>
              <a:srgbClr val="D9E2EC"/>
            </a:solidFill>
            <a:prstDash val="solid"/>
          </a:ln>
        </p:spPr>
      </p:sp>
      <p:sp>
        <p:nvSpPr>
          <p:cNvPr id="13" name="Text 10"/>
          <p:cNvSpPr/>
          <p:nvPr/>
        </p:nvSpPr>
        <p:spPr>
          <a:xfrm>
            <a:off x="3697148" y="1353312"/>
            <a:ext cx="365760" cy="310896"/>
          </a:xfrm>
          <a:prstGeom prst="rect">
            <a:avLst/>
          </a:prstGeom>
          <a:noFill/>
          <a:ln/>
        </p:spPr>
        <p:txBody>
          <a:bodyPr wrap="square" lIns="0" tIns="0" rIns="0" bIns="0" rtlCol="0" anchor="ctr"/>
          <a:lstStyle/>
          <a:p>
            <a:pPr algn="l" indent="0" marL="0">
              <a:buNone/>
            </a:pPr>
            <a:r>
              <a:rPr lang="en-US" sz="1300" b="1" dirty="0">
                <a:solidFill>
                  <a:srgbClr val="AFC0D4"/>
                </a:solidFill>
                <a:latin typeface="Calibri" pitchFamily="34" charset="0"/>
                <a:ea typeface="Calibri" pitchFamily="34" charset="-122"/>
                <a:cs typeface="Calibri" pitchFamily="34" charset="-120"/>
              </a:rPr>
              <a:t>3</a:t>
            </a:r>
            <a:endParaRPr lang="en-US" sz="1300" dirty="0"/>
          </a:p>
        </p:txBody>
      </p:sp>
      <p:sp>
        <p:nvSpPr>
          <p:cNvPr id="14" name="Text 11"/>
          <p:cNvSpPr/>
          <p:nvPr/>
        </p:nvSpPr>
        <p:spPr>
          <a:xfrm>
            <a:off x="3733724" y="1371600"/>
            <a:ext cx="1658036" cy="310896"/>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محتوى</a:t>
            </a:r>
            <a:endParaRPr lang="en-US" sz="1500" dirty="0"/>
          </a:p>
        </p:txBody>
      </p:sp>
      <p:sp>
        <p:nvSpPr>
          <p:cNvPr id="15" name="Text 12"/>
          <p:cNvSpPr/>
          <p:nvPr/>
        </p:nvSpPr>
        <p:spPr>
          <a:xfrm>
            <a:off x="3733724" y="1773936"/>
            <a:ext cx="2005508" cy="603504"/>
          </a:xfrm>
          <a:prstGeom prst="rect">
            <a:avLst/>
          </a:prstGeom>
          <a:noFill/>
          <a:ln/>
        </p:spPr>
        <p:txBody>
          <a:bodyPr wrap="square" lIns="0" tIns="0" rIns="0" bIns="0" rtlCol="0" anchor="ctr"/>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كتابة القصص وترجمتها</a:t>
            </a:r>
            <a:endParaRPr lang="en-US" sz="1150" dirty="0"/>
          </a:p>
        </p:txBody>
      </p:sp>
      <p:sp>
        <p:nvSpPr>
          <p:cNvPr id="16" name="Shape 13"/>
          <p:cNvSpPr/>
          <p:nvPr/>
        </p:nvSpPr>
        <p:spPr>
          <a:xfrm>
            <a:off x="777240" y="1234440"/>
            <a:ext cx="2480996" cy="1298448"/>
          </a:xfrm>
          <a:prstGeom prst="roundRect">
            <a:avLst>
              <a:gd name="adj" fmla="val 5634"/>
            </a:avLst>
          </a:prstGeom>
          <a:solidFill>
            <a:srgbClr val="EEF3F9"/>
          </a:solidFill>
          <a:ln w="9525">
            <a:solidFill>
              <a:srgbClr val="D9E2EC"/>
            </a:solidFill>
            <a:prstDash val="solid"/>
          </a:ln>
        </p:spPr>
      </p:sp>
      <p:sp>
        <p:nvSpPr>
          <p:cNvPr id="17" name="Text 14"/>
          <p:cNvSpPr/>
          <p:nvPr/>
        </p:nvSpPr>
        <p:spPr>
          <a:xfrm>
            <a:off x="978408" y="1353312"/>
            <a:ext cx="365760" cy="310896"/>
          </a:xfrm>
          <a:prstGeom prst="rect">
            <a:avLst/>
          </a:prstGeom>
          <a:noFill/>
          <a:ln/>
        </p:spPr>
        <p:txBody>
          <a:bodyPr wrap="square" lIns="0" tIns="0" rIns="0" bIns="0" rtlCol="0" anchor="ctr"/>
          <a:lstStyle/>
          <a:p>
            <a:pPr algn="l" indent="0" marL="0">
              <a:buNone/>
            </a:pPr>
            <a:r>
              <a:rPr lang="en-US" sz="1300" b="1" dirty="0">
                <a:solidFill>
                  <a:srgbClr val="AFC0D4"/>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14984" y="1371600"/>
            <a:ext cx="1658036" cy="310896"/>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صوت</a:t>
            </a:r>
            <a:endParaRPr lang="en-US" sz="1500" dirty="0"/>
          </a:p>
        </p:txBody>
      </p:sp>
      <p:sp>
        <p:nvSpPr>
          <p:cNvPr id="19" name="Text 16"/>
          <p:cNvSpPr/>
          <p:nvPr/>
        </p:nvSpPr>
        <p:spPr>
          <a:xfrm>
            <a:off x="1014984" y="1773936"/>
            <a:ext cx="2005508" cy="603504"/>
          </a:xfrm>
          <a:prstGeom prst="rect">
            <a:avLst/>
          </a:prstGeom>
          <a:noFill/>
          <a:ln/>
        </p:spPr>
        <p:txBody>
          <a:bodyPr wrap="square" lIns="0" tIns="0" rIns="0" bIns="0" rtlCol="0" anchor="ctr"/>
          <a:lstStyle/>
          <a:p>
            <a:pPr rtl="1" algn="r" indent="0" marL="0">
              <a:lnSpc>
                <a:spcPts val="1700"/>
              </a:lnSpc>
              <a:buNone/>
            </a:pPr>
            <a:r>
              <a:rPr lang="en-US" sz="1150" dirty="0">
                <a:solidFill>
                  <a:srgbClr val="4B5B6E"/>
                </a:solidFill>
                <a:latin typeface="Tajawal" pitchFamily="34" charset="0"/>
                <a:ea typeface="Tajawal" pitchFamily="34" charset="-122"/>
                <a:cs typeface="Tajawal" pitchFamily="34" charset="-120"/>
              </a:rPr>
              <a:t>توليد الرواية بتسع وعشرين لغة</a:t>
            </a:r>
            <a:endParaRPr lang="en-US" sz="1150" dirty="0"/>
          </a:p>
        </p:txBody>
      </p:sp>
      <p:sp>
        <p:nvSpPr>
          <p:cNvPr id="20" name="Shape 17"/>
          <p:cNvSpPr/>
          <p:nvPr/>
        </p:nvSpPr>
        <p:spPr>
          <a:xfrm>
            <a:off x="6233008" y="2761488"/>
            <a:ext cx="5181448" cy="2249424"/>
          </a:xfrm>
          <a:prstGeom prst="roundRect">
            <a:avLst>
              <a:gd name="adj" fmla="val 3252"/>
            </a:avLst>
          </a:prstGeom>
          <a:solidFill>
            <a:srgbClr val="EEF3F9"/>
          </a:solidFill>
          <a:ln w="9525">
            <a:solidFill>
              <a:srgbClr val="D9E2EC"/>
            </a:solidFill>
            <a:prstDash val="solid"/>
          </a:ln>
        </p:spPr>
      </p:sp>
      <p:sp>
        <p:nvSpPr>
          <p:cNvPr id="21" name="Text 18"/>
          <p:cNvSpPr/>
          <p:nvPr/>
        </p:nvSpPr>
        <p:spPr>
          <a:xfrm>
            <a:off x="6507328" y="2962656"/>
            <a:ext cx="4632808"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لا إعادة تدريب ولا بنية تحتية</a:t>
            </a:r>
            <a:endParaRPr lang="en-US" sz="1500" dirty="0"/>
          </a:p>
        </p:txBody>
      </p:sp>
      <p:sp>
        <p:nvSpPr>
          <p:cNvPr id="22" name="Text 19"/>
          <p:cNvSpPr/>
          <p:nvPr/>
        </p:nvSpPr>
        <p:spPr>
          <a:xfrm>
            <a:off x="6507328" y="3383280"/>
            <a:ext cx="4632808" cy="1463040"/>
          </a:xfrm>
          <a:prstGeom prst="rect">
            <a:avLst/>
          </a:prstGeom>
          <a:noFill/>
          <a:ln/>
        </p:spPr>
        <p:txBody>
          <a:bodyPr wrap="square" lIns="0" tIns="0" rIns="0" bIns="0" rtlCol="0" anchor="t"/>
          <a:lstStyle/>
          <a:p>
            <a:pPr rtl="1" algn="r" indent="0" marL="0">
              <a:lnSpc>
                <a:spcPts val="2000"/>
              </a:lnSpc>
              <a:spcAft>
                <a:spcPts val="1300"/>
              </a:spcAft>
              <a:buNone/>
            </a:pPr>
            <a:r>
              <a:rPr lang="en-US" sz="1250" dirty="0">
                <a:solidFill>
                  <a:srgbClr val="4B5B6E"/>
                </a:solidFill>
                <a:latin typeface="Tajawal" pitchFamily="34" charset="0"/>
                <a:ea typeface="Tajawal" pitchFamily="34" charset="-122"/>
                <a:cs typeface="Tajawal" pitchFamily="34" charset="-120"/>
              </a:rPr>
              <a:t>النموذج يتعلم أي موقع بالطريقة نفسها</a:t>
            </a:r>
            <a:endParaRPr lang="en-US" sz="1250" dirty="0"/>
          </a:p>
          <a:p>
            <a:pPr rtl="1" algn="r" indent="0" marL="0">
              <a:lnSpc>
                <a:spcPts val="2000"/>
              </a:lnSpc>
              <a:spcAft>
                <a:spcPts val="1300"/>
              </a:spcAft>
              <a:buNone/>
            </a:pPr>
            <a:r>
              <a:rPr lang="en-US" sz="1250" dirty="0">
                <a:solidFill>
                  <a:srgbClr val="4B5B6E"/>
                </a:solidFill>
                <a:latin typeface="Tajawal" pitchFamily="34" charset="0"/>
                <a:ea typeface="Tajawal" pitchFamily="34" charset="-122"/>
                <a:cs typeface="Tajawal" pitchFamily="34" charset="-120"/>
              </a:rPr>
              <a:t>والموقع الجديد يحتاج إلى صوره فقط</a:t>
            </a:r>
            <a:endParaRPr lang="en-US" sz="1250" dirty="0"/>
          </a:p>
          <a:p>
            <a:pPr rtl="1" algn="r" indent="0" marL="0">
              <a:lnSpc>
                <a:spcPts val="2000"/>
              </a:lnSpc>
              <a:spcAft>
                <a:spcPts val="1300"/>
              </a:spcAft>
              <a:buNone/>
            </a:pPr>
            <a:r>
              <a:rPr lang="en-US" sz="1250" dirty="0">
                <a:solidFill>
                  <a:srgbClr val="4B5B6E"/>
                </a:solidFill>
                <a:latin typeface="Tajawal" pitchFamily="34" charset="0"/>
                <a:ea typeface="Tajawal" pitchFamily="34" charset="-122"/>
                <a:cs typeface="Tajawal" pitchFamily="34" charset="-120"/>
              </a:rPr>
              <a:t>وكل تصحيح من سائح يزيد الدقة لمن بعده</a:t>
            </a:r>
            <a:endParaRPr lang="en-US" sz="1250" dirty="0"/>
          </a:p>
        </p:txBody>
      </p:sp>
      <p:sp>
        <p:nvSpPr>
          <p:cNvPr id="23" name="Shape 20"/>
          <p:cNvSpPr/>
          <p:nvPr/>
        </p:nvSpPr>
        <p:spPr>
          <a:xfrm>
            <a:off x="777240" y="2761488"/>
            <a:ext cx="5181448" cy="2249424"/>
          </a:xfrm>
          <a:prstGeom prst="roundRect">
            <a:avLst>
              <a:gd name="adj" fmla="val 3252"/>
            </a:avLst>
          </a:prstGeom>
          <a:solidFill>
            <a:srgbClr val="EEF3F9"/>
          </a:solidFill>
          <a:ln w="9525">
            <a:solidFill>
              <a:srgbClr val="D9E2EC"/>
            </a:solidFill>
            <a:prstDash val="solid"/>
          </a:ln>
        </p:spPr>
      </p:sp>
      <p:sp>
        <p:nvSpPr>
          <p:cNvPr id="24" name="Text 21"/>
          <p:cNvSpPr/>
          <p:nvPr/>
        </p:nvSpPr>
        <p:spPr>
          <a:xfrm>
            <a:off x="1051560" y="2962656"/>
            <a:ext cx="4632808" cy="329184"/>
          </a:xfrm>
          <a:prstGeom prst="rect">
            <a:avLst/>
          </a:prstGeom>
          <a:noFill/>
          <a:ln/>
        </p:spPr>
        <p:txBody>
          <a:bodyPr wrap="square" lIns="0" tIns="0" rIns="0" bIns="0" rtlCol="0" anchor="ctr"/>
          <a:lstStyle/>
          <a:p>
            <a:pPr rtl="1" algn="r" indent="0" marL="0">
              <a:buNone/>
            </a:pPr>
            <a:r>
              <a:rPr lang="en-US" sz="1500" b="1" dirty="0">
                <a:solidFill>
                  <a:srgbClr val="255174"/>
                </a:solidFill>
                <a:latin typeface="Tajawal" pitchFamily="34" charset="0"/>
                <a:ea typeface="Tajawal" pitchFamily="34" charset="-122"/>
                <a:cs typeface="Tajawal" pitchFamily="34" charset="-120"/>
              </a:rPr>
              <a:t>إلى أين يتوسع</a:t>
            </a:r>
            <a:endParaRPr lang="en-US" sz="1500" dirty="0"/>
          </a:p>
        </p:txBody>
      </p:sp>
      <p:sp>
        <p:nvSpPr>
          <p:cNvPr id="25" name="Text 22"/>
          <p:cNvSpPr/>
          <p:nvPr/>
        </p:nvSpPr>
        <p:spPr>
          <a:xfrm>
            <a:off x="1051560" y="3383280"/>
            <a:ext cx="4632808" cy="1463040"/>
          </a:xfrm>
          <a:prstGeom prst="rect">
            <a:avLst/>
          </a:prstGeom>
          <a:noFill/>
          <a:ln/>
        </p:spPr>
        <p:txBody>
          <a:bodyPr wrap="square" lIns="0" tIns="0" rIns="0" bIns="0" rtlCol="0" anchor="t"/>
          <a:lstStyle/>
          <a:p>
            <a:pPr rtl="1" algn="r" indent="0" marL="0">
              <a:lnSpc>
                <a:spcPts val="2000"/>
              </a:lnSpc>
              <a:spcAft>
                <a:spcPts val="900"/>
              </a:spcAft>
              <a:buNone/>
            </a:pPr>
            <a:r>
              <a:rPr lang="en-US" sz="1250" dirty="0">
                <a:solidFill>
                  <a:srgbClr val="4B5B6E"/>
                </a:solidFill>
                <a:latin typeface="Tajawal" pitchFamily="34" charset="0"/>
                <a:ea typeface="Tajawal" pitchFamily="34" charset="-122"/>
                <a:cs typeface="Tajawal" pitchFamily="34" charset="-120"/>
              </a:rPr>
              <a:t>بقية مواقع حائل: الشويمس، وجبال أجا، والقشلة، وقلعة أعيرف</a:t>
            </a:r>
            <a:endParaRPr lang="en-US" sz="1250" dirty="0"/>
          </a:p>
          <a:p>
            <a:pPr rtl="1" algn="r" indent="0" marL="0">
              <a:lnSpc>
                <a:spcPts val="2000"/>
              </a:lnSpc>
              <a:spcAft>
                <a:spcPts val="900"/>
              </a:spcAft>
              <a:buNone/>
            </a:pPr>
            <a:r>
              <a:rPr lang="en-US" sz="1250" dirty="0">
                <a:solidFill>
                  <a:srgbClr val="4B5B6E"/>
                </a:solidFill>
                <a:latin typeface="Tajawal" pitchFamily="34" charset="0"/>
                <a:ea typeface="Tajawal" pitchFamily="34" charset="-122"/>
                <a:cs typeface="Tajawal" pitchFamily="34" charset="-120"/>
              </a:rPr>
              <a:t>ثم الجنوب: أبها، وعسير، ونجران، وجازان</a:t>
            </a:r>
            <a:endParaRPr lang="en-US" sz="1250" dirty="0"/>
          </a:p>
          <a:p>
            <a:pPr rtl="1" algn="r" indent="0" marL="0">
              <a:lnSpc>
                <a:spcPts val="2000"/>
              </a:lnSpc>
              <a:spcAft>
                <a:spcPts val="900"/>
              </a:spcAft>
              <a:buNone/>
            </a:pPr>
            <a:r>
              <a:rPr lang="en-US" sz="1250" dirty="0">
                <a:solidFill>
                  <a:srgbClr val="4B5B6E"/>
                </a:solidFill>
                <a:latin typeface="Tajawal" pitchFamily="34" charset="0"/>
                <a:ea typeface="Tajawal" pitchFamily="34" charset="-122"/>
                <a:cs typeface="Tajawal" pitchFamily="34" charset="-120"/>
              </a:rPr>
              <a:t>وكل مدينة غنية بالنقوش: العلا، وتيماء، وتبوك، والجوف</a:t>
            </a:r>
            <a:endParaRPr lang="en-US" sz="1250" dirty="0"/>
          </a:p>
          <a:p>
            <a:pPr rtl="1" algn="r" indent="0" marL="0">
              <a:lnSpc>
                <a:spcPts val="2000"/>
              </a:lnSpc>
              <a:spcAft>
                <a:spcPts val="900"/>
              </a:spcAft>
              <a:buNone/>
            </a:pPr>
            <a:r>
              <a:rPr lang="en-US" sz="1250" dirty="0">
                <a:solidFill>
                  <a:srgbClr val="4B5B6E"/>
                </a:solidFill>
                <a:latin typeface="Tajawal" pitchFamily="34" charset="0"/>
                <a:ea typeface="Tajawal" pitchFamily="34" charset="-122"/>
                <a:cs typeface="Tajawal" pitchFamily="34" charset="-120"/>
              </a:rPr>
              <a:t>ثم أي متحف بنسخة تحمل اسمه</a:t>
            </a:r>
            <a:endParaRPr lang="en-US" sz="1250" dirty="0"/>
          </a:p>
        </p:txBody>
      </p:sp>
      <p:pic>
        <p:nvPicPr>
          <p:cNvPr id="26" name="Image 1" descr="preencoded.png">    </p:cNvPr>
          <p:cNvPicPr>
            <a:picLocks noChangeAspect="1"/>
          </p:cNvPicPr>
          <p:nvPr/>
        </p:nvPicPr>
        <p:blipFill>
          <a:blip r:embed="rId2"/>
          <a:stretch>
            <a:fillRect/>
          </a:stretch>
        </p:blipFill>
        <p:spPr>
          <a:xfrm>
            <a:off x="9677095" y="5175504"/>
            <a:ext cx="1737360" cy="1158240"/>
          </a:xfrm>
          <a:prstGeom prst="rect">
            <a:avLst/>
          </a:prstGeom>
        </p:spPr>
      </p:pic>
      <p:sp>
        <p:nvSpPr>
          <p:cNvPr id="27" name="Text 23"/>
          <p:cNvSpPr/>
          <p:nvPr/>
        </p:nvSpPr>
        <p:spPr>
          <a:xfrm>
            <a:off x="9585655" y="6406896"/>
            <a:ext cx="1920240" cy="256032"/>
          </a:xfrm>
          <a:prstGeom prst="rect">
            <a:avLst/>
          </a:prstGeom>
          <a:noFill/>
          <a:ln/>
        </p:spPr>
        <p:txBody>
          <a:bodyPr wrap="square" lIns="0" tIns="0" rIns="0" bIns="0" rtlCol="0" anchor="ctr"/>
          <a:lstStyle/>
          <a:p>
            <a:pPr rtl="1" algn="ctr" indent="0" marL="0">
              <a:buNone/>
            </a:pPr>
            <a:r>
              <a:rPr lang="en-US" sz="1100" dirty="0">
                <a:solidFill>
                  <a:srgbClr val="4B5B6E"/>
                </a:solidFill>
                <a:latin typeface="Tajawal" pitchFamily="34" charset="0"/>
                <a:ea typeface="Tajawal" pitchFamily="34" charset="-122"/>
                <a:cs typeface="Tajawal" pitchFamily="34" charset="-120"/>
              </a:rPr>
              <a:t>الشويمس</a:t>
            </a:r>
            <a:endParaRPr lang="en-US" sz="1100" dirty="0"/>
          </a:p>
        </p:txBody>
      </p:sp>
      <p:pic>
        <p:nvPicPr>
          <p:cNvPr id="28" name="Image 2" descr="preencoded.png">    </p:cNvPr>
          <p:cNvPicPr>
            <a:picLocks noChangeAspect="1"/>
          </p:cNvPicPr>
          <p:nvPr/>
        </p:nvPicPr>
        <p:blipFill>
          <a:blip r:embed="rId3"/>
          <a:stretch>
            <a:fillRect/>
          </a:stretch>
        </p:blipFill>
        <p:spPr>
          <a:xfrm>
            <a:off x="7720279" y="5175504"/>
            <a:ext cx="1737360" cy="1158240"/>
          </a:xfrm>
          <a:prstGeom prst="rect">
            <a:avLst/>
          </a:prstGeom>
        </p:spPr>
      </p:pic>
      <p:sp>
        <p:nvSpPr>
          <p:cNvPr id="29" name="Text 24"/>
          <p:cNvSpPr/>
          <p:nvPr/>
        </p:nvSpPr>
        <p:spPr>
          <a:xfrm>
            <a:off x="7628839" y="6406896"/>
            <a:ext cx="1920240" cy="256032"/>
          </a:xfrm>
          <a:prstGeom prst="rect">
            <a:avLst/>
          </a:prstGeom>
          <a:noFill/>
          <a:ln/>
        </p:spPr>
        <p:txBody>
          <a:bodyPr wrap="square" lIns="0" tIns="0" rIns="0" bIns="0" rtlCol="0" anchor="ctr"/>
          <a:lstStyle/>
          <a:p>
            <a:pPr rtl="1" algn="ctr" indent="0" marL="0">
              <a:buNone/>
            </a:pPr>
            <a:r>
              <a:rPr lang="en-US" sz="1100" dirty="0">
                <a:solidFill>
                  <a:srgbClr val="4B5B6E"/>
                </a:solidFill>
                <a:latin typeface="Tajawal" pitchFamily="34" charset="0"/>
                <a:ea typeface="Tajawal" pitchFamily="34" charset="-122"/>
                <a:cs typeface="Tajawal" pitchFamily="34" charset="-120"/>
              </a:rPr>
              <a:t>جبال أجا</a:t>
            </a:r>
            <a:endParaRPr lang="en-US" sz="1100" dirty="0"/>
          </a:p>
        </p:txBody>
      </p:sp>
      <p:pic>
        <p:nvPicPr>
          <p:cNvPr id="30" name="Image 3" descr="preencoded.png">    </p:cNvPr>
          <p:cNvPicPr>
            <a:picLocks noChangeAspect="1"/>
          </p:cNvPicPr>
          <p:nvPr/>
        </p:nvPicPr>
        <p:blipFill>
          <a:blip r:embed="rId4"/>
          <a:stretch>
            <a:fillRect/>
          </a:stretch>
        </p:blipFill>
        <p:spPr>
          <a:xfrm>
            <a:off x="5763463" y="5175504"/>
            <a:ext cx="1737360" cy="1158240"/>
          </a:xfrm>
          <a:prstGeom prst="rect">
            <a:avLst/>
          </a:prstGeom>
        </p:spPr>
      </p:pic>
      <p:sp>
        <p:nvSpPr>
          <p:cNvPr id="31" name="Text 25"/>
          <p:cNvSpPr/>
          <p:nvPr/>
        </p:nvSpPr>
        <p:spPr>
          <a:xfrm>
            <a:off x="5672023" y="6406896"/>
            <a:ext cx="1920240" cy="256032"/>
          </a:xfrm>
          <a:prstGeom prst="rect">
            <a:avLst/>
          </a:prstGeom>
          <a:noFill/>
          <a:ln/>
        </p:spPr>
        <p:txBody>
          <a:bodyPr wrap="square" lIns="0" tIns="0" rIns="0" bIns="0" rtlCol="0" anchor="ctr"/>
          <a:lstStyle/>
          <a:p>
            <a:pPr rtl="1" algn="ctr" indent="0" marL="0">
              <a:buNone/>
            </a:pPr>
            <a:r>
              <a:rPr lang="en-US" sz="1100" dirty="0">
                <a:solidFill>
                  <a:srgbClr val="4B5B6E"/>
                </a:solidFill>
                <a:latin typeface="Tajawal" pitchFamily="34" charset="0"/>
                <a:ea typeface="Tajawal" pitchFamily="34" charset="-122"/>
                <a:cs typeface="Tajawal" pitchFamily="34" charset="-120"/>
              </a:rPr>
              <a:t>القشلة</a:t>
            </a:r>
            <a:endParaRPr lang="en-US" sz="1100" dirty="0"/>
          </a:p>
        </p:txBody>
      </p:sp>
      <p:pic>
        <p:nvPicPr>
          <p:cNvPr id="32" name="Image 4" descr="preencoded.png">    </p:cNvPr>
          <p:cNvPicPr>
            <a:picLocks noChangeAspect="1"/>
          </p:cNvPicPr>
          <p:nvPr/>
        </p:nvPicPr>
        <p:blipFill>
          <a:blip r:embed="rId5"/>
          <a:stretch>
            <a:fillRect/>
          </a:stretch>
        </p:blipFill>
        <p:spPr>
          <a:xfrm>
            <a:off x="3806647" y="5175504"/>
            <a:ext cx="1737360" cy="1158240"/>
          </a:xfrm>
          <a:prstGeom prst="rect">
            <a:avLst/>
          </a:prstGeom>
        </p:spPr>
      </p:pic>
      <p:sp>
        <p:nvSpPr>
          <p:cNvPr id="33" name="Text 26"/>
          <p:cNvSpPr/>
          <p:nvPr/>
        </p:nvSpPr>
        <p:spPr>
          <a:xfrm>
            <a:off x="3715207" y="6406896"/>
            <a:ext cx="1920240" cy="256032"/>
          </a:xfrm>
          <a:prstGeom prst="rect">
            <a:avLst/>
          </a:prstGeom>
          <a:noFill/>
          <a:ln/>
        </p:spPr>
        <p:txBody>
          <a:bodyPr wrap="square" lIns="0" tIns="0" rIns="0" bIns="0" rtlCol="0" anchor="ctr"/>
          <a:lstStyle/>
          <a:p>
            <a:pPr rtl="1" algn="ctr" indent="0" marL="0">
              <a:buNone/>
            </a:pPr>
            <a:r>
              <a:rPr lang="en-US" sz="1100" dirty="0">
                <a:solidFill>
                  <a:srgbClr val="4B5B6E"/>
                </a:solidFill>
                <a:latin typeface="Tajawal" pitchFamily="34" charset="0"/>
                <a:ea typeface="Tajawal" pitchFamily="34" charset="-122"/>
                <a:cs typeface="Tajawal" pitchFamily="34" charset="-120"/>
              </a:rPr>
              <a:t>قلعة أعيرف</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22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457200" y="384048"/>
            <a:ext cx="1371600" cy="512064"/>
          </a:xfrm>
          <a:prstGeom prst="rect">
            <a:avLst/>
          </a:prstGeom>
        </p:spPr>
      </p:pic>
      <p:pic>
        <p:nvPicPr>
          <p:cNvPr id="4" name="Image 2" descr="preencoded.png">    </p:cNvPr>
          <p:cNvPicPr>
            <a:picLocks noChangeAspect="1"/>
          </p:cNvPicPr>
          <p:nvPr/>
        </p:nvPicPr>
        <p:blipFill>
          <a:blip r:embed="rId3"/>
          <a:stretch>
            <a:fillRect/>
          </a:stretch>
        </p:blipFill>
        <p:spPr>
          <a:xfrm>
            <a:off x="10591495" y="320040"/>
            <a:ext cx="1143000" cy="1124712"/>
          </a:xfrm>
          <a:prstGeom prst="rect">
            <a:avLst/>
          </a:prstGeom>
        </p:spPr>
      </p:pic>
      <p:sp>
        <p:nvSpPr>
          <p:cNvPr id="5" name="Text 0"/>
          <p:cNvSpPr/>
          <p:nvPr/>
        </p:nvSpPr>
        <p:spPr>
          <a:xfrm>
            <a:off x="4632808" y="2788920"/>
            <a:ext cx="2926080" cy="822960"/>
          </a:xfrm>
          <a:prstGeom prst="rect">
            <a:avLst/>
          </a:prstGeom>
          <a:noFill/>
          <a:ln/>
        </p:spPr>
        <p:txBody>
          <a:bodyPr wrap="square" lIns="0" tIns="0" rIns="0" bIns="0" rtlCol="0" anchor="ctr"/>
          <a:lstStyle/>
          <a:p>
            <a:pPr rtl="1" algn="ctr" indent="0" marL="0">
              <a:buNone/>
            </a:pPr>
            <a:r>
              <a:rPr lang="en-US" sz="3800" b="1" dirty="0">
                <a:solidFill>
                  <a:srgbClr val="FFFFFF"/>
                </a:solidFill>
                <a:latin typeface="Tajawal" pitchFamily="34" charset="0"/>
                <a:ea typeface="Tajawal" pitchFamily="34" charset="-122"/>
                <a:cs typeface="Tajawal" pitchFamily="34" charset="-120"/>
              </a:rPr>
              <a:t>شكرا لكم</a:t>
            </a:r>
            <a:endParaRPr lang="en-US" sz="3800" dirty="0"/>
          </a:p>
        </p:txBody>
      </p:sp>
      <p:sp>
        <p:nvSpPr>
          <p:cNvPr id="6" name="Shape 1"/>
          <p:cNvSpPr/>
          <p:nvPr/>
        </p:nvSpPr>
        <p:spPr>
          <a:xfrm>
            <a:off x="5227168" y="3767328"/>
            <a:ext cx="1737360" cy="91440"/>
          </a:xfrm>
          <a:prstGeom prst="rect">
            <a:avLst/>
          </a:prstGeom>
          <a:solidFill>
            <a:srgbClr val="8357F6"/>
          </a:solidFill>
          <a:ln w="12700">
            <a:solidFill>
              <a:srgbClr val="333333"/>
            </a:solidFill>
            <a:prstDash val="solid"/>
          </a:ln>
        </p:spPr>
      </p:sp>
      <p:sp>
        <p:nvSpPr>
          <p:cNvPr id="7" name="Text 2"/>
          <p:cNvSpPr/>
          <p:nvPr/>
        </p:nvSpPr>
        <p:spPr>
          <a:xfrm>
            <a:off x="0" y="4114800"/>
            <a:ext cx="12191695" cy="411480"/>
          </a:xfrm>
          <a:prstGeom prst="rect">
            <a:avLst/>
          </a:prstGeom>
          <a:noFill/>
          <a:ln/>
        </p:spPr>
        <p:txBody>
          <a:bodyPr wrap="square" lIns="0" tIns="0" rIns="0" bIns="0" rtlCol="0" anchor="ctr"/>
          <a:lstStyle/>
          <a:p>
            <a:pPr algn="ctr" indent="0" marL="0">
              <a:buNone/>
            </a:pPr>
            <a:r>
              <a:rPr lang="en-US" sz="1500" dirty="0">
                <a:solidFill>
                  <a:srgbClr val="A9B6C8"/>
                </a:solidFill>
                <a:latin typeface="Calibri" pitchFamily="34" charset="0"/>
                <a:ea typeface="Calibri" pitchFamily="34" charset="-122"/>
                <a:cs typeface="Calibri" pitchFamily="34" charset="-120"/>
              </a:rPr>
              <a:t>w-electro.github.io/athr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أثر — تسليم هاكاثون AJA AI</dc:title>
  <dc:subject>PptxGenJS Presentation</dc:subject>
  <dc:creator>أثر</dc:creator>
  <cp:lastModifiedBy>أثر</cp:lastModifiedBy>
  <cp:revision>1</cp:revision>
  <dcterms:created xsi:type="dcterms:W3CDTF">2026-09-30T13:24:51Z</dcterms:created>
  <dcterms:modified xsi:type="dcterms:W3CDTF">2026-09-30T13:24:51Z</dcterms:modified>
</cp:coreProperties>
</file>