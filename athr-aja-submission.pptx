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النسخة البيضاء: نبيع التطبيق نفسه لمتحف أو جهة تراثية أخرى، فننشره باسمها وشعارها ونقوشها وقصصها، ولا يرى السائح اسم أثر. والجهة تدفع لنا البناء والإعداد، ونحن لا نبني تطبيقا جديدا في كل مرة.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eg"/><Relationship Id="rId2" Type="http://schemas.openxmlformats.org/officeDocument/2006/relationships/image" Target="../media/image-2-2.jpeg"/><Relationship Id="rId3" Type="http://schemas.openxmlformats.org/officeDocument/2006/relationships/image" Target="../media/image-2-3.jpe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e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e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eg"/><Relationship Id="rId2" Type="http://schemas.openxmlformats.org/officeDocument/2006/relationships/image" Target="../media/image-6-2.jpeg"/><Relationship Id="rId3" Type="http://schemas.openxmlformats.org/officeDocument/2006/relationships/image" Target="../media/image-6-3.jpe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e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eg"/><Relationship Id="rId2" Type="http://schemas.openxmlformats.org/officeDocument/2006/relationships/image" Target="../media/image-10-2.jpeg"/><Relationship Id="rId3" Type="http://schemas.openxmlformats.org/officeDocument/2006/relationships/image" Target="../media/image-10-3.jpeg"/><Relationship Id="rId4" Type="http://schemas.openxmlformats.org/officeDocument/2006/relationships/image" Target="../media/image-10-4.jpeg"/><Relationship Id="rId5" Type="http://schemas.openxmlformats.org/officeDocument/2006/relationships/image" Target="../media/image-10-5.jpeg"/><Relationship Id="rId6" Type="http://schemas.openxmlformats.org/officeDocument/2006/relationships/image" Target="../media/image-10-6.jpe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e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e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e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eg"/><Relationship Id="rId2" Type="http://schemas.openxmlformats.org/officeDocument/2006/relationships/image" Target="../media/image-14-2.jpeg"/><Relationship Id="rId3" Type="http://schemas.openxmlformats.org/officeDocument/2006/relationships/image" Target="../media/image-14-3.jpeg"/><Relationship Id="rId4" Type="http://schemas.openxmlformats.org/officeDocument/2006/relationships/image" Target="../media/image-14-4.jpeg"/><Relationship Id="rId5" Type="http://schemas.openxmlformats.org/officeDocument/2006/relationships/image" Target="../media/image-14-5.jpe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61223"/>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preencoded.png">    </p:cNvPr>
          <p:cNvPicPr>
            <a:picLocks noChangeAspect="1"/>
          </p:cNvPicPr>
          <p:nvPr/>
        </p:nvPicPr>
        <p:blipFill>
          <a:blip r:embed="rId2"/>
          <a:stretch>
            <a:fillRect/>
          </a:stretch>
        </p:blipFill>
        <p:spPr>
          <a:xfrm>
            <a:off x="457200" y="384048"/>
            <a:ext cx="1371600" cy="512064"/>
          </a:xfrm>
          <a:prstGeom prst="rect">
            <a:avLst/>
          </a:prstGeom>
        </p:spPr>
      </p:pic>
      <p:pic>
        <p:nvPicPr>
          <p:cNvPr id="4" name="Image 2" descr="preencoded.png">    </p:cNvPr>
          <p:cNvPicPr>
            <a:picLocks noChangeAspect="1"/>
          </p:cNvPicPr>
          <p:nvPr/>
        </p:nvPicPr>
        <p:blipFill>
          <a:blip r:embed="rId3"/>
          <a:stretch>
            <a:fillRect/>
          </a:stretch>
        </p:blipFill>
        <p:spPr>
          <a:xfrm>
            <a:off x="10591495" y="320040"/>
            <a:ext cx="1143000" cy="1124712"/>
          </a:xfrm>
          <a:prstGeom prst="rect">
            <a:avLst/>
          </a:prstGeom>
        </p:spPr>
      </p:pic>
      <p:sp>
        <p:nvSpPr>
          <p:cNvPr id="5" name="Text 0"/>
          <p:cNvSpPr/>
          <p:nvPr/>
        </p:nvSpPr>
        <p:spPr>
          <a:xfrm>
            <a:off x="6205576" y="2697480"/>
            <a:ext cx="2103120" cy="822960"/>
          </a:xfrm>
          <a:prstGeom prst="rect">
            <a:avLst/>
          </a:prstGeom>
          <a:noFill/>
          <a:ln/>
        </p:spPr>
        <p:txBody>
          <a:bodyPr wrap="square" lIns="0" tIns="0" rIns="0" bIns="0" rtlCol="0" anchor="ctr"/>
          <a:lstStyle/>
          <a:p>
            <a:pPr rtl="1" algn="r" indent="0" marL="0">
              <a:buNone/>
            </a:pPr>
            <a:r>
              <a:rPr lang="en-US" sz="4000" b="1" dirty="0">
                <a:solidFill>
                  <a:srgbClr val="FFFFFF"/>
                </a:solidFill>
                <a:latin typeface="Tajawal" pitchFamily="34" charset="0"/>
                <a:ea typeface="Tajawal" pitchFamily="34" charset="-122"/>
                <a:cs typeface="Tajawal" pitchFamily="34" charset="-120"/>
              </a:rPr>
              <a:t>هاكاثون</a:t>
            </a:r>
            <a:endParaRPr lang="en-US" sz="4000" dirty="0"/>
          </a:p>
        </p:txBody>
      </p:sp>
      <p:sp>
        <p:nvSpPr>
          <p:cNvPr id="6" name="Text 1"/>
          <p:cNvSpPr/>
          <p:nvPr/>
        </p:nvSpPr>
        <p:spPr>
          <a:xfrm>
            <a:off x="3883000" y="2724912"/>
            <a:ext cx="2103120" cy="777240"/>
          </a:xfrm>
          <a:prstGeom prst="rect">
            <a:avLst/>
          </a:prstGeom>
          <a:noFill/>
          <a:ln/>
        </p:spPr>
        <p:txBody>
          <a:bodyPr wrap="square" lIns="0" tIns="0" rIns="0" bIns="0" rtlCol="0" anchor="ctr"/>
          <a:lstStyle/>
          <a:p>
            <a:pPr algn="l" indent="0" marL="0">
              <a:buNone/>
            </a:pPr>
            <a:r>
              <a:rPr lang="en-US" sz="4000" b="1" spc="600" kern="0" dirty="0">
                <a:solidFill>
                  <a:srgbClr val="FFFFFF"/>
                </a:solidFill>
                <a:latin typeface="Calibri" pitchFamily="34" charset="0"/>
                <a:ea typeface="Calibri" pitchFamily="34" charset="-122"/>
                <a:cs typeface="Calibri" pitchFamily="34" charset="-120"/>
              </a:rPr>
              <a:t>AJA AI</a:t>
            </a:r>
            <a:endParaRPr lang="en-US" sz="4000" dirty="0"/>
          </a:p>
        </p:txBody>
      </p:sp>
      <p:sp>
        <p:nvSpPr>
          <p:cNvPr id="7" name="Shape 2"/>
          <p:cNvSpPr/>
          <p:nvPr/>
        </p:nvSpPr>
        <p:spPr>
          <a:xfrm>
            <a:off x="3883000" y="3895344"/>
            <a:ext cx="1554480" cy="91440"/>
          </a:xfrm>
          <a:prstGeom prst="rect">
            <a:avLst/>
          </a:prstGeom>
          <a:solidFill>
            <a:srgbClr val="8357F6"/>
          </a:solidFill>
          <a:ln w="12700">
            <a:solidFill>
              <a:srgbClr val="333333"/>
            </a:solidFill>
            <a:prstDash val="solid"/>
          </a:ln>
        </p:spPr>
      </p:sp>
      <p:sp>
        <p:nvSpPr>
          <p:cNvPr id="8" name="Text 3"/>
          <p:cNvSpPr/>
          <p:nvPr/>
        </p:nvSpPr>
        <p:spPr>
          <a:xfrm>
            <a:off x="5638648" y="3712464"/>
            <a:ext cx="2670048" cy="457200"/>
          </a:xfrm>
          <a:prstGeom prst="rect">
            <a:avLst/>
          </a:prstGeom>
          <a:noFill/>
          <a:ln/>
        </p:spPr>
        <p:txBody>
          <a:bodyPr wrap="square" lIns="0" tIns="0" rIns="0" bIns="0" rtlCol="0" anchor="ctr"/>
          <a:lstStyle/>
          <a:p>
            <a:pPr rtl="1" algn="r" indent="0" marL="0">
              <a:buNone/>
            </a:pPr>
            <a:r>
              <a:rPr lang="en-US" sz="2100" dirty="0">
                <a:solidFill>
                  <a:srgbClr val="FFFFFF"/>
                </a:solidFill>
                <a:latin typeface="Tajawal" pitchFamily="34" charset="0"/>
                <a:ea typeface="Tajawal" pitchFamily="34" charset="-122"/>
                <a:cs typeface="Tajawal" pitchFamily="34" charset="-120"/>
              </a:rPr>
              <a:t>فريق أثر</a:t>
            </a:r>
            <a:endParaRPr lang="en-US" sz="2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777240" y="548640"/>
            <a:ext cx="10637215" cy="502920"/>
          </a:xfrm>
          <a:prstGeom prst="rect">
            <a:avLst/>
          </a:prstGeom>
          <a:noFill/>
          <a:ln/>
        </p:spPr>
        <p:txBody>
          <a:bodyPr wrap="square" lIns="0" tIns="0" rIns="0" bIns="0" rtlCol="0" anchor="ctr"/>
          <a:lstStyle/>
          <a:p>
            <a:pPr rtl="1" algn="r" indent="0" marL="0">
              <a:buNone/>
            </a:pPr>
            <a:r>
              <a:rPr lang="en-US" sz="2600" b="1" dirty="0">
                <a:solidFill>
                  <a:srgbClr val="255174"/>
                </a:solidFill>
                <a:latin typeface="Tajawal" pitchFamily="34" charset="0"/>
                <a:ea typeface="Tajawal" pitchFamily="34" charset="-122"/>
                <a:cs typeface="Tajawal" pitchFamily="34" charset="-120"/>
              </a:rPr>
              <a:t>نبذة عنا</a:t>
            </a:r>
            <a:endParaRPr lang="en-US" sz="2600" dirty="0"/>
          </a:p>
        </p:txBody>
      </p:sp>
      <p:pic>
        <p:nvPicPr>
          <p:cNvPr id="4" name="Image 1" descr="preencoded.png">    </p:cNvPr>
          <p:cNvPicPr>
            <a:picLocks noChangeAspect="1"/>
          </p:cNvPicPr>
          <p:nvPr/>
        </p:nvPicPr>
        <p:blipFill>
          <a:blip r:embed="rId2"/>
          <a:stretch>
            <a:fillRect/>
          </a:stretch>
        </p:blipFill>
        <p:spPr>
          <a:xfrm>
            <a:off x="777240" y="1371600"/>
            <a:ext cx="1489409" cy="3108960"/>
          </a:xfrm>
          <a:prstGeom prst="rect">
            <a:avLst/>
          </a:prstGeom>
        </p:spPr>
      </p:pic>
      <p:pic>
        <p:nvPicPr>
          <p:cNvPr id="5" name="Image 2" descr="preencoded.png">    </p:cNvPr>
          <p:cNvPicPr>
            <a:picLocks noChangeAspect="1"/>
          </p:cNvPicPr>
          <p:nvPr/>
        </p:nvPicPr>
        <p:blipFill>
          <a:blip r:embed="rId3"/>
          <a:stretch>
            <a:fillRect/>
          </a:stretch>
        </p:blipFill>
        <p:spPr>
          <a:xfrm>
            <a:off x="2540969" y="1371600"/>
            <a:ext cx="1489409" cy="3108960"/>
          </a:xfrm>
          <a:prstGeom prst="rect">
            <a:avLst/>
          </a:prstGeom>
        </p:spPr>
      </p:pic>
      <p:sp>
        <p:nvSpPr>
          <p:cNvPr id="6" name="Text 1"/>
          <p:cNvSpPr/>
          <p:nvPr/>
        </p:nvSpPr>
        <p:spPr>
          <a:xfrm>
            <a:off x="4579017" y="1463040"/>
            <a:ext cx="6835438" cy="2286000"/>
          </a:xfrm>
          <a:prstGeom prst="rect">
            <a:avLst/>
          </a:prstGeom>
          <a:noFill/>
          <a:ln/>
        </p:spPr>
        <p:txBody>
          <a:bodyPr wrap="square" lIns="0" tIns="0" rIns="0" bIns="0" rtlCol="0" anchor="ctr"/>
          <a:lstStyle/>
          <a:p>
            <a:pPr rtl="1" algn="r" indent="0" marL="0">
              <a:lnSpc>
                <a:spcPts val="2700"/>
              </a:lnSpc>
              <a:spcAft>
                <a:spcPts val="1600"/>
              </a:spcAft>
              <a:buNone/>
            </a:pPr>
            <a:r>
              <a:rPr lang="en-US" sz="1500" dirty="0">
                <a:solidFill>
                  <a:srgbClr val="4B5B6E"/>
                </a:solidFill>
                <a:latin typeface="Tajawal" pitchFamily="34" charset="0"/>
                <a:ea typeface="Tajawal" pitchFamily="34" charset="-122"/>
                <a:cs typeface="Tajawal" pitchFamily="34" charset="-120"/>
              </a:rPr>
              <a:t>أثر دليل تراثي ذكي لمنطقة حائل، يعمل دون اتصال بالإنترنت</a:t>
            </a:r>
            <a:endParaRPr lang="en-US" sz="1500" dirty="0"/>
          </a:p>
          <a:p>
            <a:pPr rtl="1" algn="r" indent="0" marL="0">
              <a:lnSpc>
                <a:spcPts val="2700"/>
              </a:lnSpc>
              <a:spcAft>
                <a:spcPts val="1600"/>
              </a:spcAft>
              <a:buNone/>
            </a:pPr>
            <a:r>
              <a:rPr lang="en-US" sz="1500" dirty="0">
                <a:solidFill>
                  <a:srgbClr val="4B5B6E"/>
                </a:solidFill>
                <a:latin typeface="Tajawal" pitchFamily="34" charset="0"/>
                <a:ea typeface="Tajawal" pitchFamily="34" charset="-122"/>
                <a:cs typeface="Tajawal" pitchFamily="34" charset="-120"/>
              </a:rPr>
              <a:t>يشمل مسارا كاملا لرحلة السائح، إضافة إلى ماسح ذكي يعمل بنموذج الذكاء الاصطناعي DINOv3</a:t>
            </a:r>
            <a:endParaRPr lang="en-US" sz="1500" dirty="0"/>
          </a:p>
          <a:p>
            <a:pPr rtl="1" algn="r" indent="0" marL="0">
              <a:lnSpc>
                <a:spcPts val="2700"/>
              </a:lnSpc>
              <a:spcAft>
                <a:spcPts val="1600"/>
              </a:spcAft>
              <a:buNone/>
            </a:pPr>
            <a:r>
              <a:rPr lang="en-US" sz="1500" dirty="0">
                <a:solidFill>
                  <a:srgbClr val="4B5B6E"/>
                </a:solidFill>
                <a:latin typeface="Tajawal" pitchFamily="34" charset="0"/>
                <a:ea typeface="Tajawal" pitchFamily="34" charset="-122"/>
                <a:cs typeface="Tajawal" pitchFamily="34" charset="-120"/>
              </a:rPr>
              <a:t>يوجه السائح كاميرا جواله إلى النقش الصخري، فيتعرف عليه الماسح بعينه، ويروي له قصته بصوت مسموع وبلغته</a:t>
            </a:r>
            <a:endParaRPr lang="en-US" sz="1500" dirty="0"/>
          </a:p>
        </p:txBody>
      </p:sp>
      <p:sp>
        <p:nvSpPr>
          <p:cNvPr id="7" name="Shape 2"/>
          <p:cNvSpPr/>
          <p:nvPr/>
        </p:nvSpPr>
        <p:spPr>
          <a:xfrm>
            <a:off x="9282280" y="3950208"/>
            <a:ext cx="2132175" cy="1225296"/>
          </a:xfrm>
          <a:prstGeom prst="roundRect">
            <a:avLst>
              <a:gd name="adj" fmla="val 5970"/>
            </a:avLst>
          </a:prstGeom>
          <a:solidFill>
            <a:srgbClr val="EEF3F9"/>
          </a:solidFill>
          <a:ln w="9525">
            <a:solidFill>
              <a:srgbClr val="D9E2EC"/>
            </a:solidFill>
            <a:prstDash val="solid"/>
          </a:ln>
        </p:spPr>
      </p:sp>
      <p:sp>
        <p:nvSpPr>
          <p:cNvPr id="8" name="Text 3"/>
          <p:cNvSpPr/>
          <p:nvPr/>
        </p:nvSpPr>
        <p:spPr>
          <a:xfrm>
            <a:off x="9282280" y="4096512"/>
            <a:ext cx="2132175" cy="548640"/>
          </a:xfrm>
          <a:prstGeom prst="rect">
            <a:avLst/>
          </a:prstGeom>
          <a:noFill/>
          <a:ln/>
        </p:spPr>
        <p:txBody>
          <a:bodyPr wrap="square" lIns="0" tIns="0" rIns="0" bIns="0" rtlCol="0" anchor="ctr"/>
          <a:lstStyle/>
          <a:p>
            <a:pPr algn="ctr" indent="0" marL="0">
              <a:buNone/>
            </a:pPr>
            <a:r>
              <a:rPr lang="en-US" sz="2800" b="1" dirty="0">
                <a:solidFill>
                  <a:srgbClr val="255174"/>
                </a:solidFill>
                <a:latin typeface="Calibri" pitchFamily="34" charset="0"/>
                <a:ea typeface="Calibri" pitchFamily="34" charset="-122"/>
                <a:cs typeface="Calibri" pitchFamily="34" charset="-120"/>
              </a:rPr>
              <a:t>29</a:t>
            </a:r>
            <a:endParaRPr lang="en-US" sz="2800" dirty="0"/>
          </a:p>
        </p:txBody>
      </p:sp>
      <p:sp>
        <p:nvSpPr>
          <p:cNvPr id="9" name="Text 4"/>
          <p:cNvSpPr/>
          <p:nvPr/>
        </p:nvSpPr>
        <p:spPr>
          <a:xfrm>
            <a:off x="9392008" y="4681728"/>
            <a:ext cx="1912719" cy="402336"/>
          </a:xfrm>
          <a:prstGeom prst="rect">
            <a:avLst/>
          </a:prstGeom>
          <a:noFill/>
          <a:ln/>
        </p:spPr>
        <p:txBody>
          <a:bodyPr wrap="square" lIns="0" tIns="0" rIns="0" bIns="0" rtlCol="0" anchor="ctr"/>
          <a:lstStyle/>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لغة، ولكل لغة</a:t>
            </a:r>
            <a:endParaRPr lang="en-US" sz="1100" dirty="0"/>
          </a:p>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رواية مسموعة</a:t>
            </a:r>
            <a:endParaRPr lang="en-US" sz="1100" dirty="0"/>
          </a:p>
        </p:txBody>
      </p:sp>
      <p:sp>
        <p:nvSpPr>
          <p:cNvPr id="10" name="Shape 5"/>
          <p:cNvSpPr/>
          <p:nvPr/>
        </p:nvSpPr>
        <p:spPr>
          <a:xfrm>
            <a:off x="6930649" y="3950208"/>
            <a:ext cx="2132175" cy="1225296"/>
          </a:xfrm>
          <a:prstGeom prst="roundRect">
            <a:avLst>
              <a:gd name="adj" fmla="val 5970"/>
            </a:avLst>
          </a:prstGeom>
          <a:solidFill>
            <a:srgbClr val="EEF3F9"/>
          </a:solidFill>
          <a:ln w="9525">
            <a:solidFill>
              <a:srgbClr val="D9E2EC"/>
            </a:solidFill>
            <a:prstDash val="solid"/>
          </a:ln>
        </p:spPr>
      </p:sp>
      <p:sp>
        <p:nvSpPr>
          <p:cNvPr id="11" name="Text 6"/>
          <p:cNvSpPr/>
          <p:nvPr/>
        </p:nvSpPr>
        <p:spPr>
          <a:xfrm>
            <a:off x="6930649" y="4096512"/>
            <a:ext cx="2132175" cy="548640"/>
          </a:xfrm>
          <a:prstGeom prst="rect">
            <a:avLst/>
          </a:prstGeom>
          <a:noFill/>
          <a:ln/>
        </p:spPr>
        <p:txBody>
          <a:bodyPr wrap="square" lIns="0" tIns="0" rIns="0" bIns="0" rtlCol="0" anchor="ctr"/>
          <a:lstStyle/>
          <a:p>
            <a:pPr algn="ctr" indent="0" marL="0">
              <a:buNone/>
            </a:pPr>
            <a:r>
              <a:rPr lang="en-US" sz="2800" b="1" dirty="0">
                <a:solidFill>
                  <a:srgbClr val="255174"/>
                </a:solidFill>
                <a:latin typeface="Calibri" pitchFamily="34" charset="0"/>
                <a:ea typeface="Calibri" pitchFamily="34" charset="-122"/>
                <a:cs typeface="Calibri" pitchFamily="34" charset="-120"/>
              </a:rPr>
              <a:t>10</a:t>
            </a:r>
            <a:endParaRPr lang="en-US" sz="2800" dirty="0"/>
          </a:p>
        </p:txBody>
      </p:sp>
      <p:sp>
        <p:nvSpPr>
          <p:cNvPr id="12" name="Text 7"/>
          <p:cNvSpPr/>
          <p:nvPr/>
        </p:nvSpPr>
        <p:spPr>
          <a:xfrm>
            <a:off x="7040377" y="4681728"/>
            <a:ext cx="1912719" cy="402336"/>
          </a:xfrm>
          <a:prstGeom prst="rect">
            <a:avLst/>
          </a:prstGeom>
          <a:noFill/>
          <a:ln/>
        </p:spPr>
        <p:txBody>
          <a:bodyPr wrap="square" lIns="0" tIns="0" rIns="0" bIns="0" rtlCol="0" anchor="ctr"/>
          <a:lstStyle/>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نقوش موثقة</a:t>
            </a:r>
            <a:endParaRPr lang="en-US" sz="1100" dirty="0"/>
          </a:p>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في جبة</a:t>
            </a:r>
            <a:endParaRPr lang="en-US" sz="1100" dirty="0"/>
          </a:p>
        </p:txBody>
      </p:sp>
      <p:sp>
        <p:nvSpPr>
          <p:cNvPr id="13" name="Shape 8"/>
          <p:cNvSpPr/>
          <p:nvPr/>
        </p:nvSpPr>
        <p:spPr>
          <a:xfrm>
            <a:off x="4579017" y="3950208"/>
            <a:ext cx="2132175" cy="1225296"/>
          </a:xfrm>
          <a:prstGeom prst="roundRect">
            <a:avLst>
              <a:gd name="adj" fmla="val 5970"/>
            </a:avLst>
          </a:prstGeom>
          <a:solidFill>
            <a:srgbClr val="EEF3F9"/>
          </a:solidFill>
          <a:ln w="9525">
            <a:solidFill>
              <a:srgbClr val="D9E2EC"/>
            </a:solidFill>
            <a:prstDash val="solid"/>
          </a:ln>
        </p:spPr>
      </p:sp>
      <p:sp>
        <p:nvSpPr>
          <p:cNvPr id="14" name="Text 9"/>
          <p:cNvSpPr/>
          <p:nvPr/>
        </p:nvSpPr>
        <p:spPr>
          <a:xfrm>
            <a:off x="4579017" y="4096512"/>
            <a:ext cx="2132175" cy="548640"/>
          </a:xfrm>
          <a:prstGeom prst="rect">
            <a:avLst/>
          </a:prstGeom>
          <a:noFill/>
          <a:ln/>
        </p:spPr>
        <p:txBody>
          <a:bodyPr wrap="square" lIns="0" tIns="0" rIns="0" bIns="0" rtlCol="0" anchor="ctr"/>
          <a:lstStyle/>
          <a:p>
            <a:pPr algn="ctr" indent="0" marL="0">
              <a:buNone/>
            </a:pPr>
            <a:r>
              <a:rPr lang="en-US" sz="2800" b="1" dirty="0">
                <a:solidFill>
                  <a:srgbClr val="8357F6"/>
                </a:solidFill>
                <a:latin typeface="Calibri" pitchFamily="34" charset="0"/>
                <a:ea typeface="Calibri" pitchFamily="34" charset="-122"/>
                <a:cs typeface="Calibri" pitchFamily="34" charset="-120"/>
              </a:rPr>
              <a:t>0</a:t>
            </a:r>
            <a:endParaRPr lang="en-US" sz="2800" dirty="0"/>
          </a:p>
        </p:txBody>
      </p:sp>
      <p:sp>
        <p:nvSpPr>
          <p:cNvPr id="15" name="Text 10"/>
          <p:cNvSpPr/>
          <p:nvPr/>
        </p:nvSpPr>
        <p:spPr>
          <a:xfrm>
            <a:off x="4688745" y="4681728"/>
            <a:ext cx="1912719" cy="402336"/>
          </a:xfrm>
          <a:prstGeom prst="rect">
            <a:avLst/>
          </a:prstGeom>
          <a:noFill/>
          <a:ln/>
        </p:spPr>
        <p:txBody>
          <a:bodyPr wrap="square" lIns="0" tIns="0" rIns="0" bIns="0" rtlCol="0" anchor="ctr"/>
          <a:lstStyle/>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خوادم، وصفر تكلفة</a:t>
            </a:r>
            <a:endParaRPr lang="en-US" sz="1100" dirty="0"/>
          </a:p>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لكل سائح</a:t>
            </a:r>
            <a:endParaRPr lang="en-US" sz="1100" dirty="0"/>
          </a:p>
        </p:txBody>
      </p:sp>
      <p:sp>
        <p:nvSpPr>
          <p:cNvPr id="16" name="Shape 11"/>
          <p:cNvSpPr/>
          <p:nvPr/>
        </p:nvSpPr>
        <p:spPr>
          <a:xfrm>
            <a:off x="6214720" y="5413248"/>
            <a:ext cx="5199736" cy="841248"/>
          </a:xfrm>
          <a:prstGeom prst="roundRect">
            <a:avLst>
              <a:gd name="adj" fmla="val 8696"/>
            </a:avLst>
          </a:prstGeom>
          <a:solidFill>
            <a:srgbClr val="EEF3F9"/>
          </a:solidFill>
          <a:ln w="9525">
            <a:solidFill>
              <a:srgbClr val="D9E2EC"/>
            </a:solidFill>
            <a:prstDash val="solid"/>
          </a:ln>
        </p:spPr>
      </p:sp>
      <p:sp>
        <p:nvSpPr>
          <p:cNvPr id="17" name="Text 12"/>
          <p:cNvSpPr/>
          <p:nvPr/>
        </p:nvSpPr>
        <p:spPr>
          <a:xfrm>
            <a:off x="6489040" y="5541264"/>
            <a:ext cx="4651096" cy="329184"/>
          </a:xfrm>
          <a:prstGeom prst="rect">
            <a:avLst/>
          </a:prstGeom>
          <a:noFill/>
          <a:ln/>
        </p:spPr>
        <p:txBody>
          <a:bodyPr wrap="square" lIns="0" tIns="0" rIns="0" bIns="0" rtlCol="0" anchor="ctr"/>
          <a:lstStyle/>
          <a:p>
            <a:pPr rtl="1" algn="r" indent="0" marL="0">
              <a:buNone/>
            </a:pPr>
            <a:r>
              <a:rPr lang="en-US" sz="1600" b="1" dirty="0">
                <a:solidFill>
                  <a:srgbClr val="255174"/>
                </a:solidFill>
                <a:latin typeface="Tajawal" pitchFamily="34" charset="0"/>
                <a:ea typeface="Tajawal" pitchFamily="34" charset="-122"/>
                <a:cs typeface="Tajawal" pitchFamily="34" charset="-120"/>
              </a:rPr>
              <a:t>وليد الشمري</a:t>
            </a:r>
            <a:endParaRPr lang="en-US" sz="1600" dirty="0"/>
          </a:p>
        </p:txBody>
      </p:sp>
      <p:sp>
        <p:nvSpPr>
          <p:cNvPr id="18" name="Text 13"/>
          <p:cNvSpPr/>
          <p:nvPr/>
        </p:nvSpPr>
        <p:spPr>
          <a:xfrm>
            <a:off x="6489040" y="5888736"/>
            <a:ext cx="4651096" cy="274320"/>
          </a:xfrm>
          <a:prstGeom prst="rect">
            <a:avLst/>
          </a:prstGeom>
          <a:noFill/>
          <a:ln/>
        </p:spPr>
        <p:txBody>
          <a:bodyPr wrap="square" lIns="0" tIns="0" rIns="0" bIns="0" rtlCol="0" anchor="ctr"/>
          <a:lstStyle/>
          <a:p>
            <a:pPr rtl="1" algn="r" indent="0" marL="0">
              <a:buNone/>
            </a:pPr>
            <a:r>
              <a:rPr lang="en-US" sz="1250" dirty="0">
                <a:solidFill>
                  <a:srgbClr val="4B5B6E"/>
                </a:solidFill>
                <a:latin typeface="Tajawal" pitchFamily="34" charset="0"/>
                <a:ea typeface="Tajawal" pitchFamily="34" charset="-122"/>
                <a:cs typeface="Tajawal" pitchFamily="34" charset="-120"/>
              </a:rPr>
              <a:t>قائد الفريق</a:t>
            </a:r>
            <a:endParaRPr lang="en-US" sz="1250" dirty="0"/>
          </a:p>
        </p:txBody>
      </p:sp>
      <p:sp>
        <p:nvSpPr>
          <p:cNvPr id="19" name="Shape 14"/>
          <p:cNvSpPr/>
          <p:nvPr/>
        </p:nvSpPr>
        <p:spPr>
          <a:xfrm>
            <a:off x="777240" y="5413248"/>
            <a:ext cx="5199736" cy="841248"/>
          </a:xfrm>
          <a:prstGeom prst="roundRect">
            <a:avLst>
              <a:gd name="adj" fmla="val 8696"/>
            </a:avLst>
          </a:prstGeom>
          <a:solidFill>
            <a:srgbClr val="EEF3F9"/>
          </a:solidFill>
          <a:ln w="9525">
            <a:solidFill>
              <a:srgbClr val="D9E2EC"/>
            </a:solidFill>
            <a:prstDash val="solid"/>
          </a:ln>
        </p:spPr>
      </p:sp>
      <p:sp>
        <p:nvSpPr>
          <p:cNvPr id="20" name="Text 15"/>
          <p:cNvSpPr/>
          <p:nvPr/>
        </p:nvSpPr>
        <p:spPr>
          <a:xfrm>
            <a:off x="1051560" y="5541264"/>
            <a:ext cx="4651096" cy="329184"/>
          </a:xfrm>
          <a:prstGeom prst="rect">
            <a:avLst/>
          </a:prstGeom>
          <a:noFill/>
          <a:ln/>
        </p:spPr>
        <p:txBody>
          <a:bodyPr wrap="square" lIns="0" tIns="0" rIns="0" bIns="0" rtlCol="0" anchor="ctr"/>
          <a:lstStyle/>
          <a:p>
            <a:pPr rtl="1" algn="r" indent="0" marL="0">
              <a:buNone/>
            </a:pPr>
            <a:r>
              <a:rPr lang="en-US" sz="1600" b="1" dirty="0">
                <a:solidFill>
                  <a:srgbClr val="255174"/>
                </a:solidFill>
                <a:latin typeface="Tajawal" pitchFamily="34" charset="0"/>
                <a:ea typeface="Tajawal" pitchFamily="34" charset="-122"/>
                <a:cs typeface="Tajawal" pitchFamily="34" charset="-120"/>
              </a:rPr>
              <a:t>فالح الغسلان</a:t>
            </a:r>
            <a:endParaRPr lang="en-US" sz="1600" dirty="0"/>
          </a:p>
        </p:txBody>
      </p:sp>
      <p:sp>
        <p:nvSpPr>
          <p:cNvPr id="21" name="Text 16"/>
          <p:cNvSpPr/>
          <p:nvPr/>
        </p:nvSpPr>
        <p:spPr>
          <a:xfrm>
            <a:off x="1051560" y="5888736"/>
            <a:ext cx="4651096" cy="274320"/>
          </a:xfrm>
          <a:prstGeom prst="rect">
            <a:avLst/>
          </a:prstGeom>
          <a:noFill/>
          <a:ln/>
        </p:spPr>
        <p:txBody>
          <a:bodyPr wrap="square" lIns="0" tIns="0" rIns="0" bIns="0" rtlCol="0" anchor="ctr"/>
          <a:lstStyle/>
          <a:p>
            <a:pPr rtl="1" algn="r" indent="0" marL="0">
              <a:buNone/>
            </a:pPr>
            <a:r>
              <a:rPr lang="en-US" sz="1250" dirty="0">
                <a:solidFill>
                  <a:srgbClr val="4B5B6E"/>
                </a:solidFill>
                <a:latin typeface="Tajawal" pitchFamily="34" charset="0"/>
                <a:ea typeface="Tajawal" pitchFamily="34" charset="-122"/>
                <a:cs typeface="Tajawal" pitchFamily="34" charset="-120"/>
              </a:rPr>
              <a:t>مؤرخ</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40080" y="1920240"/>
            <a:ext cx="4754880" cy="3017520"/>
          </a:xfrm>
          <a:prstGeom prst="rect">
            <a:avLst/>
          </a:prstGeom>
          <a:noFill/>
          <a:ln/>
        </p:spPr>
        <p:txBody>
          <a:bodyPr wrap="square" lIns="0" tIns="0" rIns="0" bIns="0" rtlCol="0" anchor="ctr"/>
          <a:lstStyle/>
          <a:p>
            <a:pPr algn="l" indent="0" marL="0">
              <a:buNone/>
            </a:pPr>
            <a:r>
              <a:rPr lang="en-US" sz="17000" b="1" dirty="0">
                <a:solidFill>
                  <a:srgbClr val="DCE5F0"/>
                </a:solidFill>
                <a:latin typeface="Calibri" pitchFamily="34" charset="0"/>
                <a:ea typeface="Calibri" pitchFamily="34" charset="-122"/>
                <a:cs typeface="Calibri" pitchFamily="34" charset="-120"/>
              </a:rPr>
              <a:t>01</a:t>
            </a:r>
            <a:endParaRPr lang="en-US" sz="17000" dirty="0"/>
          </a:p>
        </p:txBody>
      </p:sp>
      <p:sp>
        <p:nvSpPr>
          <p:cNvPr id="4" name="Text 1"/>
          <p:cNvSpPr/>
          <p:nvPr/>
        </p:nvSpPr>
        <p:spPr>
          <a:xfrm>
            <a:off x="5120640" y="2788920"/>
            <a:ext cx="6293815" cy="1280160"/>
          </a:xfrm>
          <a:prstGeom prst="rect">
            <a:avLst/>
          </a:prstGeom>
          <a:noFill/>
          <a:ln/>
        </p:spPr>
        <p:txBody>
          <a:bodyPr wrap="square" lIns="0" tIns="0" rIns="0" bIns="0" rtlCol="0" anchor="ctr"/>
          <a:lstStyle/>
          <a:p>
            <a:pPr rtl="1" algn="r" indent="0" marL="0">
              <a:buNone/>
            </a:pPr>
            <a:r>
              <a:rPr lang="en-US" sz="3600" b="1" dirty="0">
                <a:solidFill>
                  <a:srgbClr val="255174"/>
                </a:solidFill>
                <a:latin typeface="Tajawal" pitchFamily="34" charset="0"/>
                <a:ea typeface="Tajawal" pitchFamily="34" charset="-122"/>
                <a:cs typeface="Tajawal" pitchFamily="34" charset="-120"/>
              </a:rPr>
              <a:t>الابتكار والأصالة</a:t>
            </a:r>
            <a:endParaRPr lang="en-US" sz="3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777240" y="548640"/>
            <a:ext cx="10637215" cy="502920"/>
          </a:xfrm>
          <a:prstGeom prst="rect">
            <a:avLst/>
          </a:prstGeom>
          <a:noFill/>
          <a:ln/>
        </p:spPr>
        <p:txBody>
          <a:bodyPr wrap="square" lIns="0" tIns="0" rIns="0" bIns="0" rtlCol="0" anchor="ctr"/>
          <a:lstStyle/>
          <a:p>
            <a:pPr rtl="1" algn="r" indent="0" marL="0">
              <a:buNone/>
            </a:pPr>
            <a:r>
              <a:rPr lang="en-US" sz="2600" b="1" dirty="0">
                <a:solidFill>
                  <a:srgbClr val="255174"/>
                </a:solidFill>
                <a:latin typeface="Tajawal" pitchFamily="34" charset="0"/>
                <a:ea typeface="Tajawal" pitchFamily="34" charset="-122"/>
                <a:cs typeface="Tajawal" pitchFamily="34" charset="-120"/>
              </a:rPr>
              <a:t>الابتكار والأصالة</a:t>
            </a:r>
            <a:endParaRPr lang="en-US" sz="2600" dirty="0"/>
          </a:p>
        </p:txBody>
      </p:sp>
      <p:sp>
        <p:nvSpPr>
          <p:cNvPr id="4" name="Shape 1"/>
          <p:cNvSpPr/>
          <p:nvPr/>
        </p:nvSpPr>
        <p:spPr>
          <a:xfrm>
            <a:off x="8027213" y="1234440"/>
            <a:ext cx="3387242" cy="1783080"/>
          </a:xfrm>
          <a:prstGeom prst="roundRect">
            <a:avLst>
              <a:gd name="adj" fmla="val 4103"/>
            </a:avLst>
          </a:prstGeom>
          <a:solidFill>
            <a:srgbClr val="EEF3F9"/>
          </a:solidFill>
          <a:ln w="9525">
            <a:solidFill>
              <a:srgbClr val="D9E2EC"/>
            </a:solidFill>
            <a:prstDash val="solid"/>
          </a:ln>
        </p:spPr>
      </p:sp>
      <p:sp>
        <p:nvSpPr>
          <p:cNvPr id="5" name="Text 2"/>
          <p:cNvSpPr/>
          <p:nvPr/>
        </p:nvSpPr>
        <p:spPr>
          <a:xfrm>
            <a:off x="8264957" y="1417320"/>
            <a:ext cx="2911754" cy="310896"/>
          </a:xfrm>
          <a:prstGeom prst="rect">
            <a:avLst/>
          </a:prstGeom>
          <a:noFill/>
          <a:ln/>
        </p:spPr>
        <p:txBody>
          <a:bodyPr wrap="square" lIns="0" tIns="0" rIns="0" bIns="0" rtlCol="0" anchor="ctr"/>
          <a:lstStyle/>
          <a:p>
            <a:pPr rtl="1" algn="r" indent="0" marL="0">
              <a:buNone/>
            </a:pPr>
            <a:r>
              <a:rPr lang="en-US" sz="1400" b="1" dirty="0">
                <a:solidFill>
                  <a:srgbClr val="8357F6"/>
                </a:solidFill>
                <a:latin typeface="Tajawal" pitchFamily="34" charset="0"/>
                <a:ea typeface="Tajawal" pitchFamily="34" charset="-122"/>
                <a:cs typeface="Tajawal" pitchFamily="34" charset="-120"/>
              </a:rPr>
              <a:t>تميز الفكرة</a:t>
            </a:r>
            <a:endParaRPr lang="en-US" sz="1400" dirty="0"/>
          </a:p>
        </p:txBody>
      </p:sp>
      <p:sp>
        <p:nvSpPr>
          <p:cNvPr id="6" name="Text 3"/>
          <p:cNvSpPr/>
          <p:nvPr/>
        </p:nvSpPr>
        <p:spPr>
          <a:xfrm>
            <a:off x="8264957" y="1801368"/>
            <a:ext cx="2911754" cy="1033272"/>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دليل يقرأ النقش نفسه، لا لافتة عامة عند المدخل، فيسمي النقش الذي أمامك من بين مئات النقوش على الصخرة الواحدة</a:t>
            </a:r>
            <a:endParaRPr lang="en-US" sz="1250" dirty="0"/>
          </a:p>
        </p:txBody>
      </p:sp>
      <p:sp>
        <p:nvSpPr>
          <p:cNvPr id="7" name="Shape 4"/>
          <p:cNvSpPr/>
          <p:nvPr/>
        </p:nvSpPr>
        <p:spPr>
          <a:xfrm>
            <a:off x="4402226" y="1234440"/>
            <a:ext cx="3387242" cy="1783080"/>
          </a:xfrm>
          <a:prstGeom prst="roundRect">
            <a:avLst>
              <a:gd name="adj" fmla="val 4103"/>
            </a:avLst>
          </a:prstGeom>
          <a:solidFill>
            <a:srgbClr val="EEF3F9"/>
          </a:solidFill>
          <a:ln w="9525">
            <a:solidFill>
              <a:srgbClr val="D9E2EC"/>
            </a:solidFill>
            <a:prstDash val="solid"/>
          </a:ln>
        </p:spPr>
      </p:sp>
      <p:sp>
        <p:nvSpPr>
          <p:cNvPr id="8" name="Text 5"/>
          <p:cNvSpPr/>
          <p:nvPr/>
        </p:nvSpPr>
        <p:spPr>
          <a:xfrm>
            <a:off x="4639970" y="1417320"/>
            <a:ext cx="2911754" cy="310896"/>
          </a:xfrm>
          <a:prstGeom prst="rect">
            <a:avLst/>
          </a:prstGeom>
          <a:noFill/>
          <a:ln/>
        </p:spPr>
        <p:txBody>
          <a:bodyPr wrap="square" lIns="0" tIns="0" rIns="0" bIns="0" rtlCol="0" anchor="ctr"/>
          <a:lstStyle/>
          <a:p>
            <a:pPr rtl="1" algn="r" indent="0" marL="0">
              <a:buNone/>
            </a:pPr>
            <a:r>
              <a:rPr lang="en-US" sz="1400" b="1" dirty="0">
                <a:solidFill>
                  <a:srgbClr val="8357F6"/>
                </a:solidFill>
                <a:latin typeface="Tajawal" pitchFamily="34" charset="0"/>
                <a:ea typeface="Tajawal" pitchFamily="34" charset="-122"/>
                <a:cs typeface="Tajawal" pitchFamily="34" charset="-120"/>
              </a:rPr>
              <a:t>مستوى الابتكار</a:t>
            </a:r>
            <a:endParaRPr lang="en-US" sz="1400" dirty="0"/>
          </a:p>
        </p:txBody>
      </p:sp>
      <p:sp>
        <p:nvSpPr>
          <p:cNvPr id="9" name="Text 6"/>
          <p:cNvSpPr/>
          <p:nvPr/>
        </p:nvSpPr>
        <p:spPr>
          <a:xfrm>
            <a:off x="4639970" y="1801368"/>
            <a:ext cx="2911754" cy="1033272"/>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نموذج الرؤية يعمل كاملا داخل المتصفح بحجم 22 ميغابايت، ويتعلم من تصحيحات السياح فتصل إلى كل الأجهزة مع التحديث</a:t>
            </a:r>
            <a:endParaRPr lang="en-US" sz="1250" dirty="0"/>
          </a:p>
        </p:txBody>
      </p:sp>
      <p:sp>
        <p:nvSpPr>
          <p:cNvPr id="10" name="Shape 7"/>
          <p:cNvSpPr/>
          <p:nvPr/>
        </p:nvSpPr>
        <p:spPr>
          <a:xfrm>
            <a:off x="777240" y="1234440"/>
            <a:ext cx="3387242" cy="1783080"/>
          </a:xfrm>
          <a:prstGeom prst="roundRect">
            <a:avLst>
              <a:gd name="adj" fmla="val 4103"/>
            </a:avLst>
          </a:prstGeom>
          <a:solidFill>
            <a:srgbClr val="EEF3F9"/>
          </a:solidFill>
          <a:ln w="9525">
            <a:solidFill>
              <a:srgbClr val="D9E2EC"/>
            </a:solidFill>
            <a:prstDash val="solid"/>
          </a:ln>
        </p:spPr>
      </p:sp>
      <p:sp>
        <p:nvSpPr>
          <p:cNvPr id="11" name="Text 8"/>
          <p:cNvSpPr/>
          <p:nvPr/>
        </p:nvSpPr>
        <p:spPr>
          <a:xfrm>
            <a:off x="1014984" y="1417320"/>
            <a:ext cx="2911754" cy="310896"/>
          </a:xfrm>
          <a:prstGeom prst="rect">
            <a:avLst/>
          </a:prstGeom>
          <a:noFill/>
          <a:ln/>
        </p:spPr>
        <p:txBody>
          <a:bodyPr wrap="square" lIns="0" tIns="0" rIns="0" bIns="0" rtlCol="0" anchor="ctr"/>
          <a:lstStyle/>
          <a:p>
            <a:pPr rtl="1" algn="r" indent="0" marL="0">
              <a:buNone/>
            </a:pPr>
            <a:r>
              <a:rPr lang="en-US" sz="1400" b="1" dirty="0">
                <a:solidFill>
                  <a:srgbClr val="8357F6"/>
                </a:solidFill>
                <a:latin typeface="Tajawal" pitchFamily="34" charset="0"/>
                <a:ea typeface="Tajawal" pitchFamily="34" charset="-122"/>
                <a:cs typeface="Tajawal" pitchFamily="34" charset="-120"/>
              </a:rPr>
              <a:t>الاختلاف عن البدائل</a:t>
            </a:r>
            <a:endParaRPr lang="en-US" sz="1400" dirty="0"/>
          </a:p>
        </p:txBody>
      </p:sp>
      <p:sp>
        <p:nvSpPr>
          <p:cNvPr id="12" name="Text 9"/>
          <p:cNvSpPr/>
          <p:nvPr/>
        </p:nvSpPr>
        <p:spPr>
          <a:xfrm>
            <a:off x="1014984" y="1801368"/>
            <a:ext cx="2911754" cy="1033272"/>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لكل بديل حد يقف عنده، فاللافتة عامة، والمرشد يحتاج إلى موعد، والتطبيق السحابي يتوقف حيث لا شبكة</a:t>
            </a:r>
            <a:endParaRPr lang="en-US" sz="1250" dirty="0"/>
          </a:p>
        </p:txBody>
      </p:sp>
      <p:sp>
        <p:nvSpPr>
          <p:cNvPr id="13" name="Text 10"/>
          <p:cNvSpPr/>
          <p:nvPr/>
        </p:nvSpPr>
        <p:spPr>
          <a:xfrm>
            <a:off x="6842455" y="3310128"/>
            <a:ext cx="4297680" cy="292608"/>
          </a:xfrm>
          <a:prstGeom prst="rect">
            <a:avLst/>
          </a:prstGeom>
          <a:noFill/>
          <a:ln/>
        </p:spPr>
        <p:txBody>
          <a:bodyPr wrap="square" lIns="0" tIns="0" rIns="0" bIns="0" rtlCol="0" anchor="ctr"/>
          <a:lstStyle/>
          <a:p>
            <a:pPr rtl="1" algn="r" indent="0" marL="0">
              <a:buNone/>
            </a:pPr>
            <a:r>
              <a:rPr lang="en-US" sz="1300" b="1" dirty="0">
                <a:solidFill>
                  <a:srgbClr val="4B5B6E"/>
                </a:solidFill>
                <a:latin typeface="Tajawal" pitchFamily="34" charset="0"/>
                <a:ea typeface="Tajawal" pitchFamily="34" charset="-122"/>
                <a:cs typeface="Tajawal" pitchFamily="34" charset="-120"/>
              </a:rPr>
              <a:t>البدائل الحالية</a:t>
            </a:r>
            <a:endParaRPr lang="en-US" sz="1300" dirty="0"/>
          </a:p>
        </p:txBody>
      </p:sp>
      <p:sp>
        <p:nvSpPr>
          <p:cNvPr id="14" name="Text 11"/>
          <p:cNvSpPr/>
          <p:nvPr/>
        </p:nvSpPr>
        <p:spPr>
          <a:xfrm>
            <a:off x="777240" y="3310128"/>
            <a:ext cx="5760720" cy="292608"/>
          </a:xfrm>
          <a:prstGeom prst="rect">
            <a:avLst/>
          </a:prstGeom>
          <a:noFill/>
          <a:ln/>
        </p:spPr>
        <p:txBody>
          <a:bodyPr wrap="square" lIns="0" tIns="0" rIns="0" bIns="0" rtlCol="0" anchor="ctr"/>
          <a:lstStyle/>
          <a:p>
            <a:pPr rtl="1" algn="r" indent="0" marL="0">
              <a:buNone/>
            </a:pPr>
            <a:r>
              <a:rPr lang="en-US" sz="1300" b="1" dirty="0">
                <a:solidFill>
                  <a:srgbClr val="255174"/>
                </a:solidFill>
                <a:latin typeface="Tajawal" pitchFamily="34" charset="0"/>
                <a:ea typeface="Tajawal" pitchFamily="34" charset="-122"/>
                <a:cs typeface="Tajawal" pitchFamily="34" charset="-120"/>
              </a:rPr>
              <a:t>أثر</a:t>
            </a:r>
            <a:endParaRPr lang="en-US" sz="1300" dirty="0"/>
          </a:p>
        </p:txBody>
      </p:sp>
      <p:sp>
        <p:nvSpPr>
          <p:cNvPr id="15" name="Shape 12"/>
          <p:cNvSpPr/>
          <p:nvPr/>
        </p:nvSpPr>
        <p:spPr>
          <a:xfrm>
            <a:off x="6842455" y="3712464"/>
            <a:ext cx="4572000" cy="420624"/>
          </a:xfrm>
          <a:prstGeom prst="roundRect">
            <a:avLst>
              <a:gd name="adj" fmla="val 17391"/>
            </a:avLst>
          </a:prstGeom>
          <a:solidFill>
            <a:srgbClr val="F4F6F9"/>
          </a:solidFill>
          <a:ln w="9525">
            <a:solidFill>
              <a:srgbClr val="D9E2EC"/>
            </a:solidFill>
            <a:prstDash val="solid"/>
          </a:ln>
        </p:spPr>
      </p:sp>
      <p:sp>
        <p:nvSpPr>
          <p:cNvPr id="16" name="Text 13"/>
          <p:cNvSpPr/>
          <p:nvPr/>
        </p:nvSpPr>
        <p:spPr>
          <a:xfrm>
            <a:off x="7061911" y="3794760"/>
            <a:ext cx="4133088" cy="256032"/>
          </a:xfrm>
          <a:prstGeom prst="rect">
            <a:avLst/>
          </a:prstGeom>
          <a:noFill/>
          <a:ln/>
        </p:spPr>
        <p:txBody>
          <a:bodyPr wrap="square" lIns="0" tIns="0" rIns="0" bIns="0" rtlCol="0" anchor="ctr"/>
          <a:lstStyle/>
          <a:p>
            <a:pPr rtl="1" algn="r" indent="0" marL="0">
              <a:buNone/>
            </a:pPr>
            <a:r>
              <a:rPr lang="en-US" sz="1200" dirty="0">
                <a:solidFill>
                  <a:srgbClr val="4B5B6E"/>
                </a:solidFill>
                <a:latin typeface="Tajawal" pitchFamily="34" charset="0"/>
                <a:ea typeface="Tajawal" pitchFamily="34" charset="-122"/>
                <a:cs typeface="Tajawal" pitchFamily="34" charset="-120"/>
              </a:rPr>
              <a:t>لافتة واحدة عند مدخل الموقع</a:t>
            </a:r>
            <a:endParaRPr lang="en-US" sz="1200" dirty="0"/>
          </a:p>
        </p:txBody>
      </p:sp>
      <p:sp>
        <p:nvSpPr>
          <p:cNvPr id="17" name="Shape 14"/>
          <p:cNvSpPr/>
          <p:nvPr/>
        </p:nvSpPr>
        <p:spPr>
          <a:xfrm>
            <a:off x="777240" y="3712464"/>
            <a:ext cx="6035040" cy="420624"/>
          </a:xfrm>
          <a:prstGeom prst="roundRect">
            <a:avLst>
              <a:gd name="adj" fmla="val 17391"/>
            </a:avLst>
          </a:prstGeom>
          <a:solidFill>
            <a:srgbClr val="EEF3F9"/>
          </a:solidFill>
          <a:ln w="9525">
            <a:solidFill>
              <a:srgbClr val="D9E2EC"/>
            </a:solidFill>
            <a:prstDash val="solid"/>
          </a:ln>
        </p:spPr>
      </p:sp>
      <p:sp>
        <p:nvSpPr>
          <p:cNvPr id="18" name="Text 15"/>
          <p:cNvSpPr/>
          <p:nvPr/>
        </p:nvSpPr>
        <p:spPr>
          <a:xfrm>
            <a:off x="996696" y="3794760"/>
            <a:ext cx="5596128" cy="256032"/>
          </a:xfrm>
          <a:prstGeom prst="rect">
            <a:avLst/>
          </a:prstGeom>
          <a:noFill/>
          <a:ln/>
        </p:spPr>
        <p:txBody>
          <a:bodyPr wrap="square" lIns="0" tIns="0" rIns="0" bIns="0" rtlCol="0" anchor="ctr"/>
          <a:lstStyle/>
          <a:p>
            <a:pPr rtl="1" algn="r" indent="0" marL="0">
              <a:buNone/>
            </a:pPr>
            <a:r>
              <a:rPr lang="en-US" sz="1200" b="1" dirty="0">
                <a:solidFill>
                  <a:srgbClr val="2B3A4C"/>
                </a:solidFill>
                <a:latin typeface="Tajawal" pitchFamily="34" charset="0"/>
                <a:ea typeface="Tajawal" pitchFamily="34" charset="-122"/>
                <a:cs typeface="Tajawal" pitchFamily="34" charset="-120"/>
              </a:rPr>
              <a:t>يسمي النقش الذي أمامك بعينه</a:t>
            </a:r>
            <a:endParaRPr lang="en-US" sz="1200" dirty="0"/>
          </a:p>
        </p:txBody>
      </p:sp>
      <p:sp>
        <p:nvSpPr>
          <p:cNvPr id="19" name="Shape 16"/>
          <p:cNvSpPr/>
          <p:nvPr/>
        </p:nvSpPr>
        <p:spPr>
          <a:xfrm>
            <a:off x="6842455" y="4224528"/>
            <a:ext cx="4572000" cy="420624"/>
          </a:xfrm>
          <a:prstGeom prst="roundRect">
            <a:avLst>
              <a:gd name="adj" fmla="val 17391"/>
            </a:avLst>
          </a:prstGeom>
          <a:solidFill>
            <a:srgbClr val="F4F6F9"/>
          </a:solidFill>
          <a:ln w="9525">
            <a:solidFill>
              <a:srgbClr val="D9E2EC"/>
            </a:solidFill>
            <a:prstDash val="solid"/>
          </a:ln>
        </p:spPr>
      </p:sp>
      <p:sp>
        <p:nvSpPr>
          <p:cNvPr id="20" name="Text 17"/>
          <p:cNvSpPr/>
          <p:nvPr/>
        </p:nvSpPr>
        <p:spPr>
          <a:xfrm>
            <a:off x="7061911" y="4306824"/>
            <a:ext cx="4133088" cy="256032"/>
          </a:xfrm>
          <a:prstGeom prst="rect">
            <a:avLst/>
          </a:prstGeom>
          <a:noFill/>
          <a:ln/>
        </p:spPr>
        <p:txBody>
          <a:bodyPr wrap="square" lIns="0" tIns="0" rIns="0" bIns="0" rtlCol="0" anchor="ctr"/>
          <a:lstStyle/>
          <a:p>
            <a:pPr rtl="1" algn="r" indent="0" marL="0">
              <a:buNone/>
            </a:pPr>
            <a:r>
              <a:rPr lang="en-US" sz="1200" dirty="0">
                <a:solidFill>
                  <a:srgbClr val="4B5B6E"/>
                </a:solidFill>
                <a:latin typeface="Tajawal" pitchFamily="34" charset="0"/>
                <a:ea typeface="Tajawal" pitchFamily="34" charset="-122"/>
                <a:cs typeface="Tajawal" pitchFamily="34" charset="-120"/>
              </a:rPr>
              <a:t>مرشد بحجز مسبق وبلغات محدودة</a:t>
            </a:r>
            <a:endParaRPr lang="en-US" sz="1200" dirty="0"/>
          </a:p>
        </p:txBody>
      </p:sp>
      <p:sp>
        <p:nvSpPr>
          <p:cNvPr id="21" name="Shape 18"/>
          <p:cNvSpPr/>
          <p:nvPr/>
        </p:nvSpPr>
        <p:spPr>
          <a:xfrm>
            <a:off x="777240" y="4224528"/>
            <a:ext cx="6035040" cy="420624"/>
          </a:xfrm>
          <a:prstGeom prst="roundRect">
            <a:avLst>
              <a:gd name="adj" fmla="val 17391"/>
            </a:avLst>
          </a:prstGeom>
          <a:solidFill>
            <a:srgbClr val="EEF3F9"/>
          </a:solidFill>
          <a:ln w="9525">
            <a:solidFill>
              <a:srgbClr val="D9E2EC"/>
            </a:solidFill>
            <a:prstDash val="solid"/>
          </a:ln>
        </p:spPr>
      </p:sp>
      <p:sp>
        <p:nvSpPr>
          <p:cNvPr id="22" name="Text 19"/>
          <p:cNvSpPr/>
          <p:nvPr/>
        </p:nvSpPr>
        <p:spPr>
          <a:xfrm>
            <a:off x="996696" y="4306824"/>
            <a:ext cx="5596128" cy="256032"/>
          </a:xfrm>
          <a:prstGeom prst="rect">
            <a:avLst/>
          </a:prstGeom>
          <a:noFill/>
          <a:ln/>
        </p:spPr>
        <p:txBody>
          <a:bodyPr wrap="square" lIns="0" tIns="0" rIns="0" bIns="0" rtlCol="0" anchor="ctr"/>
          <a:lstStyle/>
          <a:p>
            <a:pPr rtl="1" algn="r" indent="0" marL="0">
              <a:buNone/>
            </a:pPr>
            <a:r>
              <a:rPr lang="en-US" sz="1200" b="1" dirty="0">
                <a:solidFill>
                  <a:srgbClr val="2B3A4C"/>
                </a:solidFill>
                <a:latin typeface="Tajawal" pitchFamily="34" charset="0"/>
                <a:ea typeface="Tajawal" pitchFamily="34" charset="-122"/>
                <a:cs typeface="Tajawal" pitchFamily="34" charset="-120"/>
              </a:rPr>
              <a:t>تسع وعشرون لغة، ولكل لغة صوت</a:t>
            </a:r>
            <a:endParaRPr lang="en-US" sz="1200" dirty="0"/>
          </a:p>
        </p:txBody>
      </p:sp>
      <p:sp>
        <p:nvSpPr>
          <p:cNvPr id="23" name="Shape 20"/>
          <p:cNvSpPr/>
          <p:nvPr/>
        </p:nvSpPr>
        <p:spPr>
          <a:xfrm>
            <a:off x="6842455" y="4736592"/>
            <a:ext cx="4572000" cy="420624"/>
          </a:xfrm>
          <a:prstGeom prst="roundRect">
            <a:avLst>
              <a:gd name="adj" fmla="val 17391"/>
            </a:avLst>
          </a:prstGeom>
          <a:solidFill>
            <a:srgbClr val="F4F6F9"/>
          </a:solidFill>
          <a:ln w="9525">
            <a:solidFill>
              <a:srgbClr val="D9E2EC"/>
            </a:solidFill>
            <a:prstDash val="solid"/>
          </a:ln>
        </p:spPr>
      </p:sp>
      <p:sp>
        <p:nvSpPr>
          <p:cNvPr id="24" name="Text 21"/>
          <p:cNvSpPr/>
          <p:nvPr/>
        </p:nvSpPr>
        <p:spPr>
          <a:xfrm>
            <a:off x="7061911" y="4818888"/>
            <a:ext cx="4133088" cy="256032"/>
          </a:xfrm>
          <a:prstGeom prst="rect">
            <a:avLst/>
          </a:prstGeom>
          <a:noFill/>
          <a:ln/>
        </p:spPr>
        <p:txBody>
          <a:bodyPr wrap="square" lIns="0" tIns="0" rIns="0" bIns="0" rtlCol="0" anchor="ctr"/>
          <a:lstStyle/>
          <a:p>
            <a:pPr rtl="1" algn="r" indent="0" marL="0">
              <a:buNone/>
            </a:pPr>
            <a:r>
              <a:rPr lang="en-US" sz="1200" dirty="0">
                <a:solidFill>
                  <a:srgbClr val="4B5B6E"/>
                </a:solidFill>
                <a:latin typeface="Tajawal" pitchFamily="34" charset="0"/>
                <a:ea typeface="Tajawal" pitchFamily="34" charset="-122"/>
                <a:cs typeface="Tajawal" pitchFamily="34" charset="-120"/>
              </a:rPr>
              <a:t>تطبيق سحابي يتوقف بلا تغطية</a:t>
            </a:r>
            <a:endParaRPr lang="en-US" sz="1200" dirty="0"/>
          </a:p>
        </p:txBody>
      </p:sp>
      <p:sp>
        <p:nvSpPr>
          <p:cNvPr id="25" name="Shape 22"/>
          <p:cNvSpPr/>
          <p:nvPr/>
        </p:nvSpPr>
        <p:spPr>
          <a:xfrm>
            <a:off x="777240" y="4736592"/>
            <a:ext cx="6035040" cy="420624"/>
          </a:xfrm>
          <a:prstGeom prst="roundRect">
            <a:avLst>
              <a:gd name="adj" fmla="val 17391"/>
            </a:avLst>
          </a:prstGeom>
          <a:solidFill>
            <a:srgbClr val="EEF3F9"/>
          </a:solidFill>
          <a:ln w="9525">
            <a:solidFill>
              <a:srgbClr val="D9E2EC"/>
            </a:solidFill>
            <a:prstDash val="solid"/>
          </a:ln>
        </p:spPr>
      </p:sp>
      <p:sp>
        <p:nvSpPr>
          <p:cNvPr id="26" name="Text 23"/>
          <p:cNvSpPr/>
          <p:nvPr/>
        </p:nvSpPr>
        <p:spPr>
          <a:xfrm>
            <a:off x="996696" y="4818888"/>
            <a:ext cx="5596128" cy="256032"/>
          </a:xfrm>
          <a:prstGeom prst="rect">
            <a:avLst/>
          </a:prstGeom>
          <a:noFill/>
          <a:ln/>
        </p:spPr>
        <p:txBody>
          <a:bodyPr wrap="square" lIns="0" tIns="0" rIns="0" bIns="0" rtlCol="0" anchor="ctr"/>
          <a:lstStyle/>
          <a:p>
            <a:pPr rtl="1" algn="r" indent="0" marL="0">
              <a:buNone/>
            </a:pPr>
            <a:r>
              <a:rPr lang="en-US" sz="1200" b="1" dirty="0">
                <a:solidFill>
                  <a:srgbClr val="2B3A4C"/>
                </a:solidFill>
                <a:latin typeface="Tajawal" pitchFamily="34" charset="0"/>
                <a:ea typeface="Tajawal" pitchFamily="34" charset="-122"/>
                <a:cs typeface="Tajawal" pitchFamily="34" charset="-120"/>
              </a:rPr>
              <a:t>يعمل كاملا بلا إنترنت</a:t>
            </a:r>
            <a:endParaRPr lang="en-US" sz="1200" dirty="0"/>
          </a:p>
        </p:txBody>
      </p:sp>
      <p:sp>
        <p:nvSpPr>
          <p:cNvPr id="27" name="Shape 24"/>
          <p:cNvSpPr/>
          <p:nvPr/>
        </p:nvSpPr>
        <p:spPr>
          <a:xfrm>
            <a:off x="6842455" y="5248656"/>
            <a:ext cx="4572000" cy="420624"/>
          </a:xfrm>
          <a:prstGeom prst="roundRect">
            <a:avLst>
              <a:gd name="adj" fmla="val 17391"/>
            </a:avLst>
          </a:prstGeom>
          <a:solidFill>
            <a:srgbClr val="F4F6F9"/>
          </a:solidFill>
          <a:ln w="9525">
            <a:solidFill>
              <a:srgbClr val="D9E2EC"/>
            </a:solidFill>
            <a:prstDash val="solid"/>
          </a:ln>
        </p:spPr>
      </p:sp>
      <p:sp>
        <p:nvSpPr>
          <p:cNvPr id="28" name="Text 25"/>
          <p:cNvSpPr/>
          <p:nvPr/>
        </p:nvSpPr>
        <p:spPr>
          <a:xfrm>
            <a:off x="7061911" y="5330952"/>
            <a:ext cx="4133088" cy="256032"/>
          </a:xfrm>
          <a:prstGeom prst="rect">
            <a:avLst/>
          </a:prstGeom>
          <a:noFill/>
          <a:ln/>
        </p:spPr>
        <p:txBody>
          <a:bodyPr wrap="square" lIns="0" tIns="0" rIns="0" bIns="0" rtlCol="0" anchor="ctr"/>
          <a:lstStyle/>
          <a:p>
            <a:pPr rtl="1" algn="r" indent="0" marL="0">
              <a:buNone/>
            </a:pPr>
            <a:r>
              <a:rPr lang="en-US" sz="1200" dirty="0">
                <a:solidFill>
                  <a:srgbClr val="4B5B6E"/>
                </a:solidFill>
                <a:latin typeface="Tajawal" pitchFamily="34" charset="0"/>
                <a:ea typeface="Tajawal" pitchFamily="34" charset="-122"/>
                <a:cs typeface="Tajawal" pitchFamily="34" charset="-120"/>
              </a:rPr>
              <a:t>بحث بالصور يعطي نتيجة عامة</a:t>
            </a:r>
            <a:endParaRPr lang="en-US" sz="1200" dirty="0"/>
          </a:p>
        </p:txBody>
      </p:sp>
      <p:sp>
        <p:nvSpPr>
          <p:cNvPr id="29" name="Shape 26"/>
          <p:cNvSpPr/>
          <p:nvPr/>
        </p:nvSpPr>
        <p:spPr>
          <a:xfrm>
            <a:off x="777240" y="5248656"/>
            <a:ext cx="6035040" cy="420624"/>
          </a:xfrm>
          <a:prstGeom prst="roundRect">
            <a:avLst>
              <a:gd name="adj" fmla="val 17391"/>
            </a:avLst>
          </a:prstGeom>
          <a:solidFill>
            <a:srgbClr val="EEF3F9"/>
          </a:solidFill>
          <a:ln w="9525">
            <a:solidFill>
              <a:srgbClr val="D9E2EC"/>
            </a:solidFill>
            <a:prstDash val="solid"/>
          </a:ln>
        </p:spPr>
      </p:sp>
      <p:sp>
        <p:nvSpPr>
          <p:cNvPr id="30" name="Text 27"/>
          <p:cNvSpPr/>
          <p:nvPr/>
        </p:nvSpPr>
        <p:spPr>
          <a:xfrm>
            <a:off x="996696" y="5330952"/>
            <a:ext cx="5596128" cy="256032"/>
          </a:xfrm>
          <a:prstGeom prst="rect">
            <a:avLst/>
          </a:prstGeom>
          <a:noFill/>
          <a:ln/>
        </p:spPr>
        <p:txBody>
          <a:bodyPr wrap="square" lIns="0" tIns="0" rIns="0" bIns="0" rtlCol="0" anchor="ctr"/>
          <a:lstStyle/>
          <a:p>
            <a:pPr rtl="1" algn="r" indent="0" marL="0">
              <a:buNone/>
            </a:pPr>
            <a:r>
              <a:rPr lang="en-US" sz="1200" b="1" dirty="0">
                <a:solidFill>
                  <a:srgbClr val="2B3A4C"/>
                </a:solidFill>
                <a:latin typeface="Tajawal" pitchFamily="34" charset="0"/>
                <a:ea typeface="Tajawal" pitchFamily="34" charset="-122"/>
                <a:cs typeface="Tajawal" pitchFamily="34" charset="-120"/>
              </a:rPr>
              <a:t>مبني على 200 صورة من جبة نفسها</a:t>
            </a:r>
            <a:endParaRPr lang="en-US" sz="1200" dirty="0"/>
          </a:p>
        </p:txBody>
      </p:sp>
      <p:sp>
        <p:nvSpPr>
          <p:cNvPr id="31" name="Shape 28"/>
          <p:cNvSpPr/>
          <p:nvPr/>
        </p:nvSpPr>
        <p:spPr>
          <a:xfrm>
            <a:off x="6842455" y="5760720"/>
            <a:ext cx="4572000" cy="420624"/>
          </a:xfrm>
          <a:prstGeom prst="roundRect">
            <a:avLst>
              <a:gd name="adj" fmla="val 17391"/>
            </a:avLst>
          </a:prstGeom>
          <a:solidFill>
            <a:srgbClr val="F4F6F9"/>
          </a:solidFill>
          <a:ln w="9525">
            <a:solidFill>
              <a:srgbClr val="D9E2EC"/>
            </a:solidFill>
            <a:prstDash val="solid"/>
          </a:ln>
        </p:spPr>
      </p:sp>
      <p:sp>
        <p:nvSpPr>
          <p:cNvPr id="32" name="Text 29"/>
          <p:cNvSpPr/>
          <p:nvPr/>
        </p:nvSpPr>
        <p:spPr>
          <a:xfrm>
            <a:off x="7061911" y="5843016"/>
            <a:ext cx="4133088" cy="256032"/>
          </a:xfrm>
          <a:prstGeom prst="rect">
            <a:avLst/>
          </a:prstGeom>
          <a:noFill/>
          <a:ln/>
        </p:spPr>
        <p:txBody>
          <a:bodyPr wrap="square" lIns="0" tIns="0" rIns="0" bIns="0" rtlCol="0" anchor="ctr"/>
          <a:lstStyle/>
          <a:p>
            <a:pPr rtl="1" algn="r" indent="0" marL="0">
              <a:buNone/>
            </a:pPr>
            <a:r>
              <a:rPr lang="en-US" sz="1200" dirty="0">
                <a:solidFill>
                  <a:srgbClr val="4B5B6E"/>
                </a:solidFill>
                <a:latin typeface="Tajawal" pitchFamily="34" charset="0"/>
                <a:ea typeface="Tajawal" pitchFamily="34" charset="-122"/>
                <a:cs typeface="Tajawal" pitchFamily="34" charset="-120"/>
              </a:rPr>
              <a:t>تصور الصخرة في ChatGPT فيقول: نقوش صخرية، وبإنترنت فقط</a:t>
            </a:r>
            <a:endParaRPr lang="en-US" sz="1200" dirty="0"/>
          </a:p>
        </p:txBody>
      </p:sp>
      <p:sp>
        <p:nvSpPr>
          <p:cNvPr id="33" name="Shape 30"/>
          <p:cNvSpPr/>
          <p:nvPr/>
        </p:nvSpPr>
        <p:spPr>
          <a:xfrm>
            <a:off x="777240" y="5760720"/>
            <a:ext cx="6035040" cy="420624"/>
          </a:xfrm>
          <a:prstGeom prst="roundRect">
            <a:avLst>
              <a:gd name="adj" fmla="val 17391"/>
            </a:avLst>
          </a:prstGeom>
          <a:solidFill>
            <a:srgbClr val="E9E2FB"/>
          </a:solidFill>
          <a:ln w="9525">
            <a:solidFill>
              <a:srgbClr val="D9E2EC"/>
            </a:solidFill>
            <a:prstDash val="solid"/>
          </a:ln>
        </p:spPr>
      </p:sp>
      <p:sp>
        <p:nvSpPr>
          <p:cNvPr id="34" name="Text 31"/>
          <p:cNvSpPr/>
          <p:nvPr/>
        </p:nvSpPr>
        <p:spPr>
          <a:xfrm>
            <a:off x="996696" y="5843016"/>
            <a:ext cx="5596128" cy="256032"/>
          </a:xfrm>
          <a:prstGeom prst="rect">
            <a:avLst/>
          </a:prstGeom>
          <a:noFill/>
          <a:ln/>
        </p:spPr>
        <p:txBody>
          <a:bodyPr wrap="square" lIns="0" tIns="0" rIns="0" bIns="0" rtlCol="0" anchor="ctr"/>
          <a:lstStyle/>
          <a:p>
            <a:pPr rtl="1" algn="r" indent="0" marL="0">
              <a:buNone/>
            </a:pPr>
            <a:r>
              <a:rPr lang="en-US" sz="1200" b="1" dirty="0">
                <a:solidFill>
                  <a:srgbClr val="4B2E9E"/>
                </a:solidFill>
                <a:latin typeface="Tajawal" pitchFamily="34" charset="0"/>
                <a:ea typeface="Tajawal" pitchFamily="34" charset="-122"/>
                <a:cs typeface="Tajawal" pitchFamily="34" charset="-120"/>
              </a:rPr>
              <a:t>تصورها بماسح أثر فيقول: هذا نقش الأسد ومروضه، ويروي قصته بلا شبكة</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40080" y="1920240"/>
            <a:ext cx="4754880" cy="3017520"/>
          </a:xfrm>
          <a:prstGeom prst="rect">
            <a:avLst/>
          </a:prstGeom>
          <a:noFill/>
          <a:ln/>
        </p:spPr>
        <p:txBody>
          <a:bodyPr wrap="square" lIns="0" tIns="0" rIns="0" bIns="0" rtlCol="0" anchor="ctr"/>
          <a:lstStyle/>
          <a:p>
            <a:pPr algn="l" indent="0" marL="0">
              <a:buNone/>
            </a:pPr>
            <a:r>
              <a:rPr lang="en-US" sz="17000" b="1" dirty="0">
                <a:solidFill>
                  <a:srgbClr val="DCE5F0"/>
                </a:solidFill>
                <a:latin typeface="Calibri" pitchFamily="34" charset="0"/>
                <a:ea typeface="Calibri" pitchFamily="34" charset="-122"/>
                <a:cs typeface="Calibri" pitchFamily="34" charset="-120"/>
              </a:rPr>
              <a:t>02</a:t>
            </a:r>
            <a:endParaRPr lang="en-US" sz="17000" dirty="0"/>
          </a:p>
        </p:txBody>
      </p:sp>
      <p:sp>
        <p:nvSpPr>
          <p:cNvPr id="4" name="Text 1"/>
          <p:cNvSpPr/>
          <p:nvPr/>
        </p:nvSpPr>
        <p:spPr>
          <a:xfrm>
            <a:off x="5120640" y="2788920"/>
            <a:ext cx="6293815" cy="1280160"/>
          </a:xfrm>
          <a:prstGeom prst="rect">
            <a:avLst/>
          </a:prstGeom>
          <a:noFill/>
          <a:ln/>
        </p:spPr>
        <p:txBody>
          <a:bodyPr wrap="square" lIns="0" tIns="0" rIns="0" bIns="0" rtlCol="0" anchor="ctr"/>
          <a:lstStyle/>
          <a:p>
            <a:pPr rtl="1" algn="r" indent="0" marL="0">
              <a:buNone/>
            </a:pPr>
            <a:r>
              <a:rPr lang="en-US" sz="3600" b="1" dirty="0">
                <a:solidFill>
                  <a:srgbClr val="255174"/>
                </a:solidFill>
                <a:latin typeface="Tajawal" pitchFamily="34" charset="0"/>
                <a:ea typeface="Tajawal" pitchFamily="34" charset="-122"/>
                <a:cs typeface="Tajawal" pitchFamily="34" charset="-120"/>
              </a:rPr>
              <a:t>توظيف الذكاء الاصطناعي</a:t>
            </a:r>
            <a:endParaRPr lang="en-US" sz="3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777240" y="548640"/>
            <a:ext cx="10637215" cy="502920"/>
          </a:xfrm>
          <a:prstGeom prst="rect">
            <a:avLst/>
          </a:prstGeom>
          <a:noFill/>
          <a:ln/>
        </p:spPr>
        <p:txBody>
          <a:bodyPr wrap="square" lIns="0" tIns="0" rIns="0" bIns="0" rtlCol="0" anchor="ctr"/>
          <a:lstStyle/>
          <a:p>
            <a:pPr rtl="1" algn="r" indent="0" marL="0">
              <a:buNone/>
            </a:pPr>
            <a:r>
              <a:rPr lang="en-US" sz="2600" b="1" dirty="0">
                <a:solidFill>
                  <a:srgbClr val="255174"/>
                </a:solidFill>
                <a:latin typeface="Tajawal" pitchFamily="34" charset="0"/>
                <a:ea typeface="Tajawal" pitchFamily="34" charset="-122"/>
                <a:cs typeface="Tajawal" pitchFamily="34" charset="-120"/>
              </a:rPr>
              <a:t>توظيف الذكاء الاصطناعي</a:t>
            </a:r>
            <a:endParaRPr lang="en-US" sz="2600" dirty="0"/>
          </a:p>
        </p:txBody>
      </p:sp>
      <p:sp>
        <p:nvSpPr>
          <p:cNvPr id="4" name="Shape 1"/>
          <p:cNvSpPr/>
          <p:nvPr/>
        </p:nvSpPr>
        <p:spPr>
          <a:xfrm>
            <a:off x="9082735" y="1234440"/>
            <a:ext cx="2331720" cy="4297680"/>
          </a:xfrm>
          <a:prstGeom prst="roundRect">
            <a:avLst>
              <a:gd name="adj" fmla="val 3137"/>
            </a:avLst>
          </a:prstGeom>
          <a:solidFill>
            <a:srgbClr val="F4F6F9"/>
          </a:solidFill>
          <a:ln w="9525">
            <a:solidFill>
              <a:srgbClr val="D9E2EC"/>
            </a:solidFill>
            <a:prstDash val="solid"/>
          </a:ln>
        </p:spPr>
      </p:sp>
      <p:pic>
        <p:nvPicPr>
          <p:cNvPr id="5" name="Image 1" descr="preencoded.png">    </p:cNvPr>
          <p:cNvPicPr>
            <a:picLocks noChangeAspect="1"/>
          </p:cNvPicPr>
          <p:nvPr/>
        </p:nvPicPr>
        <p:blipFill>
          <a:blip r:embed="rId2"/>
          <a:stretch>
            <a:fillRect/>
          </a:stretch>
        </p:blipFill>
        <p:spPr>
          <a:xfrm>
            <a:off x="9631375" y="1481328"/>
            <a:ext cx="1234440" cy="925830"/>
          </a:xfrm>
          <a:prstGeom prst="rect">
            <a:avLst/>
          </a:prstGeom>
        </p:spPr>
      </p:pic>
      <p:sp>
        <p:nvSpPr>
          <p:cNvPr id="6" name="Text 2"/>
          <p:cNvSpPr/>
          <p:nvPr/>
        </p:nvSpPr>
        <p:spPr>
          <a:xfrm>
            <a:off x="9082735" y="2450592"/>
            <a:ext cx="2331720" cy="237744"/>
          </a:xfrm>
          <a:prstGeom prst="rect">
            <a:avLst/>
          </a:prstGeom>
          <a:noFill/>
          <a:ln/>
        </p:spPr>
        <p:txBody>
          <a:bodyPr wrap="square" lIns="0" tIns="0" rIns="0" bIns="0" rtlCol="0" anchor="ctr"/>
          <a:lstStyle/>
          <a:p>
            <a:pPr rtl="1" algn="ctr" indent="0" marL="0">
              <a:buNone/>
            </a:pPr>
            <a:r>
              <a:rPr lang="en-US" sz="1000" dirty="0">
                <a:solidFill>
                  <a:srgbClr val="4B5B6E"/>
                </a:solidFill>
                <a:latin typeface="Tajawal" pitchFamily="34" charset="0"/>
                <a:ea typeface="Tajawal" pitchFamily="34" charset="-122"/>
                <a:cs typeface="Tajawal" pitchFamily="34" charset="-120"/>
              </a:rPr>
              <a:t>السائح يصور النقش</a:t>
            </a:r>
            <a:endParaRPr lang="en-US" sz="1000" dirty="0"/>
          </a:p>
        </p:txBody>
      </p:sp>
      <p:sp>
        <p:nvSpPr>
          <p:cNvPr id="7" name="Text 3"/>
          <p:cNvSpPr/>
          <p:nvPr/>
        </p:nvSpPr>
        <p:spPr>
          <a:xfrm>
            <a:off x="9082735" y="2724912"/>
            <a:ext cx="2331720" cy="219456"/>
          </a:xfrm>
          <a:prstGeom prst="rect">
            <a:avLst/>
          </a:prstGeom>
          <a:noFill/>
          <a:ln/>
        </p:spPr>
        <p:txBody>
          <a:bodyPr wrap="square" lIns="0" tIns="0" rIns="0" bIns="0" rtlCol="0" anchor="ctr"/>
          <a:lstStyle/>
          <a:p>
            <a:pPr algn="ctr" indent="0" marL="0">
              <a:buNone/>
            </a:pPr>
            <a:r>
              <a:rPr lang="en-US" sz="1200" dirty="0">
                <a:solidFill>
                  <a:srgbClr val="8357F6"/>
                </a:solidFill>
                <a:latin typeface="Calibri" pitchFamily="34" charset="0"/>
                <a:ea typeface="Calibri" pitchFamily="34" charset="-122"/>
                <a:cs typeface="Calibri" pitchFamily="34" charset="-120"/>
              </a:rPr>
              <a:t>▼</a:t>
            </a:r>
            <a:endParaRPr lang="en-US" sz="1200" dirty="0"/>
          </a:p>
        </p:txBody>
      </p:sp>
      <p:sp>
        <p:nvSpPr>
          <p:cNvPr id="8" name="Shape 4"/>
          <p:cNvSpPr/>
          <p:nvPr/>
        </p:nvSpPr>
        <p:spPr>
          <a:xfrm>
            <a:off x="9631375" y="2980944"/>
            <a:ext cx="1234440" cy="530352"/>
          </a:xfrm>
          <a:prstGeom prst="roundRect">
            <a:avLst>
              <a:gd name="adj" fmla="val 13793"/>
            </a:avLst>
          </a:prstGeom>
          <a:solidFill>
            <a:srgbClr val="FFFFFF"/>
          </a:solidFill>
          <a:ln w="9525">
            <a:solidFill>
              <a:srgbClr val="D9E2EC"/>
            </a:solidFill>
            <a:prstDash val="solid"/>
          </a:ln>
        </p:spPr>
      </p:sp>
      <p:sp>
        <p:nvSpPr>
          <p:cNvPr id="9" name="Text 5"/>
          <p:cNvSpPr/>
          <p:nvPr/>
        </p:nvSpPr>
        <p:spPr>
          <a:xfrm>
            <a:off x="9631375" y="3044952"/>
            <a:ext cx="1234440" cy="219456"/>
          </a:xfrm>
          <a:prstGeom prst="rect">
            <a:avLst/>
          </a:prstGeom>
          <a:noFill/>
          <a:ln/>
        </p:spPr>
        <p:txBody>
          <a:bodyPr wrap="square" lIns="0" tIns="0" rIns="0" bIns="0" rtlCol="0" anchor="ctr"/>
          <a:lstStyle/>
          <a:p>
            <a:pPr algn="ctr" indent="0" marL="0">
              <a:buNone/>
            </a:pPr>
            <a:r>
              <a:rPr lang="en-US" sz="950" dirty="0">
                <a:solidFill>
                  <a:srgbClr val="255174"/>
                </a:solidFill>
                <a:latin typeface="Courier New" pitchFamily="34" charset="0"/>
                <a:ea typeface="Courier New" pitchFamily="34" charset="-122"/>
                <a:cs typeface="Courier New" pitchFamily="34" charset="-120"/>
              </a:rPr>
              <a:t>0.417   0.902</a:t>
            </a:r>
            <a:endParaRPr lang="en-US" sz="950" dirty="0"/>
          </a:p>
        </p:txBody>
      </p:sp>
      <p:sp>
        <p:nvSpPr>
          <p:cNvPr id="10" name="Text 6"/>
          <p:cNvSpPr/>
          <p:nvPr/>
        </p:nvSpPr>
        <p:spPr>
          <a:xfrm>
            <a:off x="9631375" y="3246120"/>
            <a:ext cx="1234440" cy="219456"/>
          </a:xfrm>
          <a:prstGeom prst="rect">
            <a:avLst/>
          </a:prstGeom>
          <a:noFill/>
          <a:ln/>
        </p:spPr>
        <p:txBody>
          <a:bodyPr wrap="square" lIns="0" tIns="0" rIns="0" bIns="0" rtlCol="0" anchor="ctr"/>
          <a:lstStyle/>
          <a:p>
            <a:pPr algn="ctr" indent="0" marL="0">
              <a:buNone/>
            </a:pPr>
            <a:r>
              <a:rPr lang="en-US" sz="950" dirty="0">
                <a:solidFill>
                  <a:srgbClr val="255174"/>
                </a:solidFill>
                <a:latin typeface="Courier New" pitchFamily="34" charset="0"/>
                <a:ea typeface="Courier New" pitchFamily="34" charset="-122"/>
                <a:cs typeface="Courier New" pitchFamily="34" charset="-120"/>
              </a:rPr>
              <a:t>0.773   0.264</a:t>
            </a:r>
            <a:endParaRPr lang="en-US" sz="950" dirty="0"/>
          </a:p>
        </p:txBody>
      </p:sp>
      <p:sp>
        <p:nvSpPr>
          <p:cNvPr id="11" name="Text 7"/>
          <p:cNvSpPr/>
          <p:nvPr/>
        </p:nvSpPr>
        <p:spPr>
          <a:xfrm>
            <a:off x="9082735" y="3547872"/>
            <a:ext cx="2331720" cy="237744"/>
          </a:xfrm>
          <a:prstGeom prst="rect">
            <a:avLst/>
          </a:prstGeom>
          <a:noFill/>
          <a:ln/>
        </p:spPr>
        <p:txBody>
          <a:bodyPr wrap="square" lIns="0" tIns="0" rIns="0" bIns="0" rtlCol="0" anchor="ctr"/>
          <a:lstStyle/>
          <a:p>
            <a:pPr rtl="1" algn="ctr" indent="0" marL="0">
              <a:buNone/>
            </a:pPr>
            <a:r>
              <a:rPr lang="en-US" sz="1000" dirty="0">
                <a:solidFill>
                  <a:srgbClr val="4B5B6E"/>
                </a:solidFill>
                <a:latin typeface="Tajawal" pitchFamily="34" charset="0"/>
                <a:ea typeface="Tajawal" pitchFamily="34" charset="-122"/>
                <a:cs typeface="Tajawal" pitchFamily="34" charset="-120"/>
              </a:rPr>
              <a:t>النموذج يلخص شكله في أرقام</a:t>
            </a:r>
            <a:endParaRPr lang="en-US" sz="1000" dirty="0"/>
          </a:p>
        </p:txBody>
      </p:sp>
      <p:sp>
        <p:nvSpPr>
          <p:cNvPr id="12" name="Text 8"/>
          <p:cNvSpPr/>
          <p:nvPr/>
        </p:nvSpPr>
        <p:spPr>
          <a:xfrm>
            <a:off x="9082735" y="3822192"/>
            <a:ext cx="2331720" cy="219456"/>
          </a:xfrm>
          <a:prstGeom prst="rect">
            <a:avLst/>
          </a:prstGeom>
          <a:noFill/>
          <a:ln/>
        </p:spPr>
        <p:txBody>
          <a:bodyPr wrap="square" lIns="0" tIns="0" rIns="0" bIns="0" rtlCol="0" anchor="ctr"/>
          <a:lstStyle/>
          <a:p>
            <a:pPr algn="ctr" indent="0" marL="0">
              <a:buNone/>
            </a:pPr>
            <a:r>
              <a:rPr lang="en-US" sz="1200" dirty="0">
                <a:solidFill>
                  <a:srgbClr val="8357F6"/>
                </a:solidFill>
                <a:latin typeface="Calibri" pitchFamily="34" charset="0"/>
                <a:ea typeface="Calibri" pitchFamily="34" charset="-122"/>
                <a:cs typeface="Calibri" pitchFamily="34" charset="-120"/>
              </a:rPr>
              <a:t>▼</a:t>
            </a:r>
            <a:endParaRPr lang="en-US" sz="1200" dirty="0"/>
          </a:p>
        </p:txBody>
      </p:sp>
      <p:sp>
        <p:nvSpPr>
          <p:cNvPr id="13" name="Shape 9"/>
          <p:cNvSpPr/>
          <p:nvPr/>
        </p:nvSpPr>
        <p:spPr>
          <a:xfrm>
            <a:off x="9576511" y="4096512"/>
            <a:ext cx="1344168" cy="1035558"/>
          </a:xfrm>
          <a:prstGeom prst="roundRect">
            <a:avLst>
              <a:gd name="adj" fmla="val 4415"/>
            </a:avLst>
          </a:prstGeom>
          <a:solidFill>
            <a:srgbClr val="8357F6"/>
          </a:solidFill>
          <a:ln w="12700">
            <a:solidFill>
              <a:srgbClr val="333333"/>
            </a:solidFill>
            <a:prstDash val="solid"/>
          </a:ln>
        </p:spPr>
      </p:sp>
      <p:pic>
        <p:nvPicPr>
          <p:cNvPr id="14" name="Image 2" descr="preencoded.png">    </p:cNvPr>
          <p:cNvPicPr>
            <a:picLocks noChangeAspect="1"/>
          </p:cNvPicPr>
          <p:nvPr/>
        </p:nvPicPr>
        <p:blipFill>
          <a:blip r:embed="rId3"/>
          <a:stretch>
            <a:fillRect/>
          </a:stretch>
        </p:blipFill>
        <p:spPr>
          <a:xfrm>
            <a:off x="9631375" y="4151376"/>
            <a:ext cx="1234440" cy="925830"/>
          </a:xfrm>
          <a:prstGeom prst="rect">
            <a:avLst/>
          </a:prstGeom>
        </p:spPr>
      </p:pic>
      <p:sp>
        <p:nvSpPr>
          <p:cNvPr id="15" name="Text 10"/>
          <p:cNvSpPr/>
          <p:nvPr/>
        </p:nvSpPr>
        <p:spPr>
          <a:xfrm>
            <a:off x="9082735" y="5230368"/>
            <a:ext cx="2331720" cy="237744"/>
          </a:xfrm>
          <a:prstGeom prst="rect">
            <a:avLst/>
          </a:prstGeom>
          <a:noFill/>
          <a:ln/>
        </p:spPr>
        <p:txBody>
          <a:bodyPr wrap="square" lIns="0" tIns="0" rIns="0" bIns="0" rtlCol="0" anchor="ctr"/>
          <a:lstStyle/>
          <a:p>
            <a:pPr rtl="1" algn="ctr" indent="0" marL="0">
              <a:buNone/>
            </a:pPr>
            <a:r>
              <a:rPr lang="en-US" sz="1000" dirty="0">
                <a:solidFill>
                  <a:srgbClr val="4B5B6E"/>
                </a:solidFill>
                <a:latin typeface="Tajawal" pitchFamily="34" charset="0"/>
                <a:ea typeface="Tajawal" pitchFamily="34" charset="-122"/>
                <a:cs typeface="Tajawal" pitchFamily="34" charset="-120"/>
              </a:rPr>
              <a:t>يطابقها بالنقوش فيعرف اسمه</a:t>
            </a:r>
            <a:endParaRPr lang="en-US" sz="1000" dirty="0"/>
          </a:p>
        </p:txBody>
      </p:sp>
      <p:sp>
        <p:nvSpPr>
          <p:cNvPr id="16" name="Shape 11"/>
          <p:cNvSpPr/>
          <p:nvPr/>
        </p:nvSpPr>
        <p:spPr>
          <a:xfrm>
            <a:off x="777240" y="1234440"/>
            <a:ext cx="7985455" cy="1225296"/>
          </a:xfrm>
          <a:prstGeom prst="roundRect">
            <a:avLst>
              <a:gd name="adj" fmla="val 5970"/>
            </a:avLst>
          </a:prstGeom>
          <a:solidFill>
            <a:srgbClr val="EEF3F9"/>
          </a:solidFill>
          <a:ln w="9525">
            <a:solidFill>
              <a:srgbClr val="D9E2EC"/>
            </a:solidFill>
            <a:prstDash val="solid"/>
          </a:ln>
        </p:spPr>
      </p:sp>
      <p:sp>
        <p:nvSpPr>
          <p:cNvPr id="17" name="Text 12"/>
          <p:cNvSpPr/>
          <p:nvPr/>
        </p:nvSpPr>
        <p:spPr>
          <a:xfrm>
            <a:off x="1014984" y="1380744"/>
            <a:ext cx="7509967" cy="292608"/>
          </a:xfrm>
          <a:prstGeom prst="rect">
            <a:avLst/>
          </a:prstGeom>
          <a:noFill/>
          <a:ln/>
        </p:spPr>
        <p:txBody>
          <a:bodyPr wrap="square" lIns="0" tIns="0" rIns="0" bIns="0" rtlCol="0" anchor="ctr"/>
          <a:lstStyle/>
          <a:p>
            <a:pPr rtl="1" algn="r" indent="0" marL="0">
              <a:buNone/>
            </a:pPr>
            <a:r>
              <a:rPr lang="en-US" sz="1350" b="1" dirty="0">
                <a:solidFill>
                  <a:srgbClr val="8357F6"/>
                </a:solidFill>
                <a:latin typeface="Tajawal" pitchFamily="34" charset="0"/>
                <a:ea typeface="Tajawal" pitchFamily="34" charset="-122"/>
                <a:cs typeface="Tajawal" pitchFamily="34" charset="-120"/>
              </a:rPr>
              <a:t>جوهرية الذكاء الاصطناعي في الحل</a:t>
            </a:r>
            <a:endParaRPr lang="en-US" sz="1350" dirty="0"/>
          </a:p>
        </p:txBody>
      </p:sp>
      <p:sp>
        <p:nvSpPr>
          <p:cNvPr id="18" name="Text 13"/>
          <p:cNvSpPr/>
          <p:nvPr/>
        </p:nvSpPr>
        <p:spPr>
          <a:xfrm>
            <a:off x="1014984" y="1728216"/>
            <a:ext cx="7509967" cy="585216"/>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التعرف على النقش هو المنتج نفسه لا ميزة مضافة إليه، فلا منتج دون النموذج، ونموذج الرؤية DINOv3 من Meta مفتوح المصدر، تدرب على ملايين الصور حتى صار يميز الأشكال والتفاصيل وحده، دون أن يخبره أحد بما في كل صورة</a:t>
            </a:r>
            <a:endParaRPr lang="en-US" sz="1250" dirty="0"/>
          </a:p>
        </p:txBody>
      </p:sp>
      <p:sp>
        <p:nvSpPr>
          <p:cNvPr id="19" name="Shape 14"/>
          <p:cNvSpPr/>
          <p:nvPr/>
        </p:nvSpPr>
        <p:spPr>
          <a:xfrm>
            <a:off x="777240" y="2642616"/>
            <a:ext cx="7985455" cy="1572768"/>
          </a:xfrm>
          <a:prstGeom prst="roundRect">
            <a:avLst>
              <a:gd name="adj" fmla="val 4651"/>
            </a:avLst>
          </a:prstGeom>
          <a:solidFill>
            <a:srgbClr val="EEF3F9"/>
          </a:solidFill>
          <a:ln w="9525">
            <a:solidFill>
              <a:srgbClr val="D9E2EC"/>
            </a:solidFill>
            <a:prstDash val="solid"/>
          </a:ln>
        </p:spPr>
      </p:sp>
      <p:sp>
        <p:nvSpPr>
          <p:cNvPr id="20" name="Text 15"/>
          <p:cNvSpPr/>
          <p:nvPr/>
        </p:nvSpPr>
        <p:spPr>
          <a:xfrm>
            <a:off x="1014984" y="2788920"/>
            <a:ext cx="7509967" cy="292608"/>
          </a:xfrm>
          <a:prstGeom prst="rect">
            <a:avLst/>
          </a:prstGeom>
          <a:noFill/>
          <a:ln/>
        </p:spPr>
        <p:txBody>
          <a:bodyPr wrap="square" lIns="0" tIns="0" rIns="0" bIns="0" rtlCol="0" anchor="ctr"/>
          <a:lstStyle/>
          <a:p>
            <a:pPr rtl="1" algn="r" indent="0" marL="0">
              <a:buNone/>
            </a:pPr>
            <a:r>
              <a:rPr lang="en-US" sz="1350" b="1" dirty="0">
                <a:solidFill>
                  <a:srgbClr val="8357F6"/>
                </a:solidFill>
                <a:latin typeface="Tajawal" pitchFamily="34" charset="0"/>
                <a:ea typeface="Tajawal" pitchFamily="34" charset="-122"/>
                <a:cs typeface="Tajawal" pitchFamily="34" charset="-120"/>
              </a:rPr>
              <a:t>ملاءمة استخدامه للمشكلة</a:t>
            </a:r>
            <a:endParaRPr lang="en-US" sz="1350" dirty="0"/>
          </a:p>
        </p:txBody>
      </p:sp>
      <p:sp>
        <p:nvSpPr>
          <p:cNvPr id="21" name="Text 16"/>
          <p:cNvSpPr/>
          <p:nvPr/>
        </p:nvSpPr>
        <p:spPr>
          <a:xfrm>
            <a:off x="1014984" y="3136392"/>
            <a:ext cx="7509967" cy="932688"/>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المشكلة بصرية لا نصية، فأمام السائح صخرة لا نص، والموقع بلا تغطية، فاخترنا نموذجا يعمل داخل الجهاز لا على السحابة، وبنينا فوقه طبقة التعرف: فهرس بصمات من الميدان، وسلم قص يعالج اختلاف الإطار</a:t>
            </a:r>
            <a:endParaRPr lang="en-US" sz="1250" dirty="0"/>
          </a:p>
        </p:txBody>
      </p:sp>
      <p:sp>
        <p:nvSpPr>
          <p:cNvPr id="22" name="Shape 17"/>
          <p:cNvSpPr/>
          <p:nvPr/>
        </p:nvSpPr>
        <p:spPr>
          <a:xfrm>
            <a:off x="777240" y="4398264"/>
            <a:ext cx="7985455" cy="1133856"/>
          </a:xfrm>
          <a:prstGeom prst="roundRect">
            <a:avLst>
              <a:gd name="adj" fmla="val 6452"/>
            </a:avLst>
          </a:prstGeom>
          <a:solidFill>
            <a:srgbClr val="EEF3F9"/>
          </a:solidFill>
          <a:ln w="9525">
            <a:solidFill>
              <a:srgbClr val="D9E2EC"/>
            </a:solidFill>
            <a:prstDash val="solid"/>
          </a:ln>
        </p:spPr>
      </p:sp>
      <p:sp>
        <p:nvSpPr>
          <p:cNvPr id="23" name="Text 18"/>
          <p:cNvSpPr/>
          <p:nvPr/>
        </p:nvSpPr>
        <p:spPr>
          <a:xfrm>
            <a:off x="1014984" y="4544568"/>
            <a:ext cx="7509967" cy="292608"/>
          </a:xfrm>
          <a:prstGeom prst="rect">
            <a:avLst/>
          </a:prstGeom>
          <a:noFill/>
          <a:ln/>
        </p:spPr>
        <p:txBody>
          <a:bodyPr wrap="square" lIns="0" tIns="0" rIns="0" bIns="0" rtlCol="0" anchor="ctr"/>
          <a:lstStyle/>
          <a:p>
            <a:pPr rtl="1" algn="r" indent="0" marL="0">
              <a:buNone/>
            </a:pPr>
            <a:r>
              <a:rPr lang="en-US" sz="1350" b="1" dirty="0">
                <a:solidFill>
                  <a:srgbClr val="8357F6"/>
                </a:solidFill>
                <a:latin typeface="Tajawal" pitchFamily="34" charset="0"/>
                <a:ea typeface="Tajawal" pitchFamily="34" charset="-122"/>
                <a:cs typeface="Tajawal" pitchFamily="34" charset="-120"/>
              </a:rPr>
              <a:t>القيمة الحقيقية المضافة</a:t>
            </a:r>
            <a:endParaRPr lang="en-US" sz="1350" dirty="0"/>
          </a:p>
        </p:txBody>
      </p:sp>
      <p:sp>
        <p:nvSpPr>
          <p:cNvPr id="24" name="Text 19"/>
          <p:cNvSpPr/>
          <p:nvPr/>
        </p:nvSpPr>
        <p:spPr>
          <a:xfrm>
            <a:off x="1014984" y="4892040"/>
            <a:ext cx="7509967" cy="493776"/>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يتعلم من تصحيحات السياح فتصل إلى كل الأجهزة مع التحديث، ويتحسن كلما استعمل، ونوظف الذكاء الاصطناعي مرة أخرى في توليد الرواية المسموعة بتسع وعشرين لغة بنماذج نطق مفتوحة المصدر</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40080" y="1920240"/>
            <a:ext cx="4754880" cy="3017520"/>
          </a:xfrm>
          <a:prstGeom prst="rect">
            <a:avLst/>
          </a:prstGeom>
          <a:noFill/>
          <a:ln/>
        </p:spPr>
        <p:txBody>
          <a:bodyPr wrap="square" lIns="0" tIns="0" rIns="0" bIns="0" rtlCol="0" anchor="ctr"/>
          <a:lstStyle/>
          <a:p>
            <a:pPr algn="l" indent="0" marL="0">
              <a:buNone/>
            </a:pPr>
            <a:r>
              <a:rPr lang="en-US" sz="17000" b="1" dirty="0">
                <a:solidFill>
                  <a:srgbClr val="DCE5F0"/>
                </a:solidFill>
                <a:latin typeface="Calibri" pitchFamily="34" charset="0"/>
                <a:ea typeface="Calibri" pitchFamily="34" charset="-122"/>
                <a:cs typeface="Calibri" pitchFamily="34" charset="-120"/>
              </a:rPr>
              <a:t>03</a:t>
            </a:r>
            <a:endParaRPr lang="en-US" sz="17000" dirty="0"/>
          </a:p>
        </p:txBody>
      </p:sp>
      <p:sp>
        <p:nvSpPr>
          <p:cNvPr id="4" name="Text 1"/>
          <p:cNvSpPr/>
          <p:nvPr/>
        </p:nvSpPr>
        <p:spPr>
          <a:xfrm>
            <a:off x="5120640" y="2788920"/>
            <a:ext cx="6293815" cy="1280160"/>
          </a:xfrm>
          <a:prstGeom prst="rect">
            <a:avLst/>
          </a:prstGeom>
          <a:noFill/>
          <a:ln/>
        </p:spPr>
        <p:txBody>
          <a:bodyPr wrap="square" lIns="0" tIns="0" rIns="0" bIns="0" rtlCol="0" anchor="ctr"/>
          <a:lstStyle/>
          <a:p>
            <a:pPr rtl="1" algn="r" indent="0" marL="0">
              <a:buNone/>
            </a:pPr>
            <a:r>
              <a:rPr lang="en-US" sz="3600" b="1" dirty="0">
                <a:solidFill>
                  <a:srgbClr val="255174"/>
                </a:solidFill>
                <a:latin typeface="Tajawal" pitchFamily="34" charset="0"/>
                <a:ea typeface="Tajawal" pitchFamily="34" charset="-122"/>
                <a:cs typeface="Tajawal" pitchFamily="34" charset="-120"/>
              </a:rPr>
              <a:t>حاجة السوق والقيمة المقدمة</a:t>
            </a:r>
            <a:endParaRPr lang="en-US" sz="3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777240" y="548640"/>
            <a:ext cx="10637215" cy="502920"/>
          </a:xfrm>
          <a:prstGeom prst="rect">
            <a:avLst/>
          </a:prstGeom>
          <a:noFill/>
          <a:ln/>
        </p:spPr>
        <p:txBody>
          <a:bodyPr wrap="square" lIns="0" tIns="0" rIns="0" bIns="0" rtlCol="0" anchor="ctr"/>
          <a:lstStyle/>
          <a:p>
            <a:pPr rtl="1" algn="r" indent="0" marL="0">
              <a:buNone/>
            </a:pPr>
            <a:r>
              <a:rPr lang="en-US" sz="2600" b="1" dirty="0">
                <a:solidFill>
                  <a:srgbClr val="255174"/>
                </a:solidFill>
                <a:latin typeface="Tajawal" pitchFamily="34" charset="0"/>
                <a:ea typeface="Tajawal" pitchFamily="34" charset="-122"/>
                <a:cs typeface="Tajawal" pitchFamily="34" charset="-120"/>
              </a:rPr>
              <a:t>حاجة السوق والقيمة المقدمة</a:t>
            </a:r>
            <a:endParaRPr lang="en-US" sz="2600" dirty="0"/>
          </a:p>
        </p:txBody>
      </p:sp>
      <p:sp>
        <p:nvSpPr>
          <p:cNvPr id="4" name="Shape 1"/>
          <p:cNvSpPr/>
          <p:nvPr/>
        </p:nvSpPr>
        <p:spPr>
          <a:xfrm>
            <a:off x="6233008" y="1234440"/>
            <a:ext cx="5181448" cy="1783080"/>
          </a:xfrm>
          <a:prstGeom prst="roundRect">
            <a:avLst>
              <a:gd name="adj" fmla="val 4103"/>
            </a:avLst>
          </a:prstGeom>
          <a:solidFill>
            <a:srgbClr val="EEF3F9"/>
          </a:solidFill>
          <a:ln w="9525">
            <a:solidFill>
              <a:srgbClr val="D9E2EC"/>
            </a:solidFill>
            <a:prstDash val="solid"/>
          </a:ln>
        </p:spPr>
      </p:sp>
      <p:pic>
        <p:nvPicPr>
          <p:cNvPr id="5" name="Image 1" descr="preencoded.png">    </p:cNvPr>
          <p:cNvPicPr>
            <a:picLocks noChangeAspect="1"/>
          </p:cNvPicPr>
          <p:nvPr/>
        </p:nvPicPr>
        <p:blipFill>
          <a:blip r:embed="rId2"/>
          <a:stretch>
            <a:fillRect/>
          </a:stretch>
        </p:blipFill>
        <p:spPr>
          <a:xfrm>
            <a:off x="6489040" y="1453896"/>
            <a:ext cx="560349" cy="457200"/>
          </a:xfrm>
          <a:prstGeom prst="rect">
            <a:avLst/>
          </a:prstGeom>
        </p:spPr>
      </p:pic>
      <p:sp>
        <p:nvSpPr>
          <p:cNvPr id="6" name="Text 2"/>
          <p:cNvSpPr/>
          <p:nvPr/>
        </p:nvSpPr>
        <p:spPr>
          <a:xfrm>
            <a:off x="6507328" y="1472184"/>
            <a:ext cx="3889579" cy="329184"/>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المشكلة</a:t>
            </a:r>
            <a:endParaRPr lang="en-US" sz="1500" dirty="0"/>
          </a:p>
        </p:txBody>
      </p:sp>
      <p:sp>
        <p:nvSpPr>
          <p:cNvPr id="7" name="Text 3"/>
          <p:cNvSpPr/>
          <p:nvPr/>
        </p:nvSpPr>
        <p:spPr>
          <a:xfrm>
            <a:off x="6507328" y="2020824"/>
            <a:ext cx="4632808" cy="832104"/>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جبة مسجلة في قائمة التراث العالمي لليونسكو وفيها مئات النقوش، لكن السائح يقف أمام الصخرة فلا يعرف ما أمامه ولا كم عمره، ولا تغطية للشبكة في الموقع</a:t>
            </a:r>
            <a:endParaRPr lang="en-US" sz="1250" dirty="0"/>
          </a:p>
        </p:txBody>
      </p:sp>
      <p:sp>
        <p:nvSpPr>
          <p:cNvPr id="8" name="Shape 4"/>
          <p:cNvSpPr/>
          <p:nvPr/>
        </p:nvSpPr>
        <p:spPr>
          <a:xfrm>
            <a:off x="777240" y="1234440"/>
            <a:ext cx="5181448" cy="1783080"/>
          </a:xfrm>
          <a:prstGeom prst="roundRect">
            <a:avLst>
              <a:gd name="adj" fmla="val 4103"/>
            </a:avLst>
          </a:prstGeom>
          <a:solidFill>
            <a:srgbClr val="EEF3F9"/>
          </a:solidFill>
          <a:ln w="9525">
            <a:solidFill>
              <a:srgbClr val="D9E2EC"/>
            </a:solidFill>
            <a:prstDash val="solid"/>
          </a:ln>
        </p:spPr>
      </p:sp>
      <p:pic>
        <p:nvPicPr>
          <p:cNvPr id="9" name="Image 2" descr="preencoded.png">    </p:cNvPr>
          <p:cNvPicPr>
            <a:picLocks noChangeAspect="1"/>
          </p:cNvPicPr>
          <p:nvPr/>
        </p:nvPicPr>
        <p:blipFill>
          <a:blip r:embed="rId3"/>
          <a:stretch>
            <a:fillRect/>
          </a:stretch>
        </p:blipFill>
        <p:spPr>
          <a:xfrm>
            <a:off x="1033272" y="1453896"/>
            <a:ext cx="493986" cy="457200"/>
          </a:xfrm>
          <a:prstGeom prst="rect">
            <a:avLst/>
          </a:prstGeom>
        </p:spPr>
      </p:pic>
      <p:sp>
        <p:nvSpPr>
          <p:cNvPr id="10" name="Text 5"/>
          <p:cNvSpPr/>
          <p:nvPr/>
        </p:nvSpPr>
        <p:spPr>
          <a:xfrm>
            <a:off x="1051560" y="1472184"/>
            <a:ext cx="3955941" cy="329184"/>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الفئة المستهدفة</a:t>
            </a:r>
            <a:endParaRPr lang="en-US" sz="1500" dirty="0"/>
          </a:p>
        </p:txBody>
      </p:sp>
      <p:sp>
        <p:nvSpPr>
          <p:cNvPr id="11" name="Text 6"/>
          <p:cNvSpPr/>
          <p:nvPr/>
        </p:nvSpPr>
        <p:spPr>
          <a:xfrm>
            <a:off x="1051560" y="2020824"/>
            <a:ext cx="4632808" cy="832104"/>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السياح الذين يزورون النقوش، سواء من داخل المملكة أو من خارجها، والرحلات المدرسية والجامعية، وهيئة التراث ومركز الزوار، والمنشآت المحلية التي تريد الوصول إلى السائح</a:t>
            </a:r>
            <a:endParaRPr lang="en-US" sz="1250" dirty="0"/>
          </a:p>
        </p:txBody>
      </p:sp>
      <p:sp>
        <p:nvSpPr>
          <p:cNvPr id="12" name="Shape 7"/>
          <p:cNvSpPr/>
          <p:nvPr/>
        </p:nvSpPr>
        <p:spPr>
          <a:xfrm>
            <a:off x="6233008" y="3273552"/>
            <a:ext cx="5181448" cy="1783080"/>
          </a:xfrm>
          <a:prstGeom prst="roundRect">
            <a:avLst>
              <a:gd name="adj" fmla="val 4103"/>
            </a:avLst>
          </a:prstGeom>
          <a:solidFill>
            <a:srgbClr val="EEF3F9"/>
          </a:solidFill>
          <a:ln w="9525">
            <a:solidFill>
              <a:srgbClr val="D9E2EC"/>
            </a:solidFill>
            <a:prstDash val="solid"/>
          </a:ln>
        </p:spPr>
      </p:sp>
      <p:pic>
        <p:nvPicPr>
          <p:cNvPr id="13" name="Image 3" descr="preencoded.png">    </p:cNvPr>
          <p:cNvPicPr>
            <a:picLocks noChangeAspect="1"/>
          </p:cNvPicPr>
          <p:nvPr/>
        </p:nvPicPr>
        <p:blipFill>
          <a:blip r:embed="rId4"/>
          <a:stretch>
            <a:fillRect/>
          </a:stretch>
        </p:blipFill>
        <p:spPr>
          <a:xfrm>
            <a:off x="6489040" y="3493008"/>
            <a:ext cx="391187" cy="457200"/>
          </a:xfrm>
          <a:prstGeom prst="rect">
            <a:avLst/>
          </a:prstGeom>
        </p:spPr>
      </p:pic>
      <p:sp>
        <p:nvSpPr>
          <p:cNvPr id="14" name="Text 8"/>
          <p:cNvSpPr/>
          <p:nvPr/>
        </p:nvSpPr>
        <p:spPr>
          <a:xfrm>
            <a:off x="6507328" y="3511296"/>
            <a:ext cx="4058740" cy="329184"/>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الحاجة الفعلية</a:t>
            </a:r>
            <a:endParaRPr lang="en-US" sz="1500" dirty="0"/>
          </a:p>
        </p:txBody>
      </p:sp>
      <p:sp>
        <p:nvSpPr>
          <p:cNvPr id="15" name="Text 9"/>
          <p:cNvSpPr/>
          <p:nvPr/>
        </p:nvSpPr>
        <p:spPr>
          <a:xfrm>
            <a:off x="6507328" y="4059936"/>
            <a:ext cx="4632808" cy="832104"/>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سياح من كل مكان وبكل لغة، وموقع في الصحراء المفتوحة، فكل حل يعتمد على السحابة يتوقف هناك، وكل حل بلغة واحدة لا يخدم أكثر السياح</a:t>
            </a:r>
            <a:endParaRPr lang="en-US" sz="1250" dirty="0"/>
          </a:p>
        </p:txBody>
      </p:sp>
      <p:sp>
        <p:nvSpPr>
          <p:cNvPr id="16" name="Shape 10"/>
          <p:cNvSpPr/>
          <p:nvPr/>
        </p:nvSpPr>
        <p:spPr>
          <a:xfrm>
            <a:off x="777240" y="3273552"/>
            <a:ext cx="5181448" cy="1783080"/>
          </a:xfrm>
          <a:prstGeom prst="roundRect">
            <a:avLst>
              <a:gd name="adj" fmla="val 4103"/>
            </a:avLst>
          </a:prstGeom>
          <a:solidFill>
            <a:srgbClr val="EEF3F9"/>
          </a:solidFill>
          <a:ln w="9525">
            <a:solidFill>
              <a:srgbClr val="D9E2EC"/>
            </a:solidFill>
            <a:prstDash val="solid"/>
          </a:ln>
        </p:spPr>
      </p:sp>
      <p:pic>
        <p:nvPicPr>
          <p:cNvPr id="17" name="Image 4" descr="preencoded.png">    </p:cNvPr>
          <p:cNvPicPr>
            <a:picLocks noChangeAspect="1"/>
          </p:cNvPicPr>
          <p:nvPr/>
        </p:nvPicPr>
        <p:blipFill>
          <a:blip r:embed="rId5"/>
          <a:stretch>
            <a:fillRect/>
          </a:stretch>
        </p:blipFill>
        <p:spPr>
          <a:xfrm>
            <a:off x="1033272" y="3493008"/>
            <a:ext cx="720896" cy="457200"/>
          </a:xfrm>
          <a:prstGeom prst="rect">
            <a:avLst/>
          </a:prstGeom>
        </p:spPr>
      </p:pic>
      <p:sp>
        <p:nvSpPr>
          <p:cNvPr id="18" name="Text 11"/>
          <p:cNvSpPr/>
          <p:nvPr/>
        </p:nvSpPr>
        <p:spPr>
          <a:xfrm>
            <a:off x="1051560" y="3511296"/>
            <a:ext cx="3729031" cy="329184"/>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القيمة المقدمة</a:t>
            </a:r>
            <a:endParaRPr lang="en-US" sz="1500" dirty="0"/>
          </a:p>
        </p:txBody>
      </p:sp>
      <p:sp>
        <p:nvSpPr>
          <p:cNvPr id="19" name="Text 12"/>
          <p:cNvSpPr/>
          <p:nvPr/>
        </p:nvSpPr>
        <p:spPr>
          <a:xfrm>
            <a:off x="1051560" y="4059936"/>
            <a:ext cx="4632808" cy="832104"/>
          </a:xfrm>
          <a:prstGeom prst="rect">
            <a:avLst/>
          </a:prstGeom>
          <a:noFill/>
          <a:ln/>
        </p:spPr>
        <p:txBody>
          <a:bodyPr wrap="square" lIns="0" tIns="0" rIns="0" bIns="0" rtlCol="0" anchor="t"/>
          <a:lstStyle/>
          <a:p>
            <a:pPr rtl="1" algn="r" indent="0" marL="0">
              <a:lnSpc>
                <a:spcPts val="2000"/>
              </a:lnSpc>
              <a:buNone/>
            </a:pPr>
            <a:r>
              <a:rPr lang="en-US" sz="1250" dirty="0">
                <a:solidFill>
                  <a:srgbClr val="4B5B6E"/>
                </a:solidFill>
                <a:latin typeface="Tajawal" pitchFamily="34" charset="0"/>
                <a:ea typeface="Tajawal" pitchFamily="34" charset="-122"/>
                <a:cs typeface="Tajawal" pitchFamily="34" charset="-120"/>
              </a:rPr>
              <a:t>للسائح أن يفهم ما أمامه بلغته وبصوت مسموع، وللجهة المشغلة تجربة سائح أفضل دون أي تكلفة تشغيل ولا بنية تحتية تحتاج إلى إدارة</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40080" y="1920240"/>
            <a:ext cx="4754880" cy="3017520"/>
          </a:xfrm>
          <a:prstGeom prst="rect">
            <a:avLst/>
          </a:prstGeom>
          <a:noFill/>
          <a:ln/>
        </p:spPr>
        <p:txBody>
          <a:bodyPr wrap="square" lIns="0" tIns="0" rIns="0" bIns="0" rtlCol="0" anchor="ctr"/>
          <a:lstStyle/>
          <a:p>
            <a:pPr algn="l" indent="0" marL="0">
              <a:buNone/>
            </a:pPr>
            <a:r>
              <a:rPr lang="en-US" sz="17000" b="1" dirty="0">
                <a:solidFill>
                  <a:srgbClr val="DCE5F0"/>
                </a:solidFill>
                <a:latin typeface="Calibri" pitchFamily="34" charset="0"/>
                <a:ea typeface="Calibri" pitchFamily="34" charset="-122"/>
                <a:cs typeface="Calibri" pitchFamily="34" charset="-120"/>
              </a:rPr>
              <a:t>04</a:t>
            </a:r>
            <a:endParaRPr lang="en-US" sz="17000" dirty="0"/>
          </a:p>
        </p:txBody>
      </p:sp>
      <p:sp>
        <p:nvSpPr>
          <p:cNvPr id="4" name="Text 1"/>
          <p:cNvSpPr/>
          <p:nvPr/>
        </p:nvSpPr>
        <p:spPr>
          <a:xfrm>
            <a:off x="5120640" y="2788920"/>
            <a:ext cx="6293815" cy="1280160"/>
          </a:xfrm>
          <a:prstGeom prst="rect">
            <a:avLst/>
          </a:prstGeom>
          <a:noFill/>
          <a:ln/>
        </p:spPr>
        <p:txBody>
          <a:bodyPr wrap="square" lIns="0" tIns="0" rIns="0" bIns="0" rtlCol="0" anchor="ctr"/>
          <a:lstStyle/>
          <a:p>
            <a:pPr rtl="1" algn="r" indent="0" marL="0">
              <a:buNone/>
            </a:pPr>
            <a:r>
              <a:rPr lang="en-US" sz="3600" b="1" dirty="0">
                <a:solidFill>
                  <a:srgbClr val="255174"/>
                </a:solidFill>
                <a:latin typeface="Tajawal" pitchFamily="34" charset="0"/>
                <a:ea typeface="Tajawal" pitchFamily="34" charset="-122"/>
                <a:cs typeface="Tajawal" pitchFamily="34" charset="-120"/>
              </a:rPr>
              <a:t>جودة الحل والنموذج الأولي MVP</a:t>
            </a:r>
            <a:endParaRPr lang="en-US" sz="3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777240" y="548640"/>
            <a:ext cx="10637215" cy="502920"/>
          </a:xfrm>
          <a:prstGeom prst="rect">
            <a:avLst/>
          </a:prstGeom>
          <a:noFill/>
          <a:ln/>
        </p:spPr>
        <p:txBody>
          <a:bodyPr wrap="square" lIns="0" tIns="0" rIns="0" bIns="0" rtlCol="0" anchor="ctr"/>
          <a:lstStyle/>
          <a:p>
            <a:pPr rtl="1" algn="r" indent="0" marL="0">
              <a:buNone/>
            </a:pPr>
            <a:r>
              <a:rPr lang="en-US" sz="2600" b="1" dirty="0">
                <a:solidFill>
                  <a:srgbClr val="255174"/>
                </a:solidFill>
                <a:latin typeface="Tajawal" pitchFamily="34" charset="0"/>
                <a:ea typeface="Tajawal" pitchFamily="34" charset="-122"/>
                <a:cs typeface="Tajawal" pitchFamily="34" charset="-120"/>
              </a:rPr>
              <a:t>جودة الحل والنموذج الأولي MVP</a:t>
            </a:r>
            <a:endParaRPr lang="en-US" sz="2600" dirty="0"/>
          </a:p>
        </p:txBody>
      </p:sp>
      <p:sp>
        <p:nvSpPr>
          <p:cNvPr id="4" name="Text 1"/>
          <p:cNvSpPr/>
          <p:nvPr/>
        </p:nvSpPr>
        <p:spPr>
          <a:xfrm>
            <a:off x="777240" y="1115568"/>
            <a:ext cx="10637215" cy="310896"/>
          </a:xfrm>
          <a:prstGeom prst="rect">
            <a:avLst/>
          </a:prstGeom>
          <a:noFill/>
          <a:ln/>
        </p:spPr>
        <p:txBody>
          <a:bodyPr wrap="square" lIns="0" tIns="0" rIns="0" bIns="0" rtlCol="0" anchor="ctr"/>
          <a:lstStyle/>
          <a:p>
            <a:pPr rtl="1" algn="r" indent="0" marL="0">
              <a:buNone/>
            </a:pPr>
            <a:r>
              <a:rPr lang="en-US" sz="1300" dirty="0">
                <a:solidFill>
                  <a:srgbClr val="4B5B6E"/>
                </a:solidFill>
                <a:latin typeface="Tajawal" pitchFamily="34" charset="0"/>
                <a:ea typeface="Tajawal" pitchFamily="34" charset="-122"/>
                <a:cs typeface="Tajawal" pitchFamily="34" charset="-120"/>
              </a:rPr>
              <a:t>تطبيق يعمل الآن على الويب، يفتح من الرابط بلا تنزيل:   w-electro.github.io/athr</a:t>
            </a:r>
            <a:endParaRPr lang="en-US" sz="1300" dirty="0"/>
          </a:p>
        </p:txBody>
      </p:sp>
      <p:pic>
        <p:nvPicPr>
          <p:cNvPr id="5" name="Image 1" descr="preencoded.png">    </p:cNvPr>
          <p:cNvPicPr>
            <a:picLocks noChangeAspect="1"/>
          </p:cNvPicPr>
          <p:nvPr/>
        </p:nvPicPr>
        <p:blipFill>
          <a:blip r:embed="rId2"/>
          <a:stretch>
            <a:fillRect/>
          </a:stretch>
        </p:blipFill>
        <p:spPr>
          <a:xfrm>
            <a:off x="10297399" y="1536192"/>
            <a:ext cx="1117057" cy="2331720"/>
          </a:xfrm>
          <a:prstGeom prst="rect">
            <a:avLst/>
          </a:prstGeom>
        </p:spPr>
      </p:pic>
      <p:sp>
        <p:nvSpPr>
          <p:cNvPr id="6" name="Text 2"/>
          <p:cNvSpPr/>
          <p:nvPr/>
        </p:nvSpPr>
        <p:spPr>
          <a:xfrm>
            <a:off x="10187671" y="3941064"/>
            <a:ext cx="1336513" cy="256032"/>
          </a:xfrm>
          <a:prstGeom prst="rect">
            <a:avLst/>
          </a:prstGeom>
          <a:noFill/>
          <a:ln/>
        </p:spPr>
        <p:txBody>
          <a:bodyPr wrap="square" lIns="0" tIns="0" rIns="0" bIns="0" rtlCol="0" anchor="ctr"/>
          <a:lstStyle/>
          <a:p>
            <a:pPr rtl="1" algn="ctr" indent="0" marL="0">
              <a:buNone/>
            </a:pPr>
            <a:r>
              <a:rPr lang="en-US" sz="1050" dirty="0">
                <a:solidFill>
                  <a:srgbClr val="4B5B6E"/>
                </a:solidFill>
                <a:latin typeface="Tajawal" pitchFamily="34" charset="0"/>
                <a:ea typeface="Tajawal" pitchFamily="34" charset="-122"/>
                <a:cs typeface="Tajawal" pitchFamily="34" charset="-120"/>
              </a:rPr>
              <a:t>اختيار اللغة</a:t>
            </a:r>
            <a:endParaRPr lang="en-US" sz="1050" dirty="0"/>
          </a:p>
        </p:txBody>
      </p:sp>
      <p:pic>
        <p:nvPicPr>
          <p:cNvPr id="7" name="Image 2" descr="preencoded.png">    </p:cNvPr>
          <p:cNvPicPr>
            <a:picLocks noChangeAspect="1"/>
          </p:cNvPicPr>
          <p:nvPr/>
        </p:nvPicPr>
        <p:blipFill>
          <a:blip r:embed="rId3"/>
          <a:stretch>
            <a:fillRect/>
          </a:stretch>
        </p:blipFill>
        <p:spPr>
          <a:xfrm>
            <a:off x="7917359" y="1536192"/>
            <a:ext cx="1117057" cy="2331720"/>
          </a:xfrm>
          <a:prstGeom prst="rect">
            <a:avLst/>
          </a:prstGeom>
        </p:spPr>
      </p:pic>
      <p:sp>
        <p:nvSpPr>
          <p:cNvPr id="8" name="Text 3"/>
          <p:cNvSpPr/>
          <p:nvPr/>
        </p:nvSpPr>
        <p:spPr>
          <a:xfrm>
            <a:off x="7807631" y="3941064"/>
            <a:ext cx="1336513" cy="256032"/>
          </a:xfrm>
          <a:prstGeom prst="rect">
            <a:avLst/>
          </a:prstGeom>
          <a:noFill/>
          <a:ln/>
        </p:spPr>
        <p:txBody>
          <a:bodyPr wrap="square" lIns="0" tIns="0" rIns="0" bIns="0" rtlCol="0" anchor="ctr"/>
          <a:lstStyle/>
          <a:p>
            <a:pPr rtl="1" algn="ctr" indent="0" marL="0">
              <a:buNone/>
            </a:pPr>
            <a:r>
              <a:rPr lang="en-US" sz="1050" dirty="0">
                <a:solidFill>
                  <a:srgbClr val="4B5B6E"/>
                </a:solidFill>
                <a:latin typeface="Tajawal" pitchFamily="34" charset="0"/>
                <a:ea typeface="Tajawal" pitchFamily="34" charset="-122"/>
                <a:cs typeface="Tajawal" pitchFamily="34" charset="-120"/>
              </a:rPr>
              <a:t>الاستكشاف</a:t>
            </a:r>
            <a:endParaRPr lang="en-US" sz="1050" dirty="0"/>
          </a:p>
        </p:txBody>
      </p:sp>
      <p:pic>
        <p:nvPicPr>
          <p:cNvPr id="9" name="Image 3" descr="preencoded.png">    </p:cNvPr>
          <p:cNvPicPr>
            <a:picLocks noChangeAspect="1"/>
          </p:cNvPicPr>
          <p:nvPr/>
        </p:nvPicPr>
        <p:blipFill>
          <a:blip r:embed="rId4"/>
          <a:stretch>
            <a:fillRect/>
          </a:stretch>
        </p:blipFill>
        <p:spPr>
          <a:xfrm>
            <a:off x="5537319" y="1536192"/>
            <a:ext cx="1117057" cy="2331720"/>
          </a:xfrm>
          <a:prstGeom prst="rect">
            <a:avLst/>
          </a:prstGeom>
        </p:spPr>
      </p:pic>
      <p:sp>
        <p:nvSpPr>
          <p:cNvPr id="10" name="Text 4"/>
          <p:cNvSpPr/>
          <p:nvPr/>
        </p:nvSpPr>
        <p:spPr>
          <a:xfrm>
            <a:off x="5427591" y="3941064"/>
            <a:ext cx="1336513" cy="256032"/>
          </a:xfrm>
          <a:prstGeom prst="rect">
            <a:avLst/>
          </a:prstGeom>
          <a:noFill/>
          <a:ln/>
        </p:spPr>
        <p:txBody>
          <a:bodyPr wrap="square" lIns="0" tIns="0" rIns="0" bIns="0" rtlCol="0" anchor="ctr"/>
          <a:lstStyle/>
          <a:p>
            <a:pPr rtl="1" algn="ctr" indent="0" marL="0">
              <a:buNone/>
            </a:pPr>
            <a:r>
              <a:rPr lang="en-US" sz="1050" dirty="0">
                <a:solidFill>
                  <a:srgbClr val="4B5B6E"/>
                </a:solidFill>
                <a:latin typeface="Tajawal" pitchFamily="34" charset="0"/>
                <a:ea typeface="Tajawal" pitchFamily="34" charset="-122"/>
                <a:cs typeface="Tajawal" pitchFamily="34" charset="-120"/>
              </a:rPr>
              <a:t>القصة والصوت</a:t>
            </a:r>
            <a:endParaRPr lang="en-US" sz="1050" dirty="0"/>
          </a:p>
        </p:txBody>
      </p:sp>
      <p:pic>
        <p:nvPicPr>
          <p:cNvPr id="11" name="Image 4" descr="preencoded.png">    </p:cNvPr>
          <p:cNvPicPr>
            <a:picLocks noChangeAspect="1"/>
          </p:cNvPicPr>
          <p:nvPr/>
        </p:nvPicPr>
        <p:blipFill>
          <a:blip r:embed="rId5"/>
          <a:stretch>
            <a:fillRect/>
          </a:stretch>
        </p:blipFill>
        <p:spPr>
          <a:xfrm>
            <a:off x="3157280" y="1536192"/>
            <a:ext cx="1117057" cy="2331720"/>
          </a:xfrm>
          <a:prstGeom prst="rect">
            <a:avLst/>
          </a:prstGeom>
        </p:spPr>
      </p:pic>
      <p:sp>
        <p:nvSpPr>
          <p:cNvPr id="12" name="Text 5"/>
          <p:cNvSpPr/>
          <p:nvPr/>
        </p:nvSpPr>
        <p:spPr>
          <a:xfrm>
            <a:off x="3047552" y="3941064"/>
            <a:ext cx="1336513" cy="256032"/>
          </a:xfrm>
          <a:prstGeom prst="rect">
            <a:avLst/>
          </a:prstGeom>
          <a:noFill/>
          <a:ln/>
        </p:spPr>
        <p:txBody>
          <a:bodyPr wrap="square" lIns="0" tIns="0" rIns="0" bIns="0" rtlCol="0" anchor="ctr"/>
          <a:lstStyle/>
          <a:p>
            <a:pPr rtl="1" algn="ctr" indent="0" marL="0">
              <a:buNone/>
            </a:pPr>
            <a:r>
              <a:rPr lang="en-US" sz="1050" dirty="0">
                <a:solidFill>
                  <a:srgbClr val="4B5B6E"/>
                </a:solidFill>
                <a:latin typeface="Tajawal" pitchFamily="34" charset="0"/>
                <a:ea typeface="Tajawal" pitchFamily="34" charset="-122"/>
                <a:cs typeface="Tajawal" pitchFamily="34" charset="-120"/>
              </a:rPr>
              <a:t>المسح</a:t>
            </a:r>
            <a:endParaRPr lang="en-US" sz="1050" dirty="0"/>
          </a:p>
        </p:txBody>
      </p:sp>
      <p:pic>
        <p:nvPicPr>
          <p:cNvPr id="13" name="Image 5" descr="preencoded.png">    </p:cNvPr>
          <p:cNvPicPr>
            <a:picLocks noChangeAspect="1"/>
          </p:cNvPicPr>
          <p:nvPr/>
        </p:nvPicPr>
        <p:blipFill>
          <a:blip r:embed="rId6"/>
          <a:stretch>
            <a:fillRect/>
          </a:stretch>
        </p:blipFill>
        <p:spPr>
          <a:xfrm>
            <a:off x="777240" y="1536192"/>
            <a:ext cx="1117057" cy="2331720"/>
          </a:xfrm>
          <a:prstGeom prst="rect">
            <a:avLst/>
          </a:prstGeom>
        </p:spPr>
      </p:pic>
      <p:sp>
        <p:nvSpPr>
          <p:cNvPr id="14" name="Text 6"/>
          <p:cNvSpPr/>
          <p:nvPr/>
        </p:nvSpPr>
        <p:spPr>
          <a:xfrm>
            <a:off x="667512" y="3941064"/>
            <a:ext cx="1336513" cy="256032"/>
          </a:xfrm>
          <a:prstGeom prst="rect">
            <a:avLst/>
          </a:prstGeom>
          <a:noFill/>
          <a:ln/>
        </p:spPr>
        <p:txBody>
          <a:bodyPr wrap="square" lIns="0" tIns="0" rIns="0" bIns="0" rtlCol="0" anchor="ctr"/>
          <a:lstStyle/>
          <a:p>
            <a:pPr rtl="1" algn="ctr" indent="0" marL="0">
              <a:buNone/>
            </a:pPr>
            <a:r>
              <a:rPr lang="en-US" sz="1050" dirty="0">
                <a:solidFill>
                  <a:srgbClr val="4B5B6E"/>
                </a:solidFill>
                <a:latin typeface="Tajawal" pitchFamily="34" charset="0"/>
                <a:ea typeface="Tajawal" pitchFamily="34" charset="-122"/>
                <a:cs typeface="Tajawal" pitchFamily="34" charset="-120"/>
              </a:rPr>
              <a:t>بناء الرحلة</a:t>
            </a:r>
            <a:endParaRPr lang="en-US" sz="1050" dirty="0"/>
          </a:p>
        </p:txBody>
      </p:sp>
      <p:sp>
        <p:nvSpPr>
          <p:cNvPr id="15" name="Shape 7"/>
          <p:cNvSpPr/>
          <p:nvPr/>
        </p:nvSpPr>
        <p:spPr>
          <a:xfrm>
            <a:off x="8027213" y="4498848"/>
            <a:ext cx="3387242" cy="1225296"/>
          </a:xfrm>
          <a:prstGeom prst="roundRect">
            <a:avLst>
              <a:gd name="adj" fmla="val 5970"/>
            </a:avLst>
          </a:prstGeom>
          <a:solidFill>
            <a:srgbClr val="EEF3F9"/>
          </a:solidFill>
          <a:ln w="9525">
            <a:solidFill>
              <a:srgbClr val="D9E2EC"/>
            </a:solidFill>
            <a:prstDash val="solid"/>
          </a:ln>
        </p:spPr>
      </p:sp>
      <p:sp>
        <p:nvSpPr>
          <p:cNvPr id="16" name="Text 8"/>
          <p:cNvSpPr/>
          <p:nvPr/>
        </p:nvSpPr>
        <p:spPr>
          <a:xfrm>
            <a:off x="8027213" y="4645152"/>
            <a:ext cx="3387242" cy="548640"/>
          </a:xfrm>
          <a:prstGeom prst="rect">
            <a:avLst/>
          </a:prstGeom>
          <a:noFill/>
          <a:ln/>
        </p:spPr>
        <p:txBody>
          <a:bodyPr wrap="square" lIns="0" tIns="0" rIns="0" bIns="0" rtlCol="0" anchor="ctr"/>
          <a:lstStyle/>
          <a:p>
            <a:pPr algn="ctr" indent="0" marL="0">
              <a:buNone/>
            </a:pPr>
            <a:r>
              <a:rPr lang="en-US" sz="2800" b="1" dirty="0">
                <a:solidFill>
                  <a:srgbClr val="8357F6"/>
                </a:solidFill>
                <a:latin typeface="Calibri" pitchFamily="34" charset="0"/>
                <a:ea typeface="Calibri" pitchFamily="34" charset="-122"/>
                <a:cs typeface="Calibri" pitchFamily="34" charset="-120"/>
              </a:rPr>
              <a:t>96.5%</a:t>
            </a:r>
            <a:endParaRPr lang="en-US" sz="2800" dirty="0"/>
          </a:p>
        </p:txBody>
      </p:sp>
      <p:sp>
        <p:nvSpPr>
          <p:cNvPr id="17" name="Text 9"/>
          <p:cNvSpPr/>
          <p:nvPr/>
        </p:nvSpPr>
        <p:spPr>
          <a:xfrm>
            <a:off x="8136941" y="5230368"/>
            <a:ext cx="3167786" cy="402336"/>
          </a:xfrm>
          <a:prstGeom prst="rect">
            <a:avLst/>
          </a:prstGeom>
          <a:noFill/>
          <a:ln/>
        </p:spPr>
        <p:txBody>
          <a:bodyPr wrap="square" lIns="0" tIns="0" rIns="0" bIns="0" rtlCol="0" anchor="ctr"/>
          <a:lstStyle/>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تعرف صحيح على</a:t>
            </a:r>
            <a:endParaRPr lang="en-US" sz="1100" dirty="0"/>
          </a:p>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صور الموقع</a:t>
            </a:r>
            <a:endParaRPr lang="en-US" sz="1100" dirty="0"/>
          </a:p>
        </p:txBody>
      </p:sp>
      <p:sp>
        <p:nvSpPr>
          <p:cNvPr id="18" name="Shape 10"/>
          <p:cNvSpPr/>
          <p:nvPr/>
        </p:nvSpPr>
        <p:spPr>
          <a:xfrm>
            <a:off x="4402226" y="4498848"/>
            <a:ext cx="3387242" cy="1225296"/>
          </a:xfrm>
          <a:prstGeom prst="roundRect">
            <a:avLst>
              <a:gd name="adj" fmla="val 5970"/>
            </a:avLst>
          </a:prstGeom>
          <a:solidFill>
            <a:srgbClr val="EEF3F9"/>
          </a:solidFill>
          <a:ln w="9525">
            <a:solidFill>
              <a:srgbClr val="D9E2EC"/>
            </a:solidFill>
            <a:prstDash val="solid"/>
          </a:ln>
        </p:spPr>
      </p:sp>
      <p:sp>
        <p:nvSpPr>
          <p:cNvPr id="19" name="Text 11"/>
          <p:cNvSpPr/>
          <p:nvPr/>
        </p:nvSpPr>
        <p:spPr>
          <a:xfrm>
            <a:off x="4402226" y="4645152"/>
            <a:ext cx="3387242" cy="548640"/>
          </a:xfrm>
          <a:prstGeom prst="rect">
            <a:avLst/>
          </a:prstGeom>
          <a:noFill/>
          <a:ln/>
        </p:spPr>
        <p:txBody>
          <a:bodyPr wrap="square" lIns="0" tIns="0" rIns="0" bIns="0" rtlCol="0" anchor="ctr"/>
          <a:lstStyle/>
          <a:p>
            <a:pPr algn="ctr" indent="0" marL="0">
              <a:buNone/>
            </a:pPr>
            <a:r>
              <a:rPr lang="en-US" sz="2800" b="1" dirty="0">
                <a:solidFill>
                  <a:srgbClr val="255174"/>
                </a:solidFill>
                <a:latin typeface="Calibri" pitchFamily="34" charset="0"/>
                <a:ea typeface="Calibri" pitchFamily="34" charset="-122"/>
                <a:cs typeface="Calibri" pitchFamily="34" charset="-120"/>
              </a:rPr>
              <a:t>663</a:t>
            </a:r>
            <a:endParaRPr lang="en-US" sz="2800" dirty="0"/>
          </a:p>
        </p:txBody>
      </p:sp>
      <p:sp>
        <p:nvSpPr>
          <p:cNvPr id="20" name="Text 12"/>
          <p:cNvSpPr/>
          <p:nvPr/>
        </p:nvSpPr>
        <p:spPr>
          <a:xfrm>
            <a:off x="4511954" y="5230368"/>
            <a:ext cx="3167786" cy="402336"/>
          </a:xfrm>
          <a:prstGeom prst="rect">
            <a:avLst/>
          </a:prstGeom>
          <a:noFill/>
          <a:ln/>
        </p:spPr>
        <p:txBody>
          <a:bodyPr wrap="square" lIns="0" tIns="0" rIns="0" bIns="0" rtlCol="0" anchor="ctr"/>
          <a:lstStyle/>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اختبارا آليا تعمل</a:t>
            </a:r>
            <a:endParaRPr lang="en-US" sz="1100" dirty="0"/>
          </a:p>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مع كل تعديل</a:t>
            </a:r>
            <a:endParaRPr lang="en-US" sz="1100" dirty="0"/>
          </a:p>
        </p:txBody>
      </p:sp>
      <p:sp>
        <p:nvSpPr>
          <p:cNvPr id="21" name="Shape 13"/>
          <p:cNvSpPr/>
          <p:nvPr/>
        </p:nvSpPr>
        <p:spPr>
          <a:xfrm>
            <a:off x="777240" y="4498848"/>
            <a:ext cx="3387242" cy="1225296"/>
          </a:xfrm>
          <a:prstGeom prst="roundRect">
            <a:avLst>
              <a:gd name="adj" fmla="val 5970"/>
            </a:avLst>
          </a:prstGeom>
          <a:solidFill>
            <a:srgbClr val="EEF3F9"/>
          </a:solidFill>
          <a:ln w="9525">
            <a:solidFill>
              <a:srgbClr val="D9E2EC"/>
            </a:solidFill>
            <a:prstDash val="solid"/>
          </a:ln>
        </p:spPr>
      </p:sp>
      <p:sp>
        <p:nvSpPr>
          <p:cNvPr id="22" name="Text 14"/>
          <p:cNvSpPr/>
          <p:nvPr/>
        </p:nvSpPr>
        <p:spPr>
          <a:xfrm>
            <a:off x="777240" y="4645152"/>
            <a:ext cx="3387242" cy="548640"/>
          </a:xfrm>
          <a:prstGeom prst="rect">
            <a:avLst/>
          </a:prstGeom>
          <a:noFill/>
          <a:ln/>
        </p:spPr>
        <p:txBody>
          <a:bodyPr wrap="square" lIns="0" tIns="0" rIns="0" bIns="0" rtlCol="0" anchor="ctr"/>
          <a:lstStyle/>
          <a:p>
            <a:pPr algn="ctr" indent="0" marL="0">
              <a:buNone/>
            </a:pPr>
            <a:r>
              <a:rPr lang="en-US" sz="2800" b="1" dirty="0">
                <a:solidFill>
                  <a:srgbClr val="255174"/>
                </a:solidFill>
                <a:latin typeface="Calibri" pitchFamily="34" charset="0"/>
                <a:ea typeface="Calibri" pitchFamily="34" charset="-122"/>
                <a:cs typeface="Calibri" pitchFamily="34" charset="-120"/>
              </a:rPr>
              <a:t>174</a:t>
            </a:r>
            <a:endParaRPr lang="en-US" sz="2800" dirty="0"/>
          </a:p>
        </p:txBody>
      </p:sp>
      <p:sp>
        <p:nvSpPr>
          <p:cNvPr id="23" name="Text 15"/>
          <p:cNvSpPr/>
          <p:nvPr/>
        </p:nvSpPr>
        <p:spPr>
          <a:xfrm>
            <a:off x="886968" y="5230368"/>
            <a:ext cx="3167786" cy="402336"/>
          </a:xfrm>
          <a:prstGeom prst="rect">
            <a:avLst/>
          </a:prstGeom>
          <a:noFill/>
          <a:ln/>
        </p:spPr>
        <p:txBody>
          <a:bodyPr wrap="square" lIns="0" tIns="0" rIns="0" bIns="0" rtlCol="0" anchor="ctr"/>
          <a:lstStyle/>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مقطعا صوتيا</a:t>
            </a:r>
            <a:endParaRPr lang="en-US" sz="1100" dirty="0"/>
          </a:p>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في 29 لغة</a:t>
            </a:r>
            <a:endParaRPr lang="en-US" sz="1100" dirty="0"/>
          </a:p>
        </p:txBody>
      </p:sp>
      <p:sp>
        <p:nvSpPr>
          <p:cNvPr id="24" name="Text 16"/>
          <p:cNvSpPr/>
          <p:nvPr/>
        </p:nvSpPr>
        <p:spPr>
          <a:xfrm>
            <a:off x="777240" y="5888736"/>
            <a:ext cx="10637215" cy="329184"/>
          </a:xfrm>
          <a:prstGeom prst="rect">
            <a:avLst/>
          </a:prstGeom>
          <a:noFill/>
          <a:ln/>
        </p:spPr>
        <p:txBody>
          <a:bodyPr wrap="square" lIns="0" tIns="0" rIns="0" bIns="0" rtlCol="0" anchor="ctr"/>
          <a:lstStyle/>
          <a:p>
            <a:pPr rtl="1" algn="ctr" indent="0" marL="0">
              <a:buNone/>
            </a:pPr>
            <a:r>
              <a:rPr lang="en-US" sz="1200" i="1" dirty="0">
                <a:solidFill>
                  <a:srgbClr val="4B5B6E"/>
                </a:solidFill>
                <a:latin typeface="Tajawal" pitchFamily="34" charset="0"/>
                <a:ea typeface="Tajawal" pitchFamily="34" charset="-122"/>
                <a:cs typeface="Tajawal" pitchFamily="34" charset="-120"/>
              </a:rPr>
              <a:t>قراءة النقوش الثمودية قيد التطوير، ولن نخترع ترجمة لا نملك أصلها الموثق، فنعرض الآن جدول الحروف الرسمي ليقارن السائح بنفسه</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40080" y="1920240"/>
            <a:ext cx="4754880" cy="3017520"/>
          </a:xfrm>
          <a:prstGeom prst="rect">
            <a:avLst/>
          </a:prstGeom>
          <a:noFill/>
          <a:ln/>
        </p:spPr>
        <p:txBody>
          <a:bodyPr wrap="square" lIns="0" tIns="0" rIns="0" bIns="0" rtlCol="0" anchor="ctr"/>
          <a:lstStyle/>
          <a:p>
            <a:pPr algn="l" indent="0" marL="0">
              <a:buNone/>
            </a:pPr>
            <a:r>
              <a:rPr lang="en-US" sz="17000" b="1" dirty="0">
                <a:solidFill>
                  <a:srgbClr val="DCE5F0"/>
                </a:solidFill>
                <a:latin typeface="Calibri" pitchFamily="34" charset="0"/>
                <a:ea typeface="Calibri" pitchFamily="34" charset="-122"/>
                <a:cs typeface="Calibri" pitchFamily="34" charset="-120"/>
              </a:rPr>
              <a:t>05</a:t>
            </a:r>
            <a:endParaRPr lang="en-US" sz="17000" dirty="0"/>
          </a:p>
        </p:txBody>
      </p:sp>
      <p:sp>
        <p:nvSpPr>
          <p:cNvPr id="4" name="Text 1"/>
          <p:cNvSpPr/>
          <p:nvPr/>
        </p:nvSpPr>
        <p:spPr>
          <a:xfrm>
            <a:off x="5120640" y="2788920"/>
            <a:ext cx="6293815" cy="1280160"/>
          </a:xfrm>
          <a:prstGeom prst="rect">
            <a:avLst/>
          </a:prstGeom>
          <a:noFill/>
          <a:ln/>
        </p:spPr>
        <p:txBody>
          <a:bodyPr wrap="square" lIns="0" tIns="0" rIns="0" bIns="0" rtlCol="0" anchor="ctr"/>
          <a:lstStyle/>
          <a:p>
            <a:pPr rtl="1" algn="r" indent="0" marL="0">
              <a:buNone/>
            </a:pPr>
            <a:r>
              <a:rPr lang="en-US" sz="3600" b="1" dirty="0">
                <a:solidFill>
                  <a:srgbClr val="255174"/>
                </a:solidFill>
                <a:latin typeface="Tajawal" pitchFamily="34" charset="0"/>
                <a:ea typeface="Tajawal" pitchFamily="34" charset="-122"/>
                <a:cs typeface="Tajawal" pitchFamily="34" charset="-120"/>
              </a:rPr>
              <a:t>نموذج العمل والجدوى</a:t>
            </a:r>
            <a:endParaRPr lang="en-US" sz="3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777240" y="548640"/>
            <a:ext cx="10637215" cy="502920"/>
          </a:xfrm>
          <a:prstGeom prst="rect">
            <a:avLst/>
          </a:prstGeom>
          <a:noFill/>
          <a:ln/>
        </p:spPr>
        <p:txBody>
          <a:bodyPr wrap="square" lIns="0" tIns="0" rIns="0" bIns="0" rtlCol="0" anchor="ctr"/>
          <a:lstStyle/>
          <a:p>
            <a:pPr rtl="1" algn="r" indent="0" marL="0">
              <a:buNone/>
            </a:pPr>
            <a:r>
              <a:rPr lang="en-US" sz="2600" b="1" dirty="0">
                <a:solidFill>
                  <a:srgbClr val="255174"/>
                </a:solidFill>
                <a:latin typeface="Tajawal" pitchFamily="34" charset="0"/>
                <a:ea typeface="Tajawal" pitchFamily="34" charset="-122"/>
                <a:cs typeface="Tajawal" pitchFamily="34" charset="-120"/>
              </a:rPr>
              <a:t>نموذج العمل والجدوى</a:t>
            </a:r>
            <a:endParaRPr lang="en-US" sz="2600" dirty="0"/>
          </a:p>
        </p:txBody>
      </p:sp>
      <p:sp>
        <p:nvSpPr>
          <p:cNvPr id="5" name="Shape 1"/>
          <p:cNvSpPr/>
          <p:nvPr/>
        </p:nvSpPr>
        <p:spPr>
          <a:xfrm>
            <a:off x="8027213" y="1234440"/>
            <a:ext cx="3387242" cy="2697480"/>
          </a:xfrm>
          <a:prstGeom prst="roundRect">
            <a:avLst>
              <a:gd name="adj" fmla="val 2712"/>
            </a:avLst>
          </a:prstGeom>
          <a:solidFill>
            <a:srgbClr val="EEF3F9"/>
          </a:solidFill>
          <a:ln w="9525">
            <a:solidFill>
              <a:srgbClr val="D9E2EC"/>
            </a:solidFill>
            <a:prstDash val="solid"/>
          </a:ln>
        </p:spPr>
      </p:sp>
      <p:sp>
        <p:nvSpPr>
          <p:cNvPr id="6" name="Text 2"/>
          <p:cNvSpPr/>
          <p:nvPr/>
        </p:nvSpPr>
        <p:spPr>
          <a:xfrm>
            <a:off x="8264957" y="1417320"/>
            <a:ext cx="2911754" cy="310896"/>
          </a:xfrm>
          <a:prstGeom prst="rect">
            <a:avLst/>
          </a:prstGeom>
          <a:noFill/>
          <a:ln/>
        </p:spPr>
        <p:txBody>
          <a:bodyPr wrap="square" lIns="0" tIns="0" rIns="0" bIns="0" rtlCol="0" anchor="ctr"/>
          <a:lstStyle/>
          <a:p>
            <a:pPr rtl="1" algn="r" indent="0" marL="0">
              <a:buNone/>
            </a:pPr>
            <a:r>
              <a:rPr lang="en-US" sz="1400" b="1" dirty="0">
                <a:solidFill>
                  <a:srgbClr val="8357F6"/>
                </a:solidFill>
                <a:latin typeface="Tajawal" pitchFamily="34" charset="0"/>
                <a:ea typeface="Tajawal" pitchFamily="34" charset="-122"/>
                <a:cs typeface="Tajawal" pitchFamily="34" charset="-120"/>
              </a:rPr>
              <a:t>العملاء</a:t>
            </a:r>
            <a:endParaRPr lang="en-US" sz="1400" dirty="0"/>
          </a:p>
        </p:txBody>
      </p:sp>
      <p:sp>
        <p:nvSpPr>
          <p:cNvPr id="7" name="Text 3"/>
          <p:cNvSpPr/>
          <p:nvPr/>
        </p:nvSpPr>
        <p:spPr>
          <a:xfrm>
            <a:off x="8264957" y="1801368"/>
            <a:ext cx="2911754" cy="1947672"/>
          </a:xfrm>
          <a:prstGeom prst="rect">
            <a:avLst/>
          </a:prstGeom>
          <a:noFill/>
          <a:ln/>
        </p:spPr>
        <p:txBody>
          <a:bodyPr wrap="square" lIns="0" tIns="0" rIns="0" bIns="0" rtlCol="0" anchor="t"/>
          <a:lstStyle/>
          <a:p>
            <a:pPr rtl="1" algn="r" indent="0" marL="0">
              <a:lnSpc>
                <a:spcPts val="2000"/>
              </a:lnSpc>
              <a:spcAft>
                <a:spcPts val="1200"/>
              </a:spcAft>
              <a:buNone/>
            </a:pPr>
            <a:r>
              <a:rPr lang="en-US" sz="1250" dirty="0">
                <a:solidFill>
                  <a:srgbClr val="4B5B6E"/>
                </a:solidFill>
                <a:latin typeface="Tajawal" pitchFamily="34" charset="0"/>
                <a:ea typeface="Tajawal" pitchFamily="34" charset="-122"/>
                <a:cs typeface="Tajawal" pitchFamily="34" charset="-120"/>
              </a:rPr>
              <a:t>الجهة المشغلة: هيئة التراث ومركز الزوار</a:t>
            </a:r>
            <a:endParaRPr lang="en-US" sz="1250" dirty="0"/>
          </a:p>
          <a:p>
            <a:pPr rtl="1" algn="r" indent="0" marL="0">
              <a:lnSpc>
                <a:spcPts val="2000"/>
              </a:lnSpc>
              <a:spcAft>
                <a:spcPts val="1200"/>
              </a:spcAft>
              <a:buNone/>
            </a:pPr>
            <a:r>
              <a:rPr lang="en-US" sz="1250" dirty="0">
                <a:solidFill>
                  <a:srgbClr val="4B5B6E"/>
                </a:solidFill>
                <a:latin typeface="Tajawal" pitchFamily="34" charset="0"/>
                <a:ea typeface="Tajawal" pitchFamily="34" charset="-122"/>
                <a:cs typeface="Tajawal" pitchFamily="34" charset="-120"/>
              </a:rPr>
              <a:t>والمنشآت المحلية: مطاعم ومقاهي وفنادق حائل، والمحميات السياحية</a:t>
            </a:r>
            <a:endParaRPr lang="en-US" sz="1250" dirty="0"/>
          </a:p>
          <a:p>
            <a:pPr rtl="1" algn="r" indent="0" marL="0">
              <a:lnSpc>
                <a:spcPts val="2000"/>
              </a:lnSpc>
              <a:spcAft>
                <a:spcPts val="1200"/>
              </a:spcAft>
              <a:buNone/>
            </a:pPr>
            <a:r>
              <a:rPr lang="en-US" sz="1250" dirty="0">
                <a:solidFill>
                  <a:srgbClr val="4B5B6E"/>
                </a:solidFill>
                <a:latin typeface="Tajawal" pitchFamily="34" charset="0"/>
                <a:ea typeface="Tajawal" pitchFamily="34" charset="-122"/>
                <a:cs typeface="Tajawal" pitchFamily="34" charset="-120"/>
              </a:rPr>
              <a:t>والسائح نفسه: مسحات مجانية، ثم باقات إضافية</a:t>
            </a:r>
            <a:endParaRPr lang="en-US" sz="1250" dirty="0"/>
          </a:p>
        </p:txBody>
      </p:sp>
      <p:sp>
        <p:nvSpPr>
          <p:cNvPr id="8" name="Shape 4"/>
          <p:cNvSpPr/>
          <p:nvPr/>
        </p:nvSpPr>
        <p:spPr>
          <a:xfrm>
            <a:off x="4402226" y="1234440"/>
            <a:ext cx="3387242" cy="2697480"/>
          </a:xfrm>
          <a:prstGeom prst="roundRect">
            <a:avLst>
              <a:gd name="adj" fmla="val 2712"/>
            </a:avLst>
          </a:prstGeom>
          <a:solidFill>
            <a:srgbClr val="EEF3F9"/>
          </a:solidFill>
          <a:ln w="9525">
            <a:solidFill>
              <a:srgbClr val="D9E2EC"/>
            </a:solidFill>
            <a:prstDash val="solid"/>
          </a:ln>
        </p:spPr>
      </p:sp>
      <p:sp>
        <p:nvSpPr>
          <p:cNvPr id="9" name="Text 5"/>
          <p:cNvSpPr/>
          <p:nvPr/>
        </p:nvSpPr>
        <p:spPr>
          <a:xfrm>
            <a:off x="4639970" y="1417320"/>
            <a:ext cx="2911754" cy="310896"/>
          </a:xfrm>
          <a:prstGeom prst="rect">
            <a:avLst/>
          </a:prstGeom>
          <a:noFill/>
          <a:ln/>
        </p:spPr>
        <p:txBody>
          <a:bodyPr wrap="square" lIns="0" tIns="0" rIns="0" bIns="0" rtlCol="0" anchor="ctr"/>
          <a:lstStyle/>
          <a:p>
            <a:pPr rtl="1" algn="r" indent="0" marL="0">
              <a:buNone/>
            </a:pPr>
            <a:r>
              <a:rPr lang="en-US" sz="1400" b="1" dirty="0">
                <a:solidFill>
                  <a:srgbClr val="8357F6"/>
                </a:solidFill>
                <a:latin typeface="Tajawal" pitchFamily="34" charset="0"/>
                <a:ea typeface="Tajawal" pitchFamily="34" charset="-122"/>
                <a:cs typeface="Tajawal" pitchFamily="34" charset="-120"/>
              </a:rPr>
              <a:t>مصادر الإيرادات</a:t>
            </a:r>
            <a:endParaRPr lang="en-US" sz="1400" dirty="0"/>
          </a:p>
        </p:txBody>
      </p:sp>
      <p:sp>
        <p:nvSpPr>
          <p:cNvPr id="10" name="Text 6"/>
          <p:cNvSpPr/>
          <p:nvPr/>
        </p:nvSpPr>
        <p:spPr>
          <a:xfrm>
            <a:off x="4639970" y="1801368"/>
            <a:ext cx="2911754" cy="1947672"/>
          </a:xfrm>
          <a:prstGeom prst="rect">
            <a:avLst/>
          </a:prstGeom>
          <a:noFill/>
          <a:ln/>
        </p:spPr>
        <p:txBody>
          <a:bodyPr wrap="square" lIns="0" tIns="0" rIns="0" bIns="0" rtlCol="0" anchor="t"/>
          <a:lstStyle/>
          <a:p>
            <a:pPr rtl="1" algn="r" indent="0" marL="0">
              <a:lnSpc>
                <a:spcPts val="2000"/>
              </a:lnSpc>
              <a:spcAft>
                <a:spcPts val="1200"/>
              </a:spcAft>
              <a:buNone/>
            </a:pPr>
            <a:r>
              <a:rPr lang="en-US" sz="1250" dirty="0">
                <a:solidFill>
                  <a:srgbClr val="4B5B6E"/>
                </a:solidFill>
                <a:latin typeface="Tajawal" pitchFamily="34" charset="0"/>
                <a:ea typeface="Tajawal" pitchFamily="34" charset="-122"/>
                <a:cs typeface="Tajawal" pitchFamily="34" charset="-120"/>
              </a:rPr>
              <a:t>رسوم إدراج محددة للمطاعم والمقاهي والفنادق والمحميات السياحية في مسار رحلتي</a:t>
            </a:r>
            <a:endParaRPr lang="en-US" sz="1250" dirty="0"/>
          </a:p>
          <a:p>
            <a:pPr rtl="1" algn="r" indent="0" marL="0">
              <a:lnSpc>
                <a:spcPts val="2000"/>
              </a:lnSpc>
              <a:spcAft>
                <a:spcPts val="1200"/>
              </a:spcAft>
              <a:buNone/>
            </a:pPr>
            <a:r>
              <a:rPr lang="en-US" sz="1250" dirty="0">
                <a:solidFill>
                  <a:srgbClr val="4B5B6E"/>
                </a:solidFill>
                <a:latin typeface="Tajawal" pitchFamily="34" charset="0"/>
                <a:ea typeface="Tajawal" pitchFamily="34" charset="-122"/>
                <a:cs typeface="Tajawal" pitchFamily="34" charset="-120"/>
              </a:rPr>
              <a:t>ورسوم إعداد لكل موقع جديد</a:t>
            </a:r>
            <a:endParaRPr lang="en-US" sz="1250" dirty="0"/>
          </a:p>
          <a:p>
            <a:pPr rtl="1" algn="r" indent="0" marL="0">
              <a:lnSpc>
                <a:spcPts val="2000"/>
              </a:lnSpc>
              <a:spcAft>
                <a:spcPts val="1200"/>
              </a:spcAft>
              <a:buNone/>
            </a:pPr>
            <a:r>
              <a:rPr lang="en-US" sz="1250" dirty="0">
                <a:solidFill>
                  <a:srgbClr val="4B5B6E"/>
                </a:solidFill>
                <a:latin typeface="Tajawal" pitchFamily="34" charset="0"/>
                <a:ea typeface="Tajawal" pitchFamily="34" charset="-122"/>
                <a:cs typeface="Tajawal" pitchFamily="34" charset="-120"/>
              </a:rPr>
              <a:t>ونسخة بيضاء: تطبيق أثر نفسه لمتحف آخر، باسمه وشعاره</a:t>
            </a:r>
            <a:endParaRPr lang="en-US" sz="1250" dirty="0"/>
          </a:p>
        </p:txBody>
      </p:sp>
      <p:sp>
        <p:nvSpPr>
          <p:cNvPr id="11" name="Shape 7"/>
          <p:cNvSpPr/>
          <p:nvPr/>
        </p:nvSpPr>
        <p:spPr>
          <a:xfrm>
            <a:off x="777240" y="1234440"/>
            <a:ext cx="3387242" cy="2697480"/>
          </a:xfrm>
          <a:prstGeom prst="roundRect">
            <a:avLst>
              <a:gd name="adj" fmla="val 2712"/>
            </a:avLst>
          </a:prstGeom>
          <a:solidFill>
            <a:srgbClr val="EEF3F9"/>
          </a:solidFill>
          <a:ln w="9525">
            <a:solidFill>
              <a:srgbClr val="D9E2EC"/>
            </a:solidFill>
            <a:prstDash val="solid"/>
          </a:ln>
        </p:spPr>
      </p:sp>
      <p:sp>
        <p:nvSpPr>
          <p:cNvPr id="12" name="Text 8"/>
          <p:cNvSpPr/>
          <p:nvPr/>
        </p:nvSpPr>
        <p:spPr>
          <a:xfrm>
            <a:off x="1014984" y="1417320"/>
            <a:ext cx="2911754" cy="310896"/>
          </a:xfrm>
          <a:prstGeom prst="rect">
            <a:avLst/>
          </a:prstGeom>
          <a:noFill/>
          <a:ln/>
        </p:spPr>
        <p:txBody>
          <a:bodyPr wrap="square" lIns="0" tIns="0" rIns="0" bIns="0" rtlCol="0" anchor="ctr"/>
          <a:lstStyle/>
          <a:p>
            <a:pPr rtl="1" algn="r" indent="0" marL="0">
              <a:buNone/>
            </a:pPr>
            <a:r>
              <a:rPr lang="en-US" sz="1400" b="1" dirty="0">
                <a:solidFill>
                  <a:srgbClr val="8357F6"/>
                </a:solidFill>
                <a:latin typeface="Tajawal" pitchFamily="34" charset="0"/>
                <a:ea typeface="Tajawal" pitchFamily="34" charset="-122"/>
                <a:cs typeface="Tajawal" pitchFamily="34" charset="-120"/>
              </a:rPr>
              <a:t>الاستدامة</a:t>
            </a:r>
            <a:endParaRPr lang="en-US" sz="1400" dirty="0"/>
          </a:p>
        </p:txBody>
      </p:sp>
      <p:sp>
        <p:nvSpPr>
          <p:cNvPr id="13" name="Text 9"/>
          <p:cNvSpPr/>
          <p:nvPr/>
        </p:nvSpPr>
        <p:spPr>
          <a:xfrm>
            <a:off x="1014984" y="1801368"/>
            <a:ext cx="2911754" cy="1947672"/>
          </a:xfrm>
          <a:prstGeom prst="rect">
            <a:avLst/>
          </a:prstGeom>
          <a:noFill/>
          <a:ln/>
        </p:spPr>
        <p:txBody>
          <a:bodyPr wrap="square" lIns="0" tIns="0" rIns="0" bIns="0" rtlCol="0" anchor="t"/>
          <a:lstStyle/>
          <a:p>
            <a:pPr rtl="1" algn="r" indent="0" marL="0">
              <a:lnSpc>
                <a:spcPts val="2000"/>
              </a:lnSpc>
              <a:spcAft>
                <a:spcPts val="1200"/>
              </a:spcAft>
              <a:buNone/>
            </a:pPr>
            <a:r>
              <a:rPr lang="en-US" sz="1250" dirty="0">
                <a:solidFill>
                  <a:srgbClr val="4B5B6E"/>
                </a:solidFill>
                <a:latin typeface="Tajawal" pitchFamily="34" charset="0"/>
                <a:ea typeface="Tajawal" pitchFamily="34" charset="-122"/>
                <a:cs typeface="Tajawal" pitchFamily="34" charset="-120"/>
              </a:rPr>
              <a:t>لا يكلفنا السائح الإضافي شيئا، فلا خوادم ولا واجهات برمجية مدفوعة</a:t>
            </a:r>
            <a:endParaRPr lang="en-US" sz="1250" dirty="0"/>
          </a:p>
          <a:p>
            <a:pPr rtl="1" algn="r" indent="0" marL="0">
              <a:lnSpc>
                <a:spcPts val="2000"/>
              </a:lnSpc>
              <a:spcAft>
                <a:spcPts val="1200"/>
              </a:spcAft>
              <a:buNone/>
            </a:pPr>
            <a:r>
              <a:rPr lang="en-US" sz="1250" dirty="0">
                <a:solidFill>
                  <a:srgbClr val="4B5B6E"/>
                </a:solidFill>
                <a:latin typeface="Tajawal" pitchFamily="34" charset="0"/>
                <a:ea typeface="Tajawal" pitchFamily="34" charset="-122"/>
                <a:cs typeface="Tajawal" pitchFamily="34" charset="-120"/>
              </a:rPr>
              <a:t>والتكلفة كلها إعداد لمرة واحدة عن كل موقع: تصوير وفهرسة ومحتوى وترجمة</a:t>
            </a:r>
            <a:endParaRPr lang="en-US" sz="1250" dirty="0"/>
          </a:p>
        </p:txBody>
      </p:sp>
      <p:sp>
        <p:nvSpPr>
          <p:cNvPr id="14" name="Shape 10"/>
          <p:cNvSpPr/>
          <p:nvPr/>
        </p:nvSpPr>
        <p:spPr>
          <a:xfrm>
            <a:off x="777240" y="4114800"/>
            <a:ext cx="10637215" cy="841248"/>
          </a:xfrm>
          <a:prstGeom prst="roundRect">
            <a:avLst>
              <a:gd name="adj" fmla="val 8696"/>
            </a:avLst>
          </a:prstGeom>
          <a:solidFill>
            <a:srgbClr val="E9E2FB"/>
          </a:solidFill>
          <a:ln w="9525">
            <a:solidFill>
              <a:srgbClr val="D9E2EC"/>
            </a:solidFill>
            <a:prstDash val="solid"/>
          </a:ln>
        </p:spPr>
      </p:sp>
      <p:sp>
        <p:nvSpPr>
          <p:cNvPr id="15" name="Text 11"/>
          <p:cNvSpPr/>
          <p:nvPr/>
        </p:nvSpPr>
        <p:spPr>
          <a:xfrm>
            <a:off x="1088136" y="4334256"/>
            <a:ext cx="10015423" cy="420624"/>
          </a:xfrm>
          <a:prstGeom prst="rect">
            <a:avLst/>
          </a:prstGeom>
          <a:noFill/>
          <a:ln/>
        </p:spPr>
        <p:txBody>
          <a:bodyPr wrap="square" lIns="0" tIns="0" rIns="0" bIns="0" rtlCol="0" anchor="ctr"/>
          <a:lstStyle/>
          <a:p>
            <a:pPr rtl="1" algn="ctr" indent="0" marL="0">
              <a:buNone/>
            </a:pPr>
            <a:r>
              <a:rPr lang="en-US" sz="1450" b="1" dirty="0">
                <a:solidFill>
                  <a:srgbClr val="4B2E9E"/>
                </a:solidFill>
                <a:latin typeface="Tajawal" pitchFamily="34" charset="0"/>
                <a:ea typeface="Tajawal" pitchFamily="34" charset="-122"/>
                <a:cs typeface="Tajawal" pitchFamily="34" charset="-120"/>
              </a:rPr>
              <a:t>سائح واحد ومليون سائح كلهم سواء في الكلفة، لأن التعرف والصوت والمحتوى كلها داخل جهاز السائح لا على خادم نملكه</a:t>
            </a:r>
            <a:endParaRPr lang="en-US" sz="1450" dirty="0"/>
          </a:p>
        </p:txBody>
      </p:sp>
      <p:sp>
        <p:nvSpPr>
          <p:cNvPr id="16" name="Shape 12"/>
          <p:cNvSpPr/>
          <p:nvPr/>
        </p:nvSpPr>
        <p:spPr>
          <a:xfrm>
            <a:off x="9585655" y="5138928"/>
            <a:ext cx="1828800" cy="1225296"/>
          </a:xfrm>
          <a:prstGeom prst="roundRect">
            <a:avLst>
              <a:gd name="adj" fmla="val 5970"/>
            </a:avLst>
          </a:prstGeom>
          <a:solidFill>
            <a:srgbClr val="EEF3F9"/>
          </a:solidFill>
          <a:ln w="9525">
            <a:solidFill>
              <a:srgbClr val="D9E2EC"/>
            </a:solidFill>
            <a:prstDash val="solid"/>
          </a:ln>
        </p:spPr>
      </p:sp>
      <p:sp>
        <p:nvSpPr>
          <p:cNvPr id="17" name="Text 13"/>
          <p:cNvSpPr/>
          <p:nvPr/>
        </p:nvSpPr>
        <p:spPr>
          <a:xfrm>
            <a:off x="9585655" y="5285232"/>
            <a:ext cx="1828800" cy="548640"/>
          </a:xfrm>
          <a:prstGeom prst="rect">
            <a:avLst/>
          </a:prstGeom>
          <a:noFill/>
          <a:ln/>
        </p:spPr>
        <p:txBody>
          <a:bodyPr wrap="square" lIns="0" tIns="0" rIns="0" bIns="0" rtlCol="0" anchor="ctr"/>
          <a:lstStyle/>
          <a:p>
            <a:pPr algn="ctr" indent="0" marL="0">
              <a:buNone/>
            </a:pPr>
            <a:r>
              <a:rPr lang="en-US" sz="2800" b="1" dirty="0">
                <a:solidFill>
                  <a:srgbClr val="8357F6"/>
                </a:solidFill>
                <a:latin typeface="Calibri" pitchFamily="34" charset="0"/>
                <a:ea typeface="Calibri" pitchFamily="34" charset="-122"/>
                <a:cs typeface="Calibri" pitchFamily="34" charset="-120"/>
              </a:rPr>
              <a:t>0$</a:t>
            </a:r>
            <a:endParaRPr lang="en-US" sz="2800" dirty="0"/>
          </a:p>
        </p:txBody>
      </p:sp>
      <p:sp>
        <p:nvSpPr>
          <p:cNvPr id="18" name="Text 14"/>
          <p:cNvSpPr/>
          <p:nvPr/>
        </p:nvSpPr>
        <p:spPr>
          <a:xfrm>
            <a:off x="9695383" y="5870448"/>
            <a:ext cx="1609344" cy="402336"/>
          </a:xfrm>
          <a:prstGeom prst="rect">
            <a:avLst/>
          </a:prstGeom>
          <a:noFill/>
          <a:ln/>
        </p:spPr>
        <p:txBody>
          <a:bodyPr wrap="square" lIns="0" tIns="0" rIns="0" bIns="0" rtlCol="0" anchor="ctr"/>
          <a:lstStyle/>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تكلفة تشغيل</a:t>
            </a:r>
            <a:endParaRPr lang="en-US" sz="1100" dirty="0"/>
          </a:p>
          <a:p>
            <a:pPr rtl="1" algn="ctr" indent="0" marL="0">
              <a:lnSpc>
                <a:spcPts val="1500"/>
              </a:lnSpc>
              <a:buNone/>
            </a:pPr>
            <a:r>
              <a:rPr lang="en-US" sz="1100" dirty="0">
                <a:solidFill>
                  <a:srgbClr val="4B5B6E"/>
                </a:solidFill>
                <a:latin typeface="Tajawal" pitchFamily="34" charset="0"/>
                <a:ea typeface="Tajawal" pitchFamily="34" charset="-122"/>
                <a:cs typeface="Tajawal" pitchFamily="34" charset="-120"/>
              </a:rPr>
              <a:t>شهرية</a:t>
            </a:r>
            <a:endParaRPr lang="en-US" sz="1100" dirty="0"/>
          </a:p>
        </p:txBody>
      </p:sp>
      <p:sp>
        <p:nvSpPr>
          <p:cNvPr id="19" name="Shape 15"/>
          <p:cNvSpPr/>
          <p:nvPr/>
        </p:nvSpPr>
        <p:spPr>
          <a:xfrm>
            <a:off x="5181448" y="5138928"/>
            <a:ext cx="4166464" cy="1225296"/>
          </a:xfrm>
          <a:prstGeom prst="roundRect">
            <a:avLst>
              <a:gd name="adj" fmla="val 5970"/>
            </a:avLst>
          </a:prstGeom>
          <a:solidFill>
            <a:srgbClr val="E9E2FB"/>
          </a:solidFill>
          <a:ln w="9525">
            <a:solidFill>
              <a:srgbClr val="D9E2EC"/>
            </a:solidFill>
            <a:prstDash val="solid"/>
          </a:ln>
        </p:spPr>
      </p:sp>
      <p:sp>
        <p:nvSpPr>
          <p:cNvPr id="20" name="Text 16"/>
          <p:cNvSpPr/>
          <p:nvPr/>
        </p:nvSpPr>
        <p:spPr>
          <a:xfrm>
            <a:off x="5400904" y="5248656"/>
            <a:ext cx="3727552" cy="292608"/>
          </a:xfrm>
          <a:prstGeom prst="rect">
            <a:avLst/>
          </a:prstGeom>
          <a:noFill/>
          <a:ln/>
        </p:spPr>
        <p:txBody>
          <a:bodyPr wrap="square" lIns="0" tIns="0" rIns="0" bIns="0" rtlCol="0" anchor="ctr"/>
          <a:lstStyle/>
          <a:p>
            <a:pPr rtl="1" algn="r" indent="0" marL="0">
              <a:buNone/>
            </a:pPr>
            <a:r>
              <a:rPr lang="en-US" sz="1350" b="1" dirty="0">
                <a:solidFill>
                  <a:srgbClr val="4B2E9E"/>
                </a:solidFill>
                <a:latin typeface="Tajawal" pitchFamily="34" charset="0"/>
                <a:ea typeface="Tajawal" pitchFamily="34" charset="-122"/>
                <a:cs typeface="Tajawal" pitchFamily="34" charset="-120"/>
              </a:rPr>
              <a:t>حجز بعد المسح</a:t>
            </a:r>
            <a:endParaRPr lang="en-US" sz="1350" dirty="0"/>
          </a:p>
        </p:txBody>
      </p:sp>
      <p:sp>
        <p:nvSpPr>
          <p:cNvPr id="21" name="Text 17"/>
          <p:cNvSpPr/>
          <p:nvPr/>
        </p:nvSpPr>
        <p:spPr>
          <a:xfrm>
            <a:off x="5400904" y="5559552"/>
            <a:ext cx="3727552" cy="731520"/>
          </a:xfrm>
          <a:prstGeom prst="rect">
            <a:avLst/>
          </a:prstGeom>
          <a:noFill/>
          <a:ln/>
        </p:spPr>
        <p:txBody>
          <a:bodyPr wrap="square" lIns="0" tIns="0" rIns="0" bIns="0" rtlCol="0" anchor="t"/>
          <a:lstStyle/>
          <a:p>
            <a:pPr rtl="1" algn="r" indent="0" marL="0">
              <a:lnSpc>
                <a:spcPts val="1700"/>
              </a:lnSpc>
              <a:buNone/>
            </a:pPr>
            <a:r>
              <a:rPr lang="en-US" sz="1150" dirty="0">
                <a:solidFill>
                  <a:srgbClr val="4B5B6E"/>
                </a:solidFill>
                <a:latin typeface="Tajawal" pitchFamily="34" charset="0"/>
                <a:ea typeface="Tajawal" pitchFamily="34" charset="-122"/>
                <a:cs typeface="Tajawal" pitchFamily="34" charset="-120"/>
              </a:rPr>
              <a:t>بعد مسح النقش يقترح التطبيق أقرب مقهى أو مطعم أو محمية شريكة، فيحجز السائح منه مباشرة، ويدفع الشريك عمولة ثابتة عن كل حجز مؤكد</a:t>
            </a:r>
            <a:endParaRPr lang="en-US" sz="1150" dirty="0"/>
          </a:p>
        </p:txBody>
      </p:sp>
      <p:sp>
        <p:nvSpPr>
          <p:cNvPr id="22" name="Shape 18"/>
          <p:cNvSpPr/>
          <p:nvPr/>
        </p:nvSpPr>
        <p:spPr>
          <a:xfrm>
            <a:off x="777240" y="5138928"/>
            <a:ext cx="4166464" cy="1225296"/>
          </a:xfrm>
          <a:prstGeom prst="roundRect">
            <a:avLst>
              <a:gd name="adj" fmla="val 5970"/>
            </a:avLst>
          </a:prstGeom>
          <a:solidFill>
            <a:srgbClr val="E9E2FB"/>
          </a:solidFill>
          <a:ln w="9525">
            <a:solidFill>
              <a:srgbClr val="D9E2EC"/>
            </a:solidFill>
            <a:prstDash val="solid"/>
          </a:ln>
        </p:spPr>
      </p:sp>
      <p:sp>
        <p:nvSpPr>
          <p:cNvPr id="23" name="Text 19"/>
          <p:cNvSpPr/>
          <p:nvPr/>
        </p:nvSpPr>
        <p:spPr>
          <a:xfrm>
            <a:off x="996696" y="5248656"/>
            <a:ext cx="3727552" cy="292608"/>
          </a:xfrm>
          <a:prstGeom prst="rect">
            <a:avLst/>
          </a:prstGeom>
          <a:noFill/>
          <a:ln/>
        </p:spPr>
        <p:txBody>
          <a:bodyPr wrap="square" lIns="0" tIns="0" rIns="0" bIns="0" rtlCol="0" anchor="ctr"/>
          <a:lstStyle/>
          <a:p>
            <a:pPr rtl="1" algn="r" indent="0" marL="0">
              <a:buNone/>
            </a:pPr>
            <a:r>
              <a:rPr lang="en-US" sz="1350" b="1" dirty="0">
                <a:solidFill>
                  <a:srgbClr val="4B2E9E"/>
                </a:solidFill>
                <a:latin typeface="Tajawal" pitchFamily="34" charset="0"/>
                <a:ea typeface="Tajawal" pitchFamily="34" charset="-122"/>
                <a:cs typeface="Tajawal" pitchFamily="34" charset="-120"/>
              </a:rPr>
              <a:t>باقات المسح</a:t>
            </a:r>
            <a:endParaRPr lang="en-US" sz="1350" dirty="0"/>
          </a:p>
        </p:txBody>
      </p:sp>
      <p:sp>
        <p:nvSpPr>
          <p:cNvPr id="24" name="Text 20"/>
          <p:cNvSpPr/>
          <p:nvPr/>
        </p:nvSpPr>
        <p:spPr>
          <a:xfrm>
            <a:off x="996696" y="5559552"/>
            <a:ext cx="3727552" cy="731520"/>
          </a:xfrm>
          <a:prstGeom prst="rect">
            <a:avLst/>
          </a:prstGeom>
          <a:noFill/>
          <a:ln/>
        </p:spPr>
        <p:txBody>
          <a:bodyPr wrap="square" lIns="0" tIns="0" rIns="0" bIns="0" rtlCol="0" anchor="t"/>
          <a:lstStyle/>
          <a:p>
            <a:pPr rtl="1" algn="r" indent="0" marL="0">
              <a:lnSpc>
                <a:spcPts val="1700"/>
              </a:lnSpc>
              <a:buNone/>
            </a:pPr>
            <a:r>
              <a:rPr lang="en-US" sz="1150" dirty="0">
                <a:solidFill>
                  <a:srgbClr val="4B5B6E"/>
                </a:solidFill>
                <a:latin typeface="Tajawal" pitchFamily="34" charset="0"/>
                <a:ea typeface="Tajawal" pitchFamily="34" charset="-122"/>
                <a:cs typeface="Tajawal" pitchFamily="34" charset="-120"/>
              </a:rPr>
              <a:t>لكل سائح عدد من المسحات المجانية، ثم يشتري باقة مسحات إضافية من داخل التطبيق، والقصص والمسار مجانية دائما</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640080" y="1920240"/>
            <a:ext cx="4754880" cy="3017520"/>
          </a:xfrm>
          <a:prstGeom prst="rect">
            <a:avLst/>
          </a:prstGeom>
          <a:noFill/>
          <a:ln/>
        </p:spPr>
        <p:txBody>
          <a:bodyPr wrap="square" lIns="0" tIns="0" rIns="0" bIns="0" rtlCol="0" anchor="ctr"/>
          <a:lstStyle/>
          <a:p>
            <a:pPr algn="l" indent="0" marL="0">
              <a:buNone/>
            </a:pPr>
            <a:r>
              <a:rPr lang="en-US" sz="17000" b="1" dirty="0">
                <a:solidFill>
                  <a:srgbClr val="DCE5F0"/>
                </a:solidFill>
                <a:latin typeface="Calibri" pitchFamily="34" charset="0"/>
                <a:ea typeface="Calibri" pitchFamily="34" charset="-122"/>
                <a:cs typeface="Calibri" pitchFamily="34" charset="-120"/>
              </a:rPr>
              <a:t>06</a:t>
            </a:r>
            <a:endParaRPr lang="en-US" sz="17000" dirty="0"/>
          </a:p>
        </p:txBody>
      </p:sp>
      <p:sp>
        <p:nvSpPr>
          <p:cNvPr id="4" name="Text 1"/>
          <p:cNvSpPr/>
          <p:nvPr/>
        </p:nvSpPr>
        <p:spPr>
          <a:xfrm>
            <a:off x="5120640" y="2788920"/>
            <a:ext cx="6293815" cy="1280160"/>
          </a:xfrm>
          <a:prstGeom prst="rect">
            <a:avLst/>
          </a:prstGeom>
          <a:noFill/>
          <a:ln/>
        </p:spPr>
        <p:txBody>
          <a:bodyPr wrap="square" lIns="0" tIns="0" rIns="0" bIns="0" rtlCol="0" anchor="ctr"/>
          <a:lstStyle/>
          <a:p>
            <a:pPr rtl="1" algn="r" indent="0" marL="0">
              <a:buNone/>
            </a:pPr>
            <a:r>
              <a:rPr lang="en-US" sz="3600" b="1" dirty="0">
                <a:solidFill>
                  <a:srgbClr val="255174"/>
                </a:solidFill>
                <a:latin typeface="Tajawal" pitchFamily="34" charset="0"/>
                <a:ea typeface="Tajawal" pitchFamily="34" charset="-122"/>
                <a:cs typeface="Tajawal" pitchFamily="34" charset="-120"/>
              </a:rPr>
              <a:t>قابلية النمو</a:t>
            </a:r>
            <a:endParaRPr lang="en-US" sz="3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9FA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777240" y="548640"/>
            <a:ext cx="10637215" cy="502920"/>
          </a:xfrm>
          <a:prstGeom prst="rect">
            <a:avLst/>
          </a:prstGeom>
          <a:noFill/>
          <a:ln/>
        </p:spPr>
        <p:txBody>
          <a:bodyPr wrap="square" lIns="0" tIns="0" rIns="0" bIns="0" rtlCol="0" anchor="ctr"/>
          <a:lstStyle/>
          <a:p>
            <a:pPr rtl="1" algn="r" indent="0" marL="0">
              <a:buNone/>
            </a:pPr>
            <a:r>
              <a:rPr lang="en-US" sz="2600" b="1" dirty="0">
                <a:solidFill>
                  <a:srgbClr val="255174"/>
                </a:solidFill>
                <a:latin typeface="Tajawal" pitchFamily="34" charset="0"/>
                <a:ea typeface="Tajawal" pitchFamily="34" charset="-122"/>
                <a:cs typeface="Tajawal" pitchFamily="34" charset="-120"/>
              </a:rPr>
              <a:t>قابلية النمو</a:t>
            </a:r>
            <a:endParaRPr lang="en-US" sz="2600" dirty="0"/>
          </a:p>
        </p:txBody>
      </p:sp>
      <p:sp>
        <p:nvSpPr>
          <p:cNvPr id="4" name="Shape 1"/>
          <p:cNvSpPr/>
          <p:nvPr/>
        </p:nvSpPr>
        <p:spPr>
          <a:xfrm>
            <a:off x="8933459" y="1234440"/>
            <a:ext cx="2480996" cy="1298448"/>
          </a:xfrm>
          <a:prstGeom prst="roundRect">
            <a:avLst>
              <a:gd name="adj" fmla="val 5634"/>
            </a:avLst>
          </a:prstGeom>
          <a:solidFill>
            <a:srgbClr val="EEF3F9"/>
          </a:solidFill>
          <a:ln w="9525">
            <a:solidFill>
              <a:srgbClr val="D9E2EC"/>
            </a:solidFill>
            <a:prstDash val="solid"/>
          </a:ln>
        </p:spPr>
      </p:sp>
      <p:sp>
        <p:nvSpPr>
          <p:cNvPr id="5" name="Text 2"/>
          <p:cNvSpPr/>
          <p:nvPr/>
        </p:nvSpPr>
        <p:spPr>
          <a:xfrm>
            <a:off x="9134627" y="1353312"/>
            <a:ext cx="365760" cy="310896"/>
          </a:xfrm>
          <a:prstGeom prst="rect">
            <a:avLst/>
          </a:prstGeom>
          <a:noFill/>
          <a:ln/>
        </p:spPr>
        <p:txBody>
          <a:bodyPr wrap="square" lIns="0" tIns="0" rIns="0" bIns="0" rtlCol="0" anchor="ctr"/>
          <a:lstStyle/>
          <a:p>
            <a:pPr algn="l" indent="0" marL="0">
              <a:buNone/>
            </a:pPr>
            <a:r>
              <a:rPr lang="en-US" sz="1300" b="1" dirty="0">
                <a:solidFill>
                  <a:srgbClr val="AFC0D4"/>
                </a:solidFill>
                <a:latin typeface="Calibri" pitchFamily="34" charset="0"/>
                <a:ea typeface="Calibri" pitchFamily="34" charset="-122"/>
                <a:cs typeface="Calibri" pitchFamily="34" charset="-120"/>
              </a:rPr>
              <a:t>1</a:t>
            </a:r>
            <a:endParaRPr lang="en-US" sz="1300" dirty="0"/>
          </a:p>
        </p:txBody>
      </p:sp>
      <p:sp>
        <p:nvSpPr>
          <p:cNvPr id="6" name="Text 3"/>
          <p:cNvSpPr/>
          <p:nvPr/>
        </p:nvSpPr>
        <p:spPr>
          <a:xfrm>
            <a:off x="9171203" y="1371600"/>
            <a:ext cx="1658036" cy="310896"/>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تصوير</a:t>
            </a:r>
            <a:endParaRPr lang="en-US" sz="1500" dirty="0"/>
          </a:p>
        </p:txBody>
      </p:sp>
      <p:sp>
        <p:nvSpPr>
          <p:cNvPr id="7" name="Text 4"/>
          <p:cNvSpPr/>
          <p:nvPr/>
        </p:nvSpPr>
        <p:spPr>
          <a:xfrm>
            <a:off x="9171203" y="1773936"/>
            <a:ext cx="2005508" cy="603504"/>
          </a:xfrm>
          <a:prstGeom prst="rect">
            <a:avLst/>
          </a:prstGeom>
          <a:noFill/>
          <a:ln/>
        </p:spPr>
        <p:txBody>
          <a:bodyPr wrap="square" lIns="0" tIns="0" rIns="0" bIns="0" rtlCol="0" anchor="ctr"/>
          <a:lstStyle/>
          <a:p>
            <a:pPr rtl="1" algn="r" indent="0" marL="0">
              <a:lnSpc>
                <a:spcPts val="1700"/>
              </a:lnSpc>
              <a:buNone/>
            </a:pPr>
            <a:r>
              <a:rPr lang="en-US" sz="1150" dirty="0">
                <a:solidFill>
                  <a:srgbClr val="4B5B6E"/>
                </a:solidFill>
                <a:latin typeface="Tajawal" pitchFamily="34" charset="0"/>
                <a:ea typeface="Tajawal" pitchFamily="34" charset="-122"/>
                <a:cs typeface="Tajawal" pitchFamily="34" charset="-120"/>
              </a:rPr>
              <a:t>زيارة ميدانية واحدة للموقع الجديد</a:t>
            </a:r>
            <a:endParaRPr lang="en-US" sz="1150" dirty="0"/>
          </a:p>
        </p:txBody>
      </p:sp>
      <p:sp>
        <p:nvSpPr>
          <p:cNvPr id="8" name="Shape 5"/>
          <p:cNvSpPr/>
          <p:nvPr/>
        </p:nvSpPr>
        <p:spPr>
          <a:xfrm>
            <a:off x="6214720" y="1234440"/>
            <a:ext cx="2480996" cy="1298448"/>
          </a:xfrm>
          <a:prstGeom prst="roundRect">
            <a:avLst>
              <a:gd name="adj" fmla="val 5634"/>
            </a:avLst>
          </a:prstGeom>
          <a:solidFill>
            <a:srgbClr val="EEF3F9"/>
          </a:solidFill>
          <a:ln w="9525">
            <a:solidFill>
              <a:srgbClr val="D9E2EC"/>
            </a:solidFill>
            <a:prstDash val="solid"/>
          </a:ln>
        </p:spPr>
      </p:sp>
      <p:sp>
        <p:nvSpPr>
          <p:cNvPr id="9" name="Text 6"/>
          <p:cNvSpPr/>
          <p:nvPr/>
        </p:nvSpPr>
        <p:spPr>
          <a:xfrm>
            <a:off x="6415888" y="1353312"/>
            <a:ext cx="365760" cy="310896"/>
          </a:xfrm>
          <a:prstGeom prst="rect">
            <a:avLst/>
          </a:prstGeom>
          <a:noFill/>
          <a:ln/>
        </p:spPr>
        <p:txBody>
          <a:bodyPr wrap="square" lIns="0" tIns="0" rIns="0" bIns="0" rtlCol="0" anchor="ctr"/>
          <a:lstStyle/>
          <a:p>
            <a:pPr algn="l" indent="0" marL="0">
              <a:buNone/>
            </a:pPr>
            <a:r>
              <a:rPr lang="en-US" sz="1300" b="1" dirty="0">
                <a:solidFill>
                  <a:srgbClr val="AFC0D4"/>
                </a:solidFill>
                <a:latin typeface="Calibri" pitchFamily="34" charset="0"/>
                <a:ea typeface="Calibri" pitchFamily="34" charset="-122"/>
                <a:cs typeface="Calibri" pitchFamily="34" charset="-120"/>
              </a:rPr>
              <a:t>2</a:t>
            </a:r>
            <a:endParaRPr lang="en-US" sz="1300" dirty="0"/>
          </a:p>
        </p:txBody>
      </p:sp>
      <p:sp>
        <p:nvSpPr>
          <p:cNvPr id="10" name="Text 7"/>
          <p:cNvSpPr/>
          <p:nvPr/>
        </p:nvSpPr>
        <p:spPr>
          <a:xfrm>
            <a:off x="6452464" y="1371600"/>
            <a:ext cx="1658036" cy="310896"/>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فهرسة</a:t>
            </a:r>
            <a:endParaRPr lang="en-US" sz="1500" dirty="0"/>
          </a:p>
        </p:txBody>
      </p:sp>
      <p:sp>
        <p:nvSpPr>
          <p:cNvPr id="11" name="Text 8"/>
          <p:cNvSpPr/>
          <p:nvPr/>
        </p:nvSpPr>
        <p:spPr>
          <a:xfrm>
            <a:off x="6452464" y="1773936"/>
            <a:ext cx="2005508" cy="603504"/>
          </a:xfrm>
          <a:prstGeom prst="rect">
            <a:avLst/>
          </a:prstGeom>
          <a:noFill/>
          <a:ln/>
        </p:spPr>
        <p:txBody>
          <a:bodyPr wrap="square" lIns="0" tIns="0" rIns="0" bIns="0" rtlCol="0" anchor="ctr"/>
          <a:lstStyle/>
          <a:p>
            <a:pPr rtl="1" algn="r" indent="0" marL="0">
              <a:lnSpc>
                <a:spcPts val="1700"/>
              </a:lnSpc>
              <a:buNone/>
            </a:pPr>
            <a:r>
              <a:rPr lang="en-US" sz="1150" dirty="0">
                <a:solidFill>
                  <a:srgbClr val="4B5B6E"/>
                </a:solidFill>
                <a:latin typeface="Tajawal" pitchFamily="34" charset="0"/>
                <a:ea typeface="Tajawal" pitchFamily="34" charset="-122"/>
                <a:cs typeface="Tajawal" pitchFamily="34" charset="-120"/>
              </a:rPr>
              <a:t>تحويل الصور إلى بصمات — دقائق</a:t>
            </a:r>
            <a:endParaRPr lang="en-US" sz="1150" dirty="0"/>
          </a:p>
        </p:txBody>
      </p:sp>
      <p:sp>
        <p:nvSpPr>
          <p:cNvPr id="12" name="Shape 9"/>
          <p:cNvSpPr/>
          <p:nvPr/>
        </p:nvSpPr>
        <p:spPr>
          <a:xfrm>
            <a:off x="3495980" y="1234440"/>
            <a:ext cx="2480996" cy="1298448"/>
          </a:xfrm>
          <a:prstGeom prst="roundRect">
            <a:avLst>
              <a:gd name="adj" fmla="val 5634"/>
            </a:avLst>
          </a:prstGeom>
          <a:solidFill>
            <a:srgbClr val="EEF3F9"/>
          </a:solidFill>
          <a:ln w="9525">
            <a:solidFill>
              <a:srgbClr val="D9E2EC"/>
            </a:solidFill>
            <a:prstDash val="solid"/>
          </a:ln>
        </p:spPr>
      </p:sp>
      <p:sp>
        <p:nvSpPr>
          <p:cNvPr id="13" name="Text 10"/>
          <p:cNvSpPr/>
          <p:nvPr/>
        </p:nvSpPr>
        <p:spPr>
          <a:xfrm>
            <a:off x="3697148" y="1353312"/>
            <a:ext cx="365760" cy="310896"/>
          </a:xfrm>
          <a:prstGeom prst="rect">
            <a:avLst/>
          </a:prstGeom>
          <a:noFill/>
          <a:ln/>
        </p:spPr>
        <p:txBody>
          <a:bodyPr wrap="square" lIns="0" tIns="0" rIns="0" bIns="0" rtlCol="0" anchor="ctr"/>
          <a:lstStyle/>
          <a:p>
            <a:pPr algn="l" indent="0" marL="0">
              <a:buNone/>
            </a:pPr>
            <a:r>
              <a:rPr lang="en-US" sz="1300" b="1" dirty="0">
                <a:solidFill>
                  <a:srgbClr val="AFC0D4"/>
                </a:solidFill>
                <a:latin typeface="Calibri" pitchFamily="34" charset="0"/>
                <a:ea typeface="Calibri" pitchFamily="34" charset="-122"/>
                <a:cs typeface="Calibri" pitchFamily="34" charset="-120"/>
              </a:rPr>
              <a:t>3</a:t>
            </a:r>
            <a:endParaRPr lang="en-US" sz="1300" dirty="0"/>
          </a:p>
        </p:txBody>
      </p:sp>
      <p:sp>
        <p:nvSpPr>
          <p:cNvPr id="14" name="Text 11"/>
          <p:cNvSpPr/>
          <p:nvPr/>
        </p:nvSpPr>
        <p:spPr>
          <a:xfrm>
            <a:off x="3733724" y="1371600"/>
            <a:ext cx="1658036" cy="310896"/>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محتوى</a:t>
            </a:r>
            <a:endParaRPr lang="en-US" sz="1500" dirty="0"/>
          </a:p>
        </p:txBody>
      </p:sp>
      <p:sp>
        <p:nvSpPr>
          <p:cNvPr id="15" name="Text 12"/>
          <p:cNvSpPr/>
          <p:nvPr/>
        </p:nvSpPr>
        <p:spPr>
          <a:xfrm>
            <a:off x="3733724" y="1773936"/>
            <a:ext cx="2005508" cy="603504"/>
          </a:xfrm>
          <a:prstGeom prst="rect">
            <a:avLst/>
          </a:prstGeom>
          <a:noFill/>
          <a:ln/>
        </p:spPr>
        <p:txBody>
          <a:bodyPr wrap="square" lIns="0" tIns="0" rIns="0" bIns="0" rtlCol="0" anchor="ctr"/>
          <a:lstStyle/>
          <a:p>
            <a:pPr rtl="1" algn="r" indent="0" marL="0">
              <a:lnSpc>
                <a:spcPts val="1700"/>
              </a:lnSpc>
              <a:buNone/>
            </a:pPr>
            <a:r>
              <a:rPr lang="en-US" sz="1150" dirty="0">
                <a:solidFill>
                  <a:srgbClr val="4B5B6E"/>
                </a:solidFill>
                <a:latin typeface="Tajawal" pitchFamily="34" charset="0"/>
                <a:ea typeface="Tajawal" pitchFamily="34" charset="-122"/>
                <a:cs typeface="Tajawal" pitchFamily="34" charset="-120"/>
              </a:rPr>
              <a:t>كتابة القصص وترجمتها</a:t>
            </a:r>
            <a:endParaRPr lang="en-US" sz="1150" dirty="0"/>
          </a:p>
        </p:txBody>
      </p:sp>
      <p:sp>
        <p:nvSpPr>
          <p:cNvPr id="16" name="Shape 13"/>
          <p:cNvSpPr/>
          <p:nvPr/>
        </p:nvSpPr>
        <p:spPr>
          <a:xfrm>
            <a:off x="777240" y="1234440"/>
            <a:ext cx="2480996" cy="1298448"/>
          </a:xfrm>
          <a:prstGeom prst="roundRect">
            <a:avLst>
              <a:gd name="adj" fmla="val 5634"/>
            </a:avLst>
          </a:prstGeom>
          <a:solidFill>
            <a:srgbClr val="EEF3F9"/>
          </a:solidFill>
          <a:ln w="9525">
            <a:solidFill>
              <a:srgbClr val="D9E2EC"/>
            </a:solidFill>
            <a:prstDash val="solid"/>
          </a:ln>
        </p:spPr>
      </p:sp>
      <p:sp>
        <p:nvSpPr>
          <p:cNvPr id="17" name="Text 14"/>
          <p:cNvSpPr/>
          <p:nvPr/>
        </p:nvSpPr>
        <p:spPr>
          <a:xfrm>
            <a:off x="978408" y="1353312"/>
            <a:ext cx="365760" cy="310896"/>
          </a:xfrm>
          <a:prstGeom prst="rect">
            <a:avLst/>
          </a:prstGeom>
          <a:noFill/>
          <a:ln/>
        </p:spPr>
        <p:txBody>
          <a:bodyPr wrap="square" lIns="0" tIns="0" rIns="0" bIns="0" rtlCol="0" anchor="ctr"/>
          <a:lstStyle/>
          <a:p>
            <a:pPr algn="l" indent="0" marL="0">
              <a:buNone/>
            </a:pPr>
            <a:r>
              <a:rPr lang="en-US" sz="1300" b="1" dirty="0">
                <a:solidFill>
                  <a:srgbClr val="AFC0D4"/>
                </a:solidFill>
                <a:latin typeface="Calibri" pitchFamily="34" charset="0"/>
                <a:ea typeface="Calibri" pitchFamily="34" charset="-122"/>
                <a:cs typeface="Calibri" pitchFamily="34" charset="-120"/>
              </a:rPr>
              <a:t>4</a:t>
            </a:r>
            <a:endParaRPr lang="en-US" sz="1300" dirty="0"/>
          </a:p>
        </p:txBody>
      </p:sp>
      <p:sp>
        <p:nvSpPr>
          <p:cNvPr id="18" name="Text 15"/>
          <p:cNvSpPr/>
          <p:nvPr/>
        </p:nvSpPr>
        <p:spPr>
          <a:xfrm>
            <a:off x="1014984" y="1371600"/>
            <a:ext cx="1658036" cy="310896"/>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صوت</a:t>
            </a:r>
            <a:endParaRPr lang="en-US" sz="1500" dirty="0"/>
          </a:p>
        </p:txBody>
      </p:sp>
      <p:sp>
        <p:nvSpPr>
          <p:cNvPr id="19" name="Text 16"/>
          <p:cNvSpPr/>
          <p:nvPr/>
        </p:nvSpPr>
        <p:spPr>
          <a:xfrm>
            <a:off x="1014984" y="1773936"/>
            <a:ext cx="2005508" cy="603504"/>
          </a:xfrm>
          <a:prstGeom prst="rect">
            <a:avLst/>
          </a:prstGeom>
          <a:noFill/>
          <a:ln/>
        </p:spPr>
        <p:txBody>
          <a:bodyPr wrap="square" lIns="0" tIns="0" rIns="0" bIns="0" rtlCol="0" anchor="ctr"/>
          <a:lstStyle/>
          <a:p>
            <a:pPr rtl="1" algn="r" indent="0" marL="0">
              <a:lnSpc>
                <a:spcPts val="1700"/>
              </a:lnSpc>
              <a:buNone/>
            </a:pPr>
            <a:r>
              <a:rPr lang="en-US" sz="1150" dirty="0">
                <a:solidFill>
                  <a:srgbClr val="4B5B6E"/>
                </a:solidFill>
                <a:latin typeface="Tajawal" pitchFamily="34" charset="0"/>
                <a:ea typeface="Tajawal" pitchFamily="34" charset="-122"/>
                <a:cs typeface="Tajawal" pitchFamily="34" charset="-120"/>
              </a:rPr>
              <a:t>توليد الرواية بتسع وعشرين لغة</a:t>
            </a:r>
            <a:endParaRPr lang="en-US" sz="1150" dirty="0"/>
          </a:p>
        </p:txBody>
      </p:sp>
      <p:sp>
        <p:nvSpPr>
          <p:cNvPr id="20" name="Shape 17"/>
          <p:cNvSpPr/>
          <p:nvPr/>
        </p:nvSpPr>
        <p:spPr>
          <a:xfrm>
            <a:off x="6233008" y="2761488"/>
            <a:ext cx="5181448" cy="2249424"/>
          </a:xfrm>
          <a:prstGeom prst="roundRect">
            <a:avLst>
              <a:gd name="adj" fmla="val 3252"/>
            </a:avLst>
          </a:prstGeom>
          <a:solidFill>
            <a:srgbClr val="EEF3F9"/>
          </a:solidFill>
          <a:ln w="9525">
            <a:solidFill>
              <a:srgbClr val="D9E2EC"/>
            </a:solidFill>
            <a:prstDash val="solid"/>
          </a:ln>
        </p:spPr>
      </p:sp>
      <p:sp>
        <p:nvSpPr>
          <p:cNvPr id="21" name="Text 18"/>
          <p:cNvSpPr/>
          <p:nvPr/>
        </p:nvSpPr>
        <p:spPr>
          <a:xfrm>
            <a:off x="6507328" y="2962656"/>
            <a:ext cx="4632808" cy="329184"/>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لا إعادة تدريب ولا بنية تحتية</a:t>
            </a:r>
            <a:endParaRPr lang="en-US" sz="1500" dirty="0"/>
          </a:p>
        </p:txBody>
      </p:sp>
      <p:sp>
        <p:nvSpPr>
          <p:cNvPr id="22" name="Text 19"/>
          <p:cNvSpPr/>
          <p:nvPr/>
        </p:nvSpPr>
        <p:spPr>
          <a:xfrm>
            <a:off x="6507328" y="3383280"/>
            <a:ext cx="4632808" cy="1463040"/>
          </a:xfrm>
          <a:prstGeom prst="rect">
            <a:avLst/>
          </a:prstGeom>
          <a:noFill/>
          <a:ln/>
        </p:spPr>
        <p:txBody>
          <a:bodyPr wrap="square" lIns="0" tIns="0" rIns="0" bIns="0" rtlCol="0" anchor="t"/>
          <a:lstStyle/>
          <a:p>
            <a:pPr rtl="1" algn="r" indent="0" marL="0">
              <a:lnSpc>
                <a:spcPts val="2000"/>
              </a:lnSpc>
              <a:spcAft>
                <a:spcPts val="1300"/>
              </a:spcAft>
              <a:buNone/>
            </a:pPr>
            <a:r>
              <a:rPr lang="en-US" sz="1250" dirty="0">
                <a:solidFill>
                  <a:srgbClr val="4B5B6E"/>
                </a:solidFill>
                <a:latin typeface="Tajawal" pitchFamily="34" charset="0"/>
                <a:ea typeface="Tajawal" pitchFamily="34" charset="-122"/>
                <a:cs typeface="Tajawal" pitchFamily="34" charset="-120"/>
              </a:rPr>
              <a:t>لم ندرب النموذج على جبة، فهو يتعلم أي موقع بالطريقة نفسها</a:t>
            </a:r>
            <a:endParaRPr lang="en-US" sz="1250" dirty="0"/>
          </a:p>
          <a:p>
            <a:pPr rtl="1" algn="r" indent="0" marL="0">
              <a:lnSpc>
                <a:spcPts val="2000"/>
              </a:lnSpc>
              <a:spcAft>
                <a:spcPts val="1300"/>
              </a:spcAft>
              <a:buNone/>
            </a:pPr>
            <a:r>
              <a:rPr lang="en-US" sz="1250" dirty="0">
                <a:solidFill>
                  <a:srgbClr val="4B5B6E"/>
                </a:solidFill>
                <a:latin typeface="Tajawal" pitchFamily="34" charset="0"/>
                <a:ea typeface="Tajawal" pitchFamily="34" charset="-122"/>
                <a:cs typeface="Tajawal" pitchFamily="34" charset="-120"/>
              </a:rPr>
              <a:t>وإضافة موقع جديد لا تغير البرمجة، بل تحتاج إلى صوره فقط</a:t>
            </a:r>
            <a:endParaRPr lang="en-US" sz="1250" dirty="0"/>
          </a:p>
          <a:p>
            <a:pPr rtl="1" algn="r" indent="0" marL="0">
              <a:lnSpc>
                <a:spcPts val="2000"/>
              </a:lnSpc>
              <a:spcAft>
                <a:spcPts val="1300"/>
              </a:spcAft>
              <a:buNone/>
            </a:pPr>
            <a:r>
              <a:rPr lang="en-US" sz="1250" dirty="0">
                <a:solidFill>
                  <a:srgbClr val="4B5B6E"/>
                </a:solidFill>
                <a:latin typeface="Tajawal" pitchFamily="34" charset="0"/>
                <a:ea typeface="Tajawal" pitchFamily="34" charset="-122"/>
                <a:cs typeface="Tajawal" pitchFamily="34" charset="-120"/>
              </a:rPr>
              <a:t>والفهرس يتوسع بلا حد، فكل تصحيح من سائح يزيد دقته لمن بعده</a:t>
            </a:r>
            <a:endParaRPr lang="en-US" sz="1250" dirty="0"/>
          </a:p>
        </p:txBody>
      </p:sp>
      <p:sp>
        <p:nvSpPr>
          <p:cNvPr id="23" name="Shape 20"/>
          <p:cNvSpPr/>
          <p:nvPr/>
        </p:nvSpPr>
        <p:spPr>
          <a:xfrm>
            <a:off x="777240" y="2761488"/>
            <a:ext cx="5181448" cy="2249424"/>
          </a:xfrm>
          <a:prstGeom prst="roundRect">
            <a:avLst>
              <a:gd name="adj" fmla="val 3252"/>
            </a:avLst>
          </a:prstGeom>
          <a:solidFill>
            <a:srgbClr val="EEF3F9"/>
          </a:solidFill>
          <a:ln w="9525">
            <a:solidFill>
              <a:srgbClr val="D9E2EC"/>
            </a:solidFill>
            <a:prstDash val="solid"/>
          </a:ln>
        </p:spPr>
      </p:sp>
      <p:sp>
        <p:nvSpPr>
          <p:cNvPr id="24" name="Text 21"/>
          <p:cNvSpPr/>
          <p:nvPr/>
        </p:nvSpPr>
        <p:spPr>
          <a:xfrm>
            <a:off x="1051560" y="2962656"/>
            <a:ext cx="4632808" cy="329184"/>
          </a:xfrm>
          <a:prstGeom prst="rect">
            <a:avLst/>
          </a:prstGeom>
          <a:noFill/>
          <a:ln/>
        </p:spPr>
        <p:txBody>
          <a:bodyPr wrap="square" lIns="0" tIns="0" rIns="0" bIns="0" rtlCol="0" anchor="ctr"/>
          <a:lstStyle/>
          <a:p>
            <a:pPr rtl="1" algn="r" indent="0" marL="0">
              <a:buNone/>
            </a:pPr>
            <a:r>
              <a:rPr lang="en-US" sz="1500" b="1" dirty="0">
                <a:solidFill>
                  <a:srgbClr val="255174"/>
                </a:solidFill>
                <a:latin typeface="Tajawal" pitchFamily="34" charset="0"/>
                <a:ea typeface="Tajawal" pitchFamily="34" charset="-122"/>
                <a:cs typeface="Tajawal" pitchFamily="34" charset="-120"/>
              </a:rPr>
              <a:t>إلى أين يتوسع</a:t>
            </a:r>
            <a:endParaRPr lang="en-US" sz="1500" dirty="0"/>
          </a:p>
        </p:txBody>
      </p:sp>
      <p:sp>
        <p:nvSpPr>
          <p:cNvPr id="25" name="Text 22"/>
          <p:cNvSpPr/>
          <p:nvPr/>
        </p:nvSpPr>
        <p:spPr>
          <a:xfrm>
            <a:off x="1051560" y="3383280"/>
            <a:ext cx="4632808" cy="1463040"/>
          </a:xfrm>
          <a:prstGeom prst="rect">
            <a:avLst/>
          </a:prstGeom>
          <a:noFill/>
          <a:ln/>
        </p:spPr>
        <p:txBody>
          <a:bodyPr wrap="square" lIns="0" tIns="0" rIns="0" bIns="0" rtlCol="0" anchor="t"/>
          <a:lstStyle/>
          <a:p>
            <a:pPr rtl="1" algn="r" indent="0" marL="0">
              <a:lnSpc>
                <a:spcPts val="2000"/>
              </a:lnSpc>
              <a:spcAft>
                <a:spcPts val="900"/>
              </a:spcAft>
              <a:buNone/>
            </a:pPr>
            <a:r>
              <a:rPr lang="en-US" sz="1250" dirty="0">
                <a:solidFill>
                  <a:srgbClr val="4B5B6E"/>
                </a:solidFill>
                <a:latin typeface="Tajawal" pitchFamily="34" charset="0"/>
                <a:ea typeface="Tajawal" pitchFamily="34" charset="-122"/>
                <a:cs typeface="Tajawal" pitchFamily="34" charset="-120"/>
              </a:rPr>
              <a:t>بقية مواقع حائل: الشويمس، وجبال أجا، والقشلة، وقلعة أعيرف</a:t>
            </a:r>
            <a:endParaRPr lang="en-US" sz="1250" dirty="0"/>
          </a:p>
          <a:p>
            <a:pPr rtl="1" algn="r" indent="0" marL="0">
              <a:lnSpc>
                <a:spcPts val="2000"/>
              </a:lnSpc>
              <a:spcAft>
                <a:spcPts val="900"/>
              </a:spcAft>
              <a:buNone/>
            </a:pPr>
            <a:r>
              <a:rPr lang="en-US" sz="1250" dirty="0">
                <a:solidFill>
                  <a:srgbClr val="4B5B6E"/>
                </a:solidFill>
                <a:latin typeface="Tajawal" pitchFamily="34" charset="0"/>
                <a:ea typeface="Tajawal" pitchFamily="34" charset="-122"/>
                <a:cs typeface="Tajawal" pitchFamily="34" charset="-120"/>
              </a:rPr>
              <a:t>ثم الجنوب حيث النقوش بالآلاف: أبها، وعسير، ونجران، وجازان</a:t>
            </a:r>
            <a:endParaRPr lang="en-US" sz="1250" dirty="0"/>
          </a:p>
          <a:p>
            <a:pPr rtl="1" algn="r" indent="0" marL="0">
              <a:lnSpc>
                <a:spcPts val="2000"/>
              </a:lnSpc>
              <a:spcAft>
                <a:spcPts val="900"/>
              </a:spcAft>
              <a:buNone/>
            </a:pPr>
            <a:r>
              <a:rPr lang="en-US" sz="1250" dirty="0">
                <a:solidFill>
                  <a:srgbClr val="4B5B6E"/>
                </a:solidFill>
                <a:latin typeface="Tajawal" pitchFamily="34" charset="0"/>
                <a:ea typeface="Tajawal" pitchFamily="34" charset="-122"/>
                <a:cs typeface="Tajawal" pitchFamily="34" charset="-120"/>
              </a:rPr>
              <a:t>وكل مدينة غنية بالنقوش: العلا، وتيماء، وتبوك، والجوف</a:t>
            </a:r>
            <a:endParaRPr lang="en-US" sz="1250" dirty="0"/>
          </a:p>
          <a:p>
            <a:pPr rtl="1" algn="r" indent="0" marL="0">
              <a:lnSpc>
                <a:spcPts val="2000"/>
              </a:lnSpc>
              <a:spcAft>
                <a:spcPts val="900"/>
              </a:spcAft>
              <a:buNone/>
            </a:pPr>
            <a:r>
              <a:rPr lang="en-US" sz="1250" dirty="0">
                <a:solidFill>
                  <a:srgbClr val="4B5B6E"/>
                </a:solidFill>
                <a:latin typeface="Tajawal" pitchFamily="34" charset="0"/>
                <a:ea typeface="Tajawal" pitchFamily="34" charset="-122"/>
                <a:cs typeface="Tajawal" pitchFamily="34" charset="-120"/>
              </a:rPr>
              <a:t>ثم نسخة بيضاء لأي متحف: التطبيق نفسه باسمه وشعاره</a:t>
            </a:r>
            <a:endParaRPr lang="en-US" sz="1250" dirty="0"/>
          </a:p>
        </p:txBody>
      </p:sp>
      <p:pic>
        <p:nvPicPr>
          <p:cNvPr id="26" name="Image 1" descr="preencoded.png">    </p:cNvPr>
          <p:cNvPicPr>
            <a:picLocks noChangeAspect="1"/>
          </p:cNvPicPr>
          <p:nvPr/>
        </p:nvPicPr>
        <p:blipFill>
          <a:blip r:embed="rId2"/>
          <a:stretch>
            <a:fillRect/>
          </a:stretch>
        </p:blipFill>
        <p:spPr>
          <a:xfrm>
            <a:off x="9677095" y="5175504"/>
            <a:ext cx="1737360" cy="1158240"/>
          </a:xfrm>
          <a:prstGeom prst="rect">
            <a:avLst/>
          </a:prstGeom>
        </p:spPr>
      </p:pic>
      <p:sp>
        <p:nvSpPr>
          <p:cNvPr id="27" name="Text 23"/>
          <p:cNvSpPr/>
          <p:nvPr/>
        </p:nvSpPr>
        <p:spPr>
          <a:xfrm>
            <a:off x="9585655" y="6406896"/>
            <a:ext cx="1920240" cy="256032"/>
          </a:xfrm>
          <a:prstGeom prst="rect">
            <a:avLst/>
          </a:prstGeom>
          <a:noFill/>
          <a:ln/>
        </p:spPr>
        <p:txBody>
          <a:bodyPr wrap="square" lIns="0" tIns="0" rIns="0" bIns="0" rtlCol="0" anchor="ctr"/>
          <a:lstStyle/>
          <a:p>
            <a:pPr rtl="1" algn="ctr" indent="0" marL="0">
              <a:buNone/>
            </a:pPr>
            <a:r>
              <a:rPr lang="en-US" sz="1100" dirty="0">
                <a:solidFill>
                  <a:srgbClr val="4B5B6E"/>
                </a:solidFill>
                <a:latin typeface="Tajawal" pitchFamily="34" charset="0"/>
                <a:ea typeface="Tajawal" pitchFamily="34" charset="-122"/>
                <a:cs typeface="Tajawal" pitchFamily="34" charset="-120"/>
              </a:rPr>
              <a:t>الشويمس</a:t>
            </a:r>
            <a:endParaRPr lang="en-US" sz="1100" dirty="0"/>
          </a:p>
        </p:txBody>
      </p:sp>
      <p:pic>
        <p:nvPicPr>
          <p:cNvPr id="28" name="Image 2" descr="preencoded.png">    </p:cNvPr>
          <p:cNvPicPr>
            <a:picLocks noChangeAspect="1"/>
          </p:cNvPicPr>
          <p:nvPr/>
        </p:nvPicPr>
        <p:blipFill>
          <a:blip r:embed="rId3"/>
          <a:stretch>
            <a:fillRect/>
          </a:stretch>
        </p:blipFill>
        <p:spPr>
          <a:xfrm>
            <a:off x="7720279" y="5175504"/>
            <a:ext cx="1737360" cy="1158240"/>
          </a:xfrm>
          <a:prstGeom prst="rect">
            <a:avLst/>
          </a:prstGeom>
        </p:spPr>
      </p:pic>
      <p:sp>
        <p:nvSpPr>
          <p:cNvPr id="29" name="Text 24"/>
          <p:cNvSpPr/>
          <p:nvPr/>
        </p:nvSpPr>
        <p:spPr>
          <a:xfrm>
            <a:off x="7628839" y="6406896"/>
            <a:ext cx="1920240" cy="256032"/>
          </a:xfrm>
          <a:prstGeom prst="rect">
            <a:avLst/>
          </a:prstGeom>
          <a:noFill/>
          <a:ln/>
        </p:spPr>
        <p:txBody>
          <a:bodyPr wrap="square" lIns="0" tIns="0" rIns="0" bIns="0" rtlCol="0" anchor="ctr"/>
          <a:lstStyle/>
          <a:p>
            <a:pPr rtl="1" algn="ctr" indent="0" marL="0">
              <a:buNone/>
            </a:pPr>
            <a:r>
              <a:rPr lang="en-US" sz="1100" dirty="0">
                <a:solidFill>
                  <a:srgbClr val="4B5B6E"/>
                </a:solidFill>
                <a:latin typeface="Tajawal" pitchFamily="34" charset="0"/>
                <a:ea typeface="Tajawal" pitchFamily="34" charset="-122"/>
                <a:cs typeface="Tajawal" pitchFamily="34" charset="-120"/>
              </a:rPr>
              <a:t>جبال أجا</a:t>
            </a:r>
            <a:endParaRPr lang="en-US" sz="1100" dirty="0"/>
          </a:p>
        </p:txBody>
      </p:sp>
      <p:pic>
        <p:nvPicPr>
          <p:cNvPr id="30" name="Image 3" descr="preencoded.png">    </p:cNvPr>
          <p:cNvPicPr>
            <a:picLocks noChangeAspect="1"/>
          </p:cNvPicPr>
          <p:nvPr/>
        </p:nvPicPr>
        <p:blipFill>
          <a:blip r:embed="rId4"/>
          <a:stretch>
            <a:fillRect/>
          </a:stretch>
        </p:blipFill>
        <p:spPr>
          <a:xfrm>
            <a:off x="5763463" y="5175504"/>
            <a:ext cx="1737360" cy="1158240"/>
          </a:xfrm>
          <a:prstGeom prst="rect">
            <a:avLst/>
          </a:prstGeom>
        </p:spPr>
      </p:pic>
      <p:sp>
        <p:nvSpPr>
          <p:cNvPr id="31" name="Text 25"/>
          <p:cNvSpPr/>
          <p:nvPr/>
        </p:nvSpPr>
        <p:spPr>
          <a:xfrm>
            <a:off x="5672023" y="6406896"/>
            <a:ext cx="1920240" cy="256032"/>
          </a:xfrm>
          <a:prstGeom prst="rect">
            <a:avLst/>
          </a:prstGeom>
          <a:noFill/>
          <a:ln/>
        </p:spPr>
        <p:txBody>
          <a:bodyPr wrap="square" lIns="0" tIns="0" rIns="0" bIns="0" rtlCol="0" anchor="ctr"/>
          <a:lstStyle/>
          <a:p>
            <a:pPr rtl="1" algn="ctr" indent="0" marL="0">
              <a:buNone/>
            </a:pPr>
            <a:r>
              <a:rPr lang="en-US" sz="1100" dirty="0">
                <a:solidFill>
                  <a:srgbClr val="4B5B6E"/>
                </a:solidFill>
                <a:latin typeface="Tajawal" pitchFamily="34" charset="0"/>
                <a:ea typeface="Tajawal" pitchFamily="34" charset="-122"/>
                <a:cs typeface="Tajawal" pitchFamily="34" charset="-120"/>
              </a:rPr>
              <a:t>القشلة</a:t>
            </a:r>
            <a:endParaRPr lang="en-US" sz="1100" dirty="0"/>
          </a:p>
        </p:txBody>
      </p:sp>
      <p:pic>
        <p:nvPicPr>
          <p:cNvPr id="32" name="Image 4" descr="preencoded.png">    </p:cNvPr>
          <p:cNvPicPr>
            <a:picLocks noChangeAspect="1"/>
          </p:cNvPicPr>
          <p:nvPr/>
        </p:nvPicPr>
        <p:blipFill>
          <a:blip r:embed="rId5"/>
          <a:stretch>
            <a:fillRect/>
          </a:stretch>
        </p:blipFill>
        <p:spPr>
          <a:xfrm>
            <a:off x="3806647" y="5175504"/>
            <a:ext cx="1737360" cy="1158240"/>
          </a:xfrm>
          <a:prstGeom prst="rect">
            <a:avLst/>
          </a:prstGeom>
        </p:spPr>
      </p:pic>
      <p:sp>
        <p:nvSpPr>
          <p:cNvPr id="33" name="Text 26"/>
          <p:cNvSpPr/>
          <p:nvPr/>
        </p:nvSpPr>
        <p:spPr>
          <a:xfrm>
            <a:off x="3715207" y="6406896"/>
            <a:ext cx="1920240" cy="256032"/>
          </a:xfrm>
          <a:prstGeom prst="rect">
            <a:avLst/>
          </a:prstGeom>
          <a:noFill/>
          <a:ln/>
        </p:spPr>
        <p:txBody>
          <a:bodyPr wrap="square" lIns="0" tIns="0" rIns="0" bIns="0" rtlCol="0" anchor="ctr"/>
          <a:lstStyle/>
          <a:p>
            <a:pPr rtl="1" algn="ctr" indent="0" marL="0">
              <a:buNone/>
            </a:pPr>
            <a:r>
              <a:rPr lang="en-US" sz="1100" dirty="0">
                <a:solidFill>
                  <a:srgbClr val="4B5B6E"/>
                </a:solidFill>
                <a:latin typeface="Tajawal" pitchFamily="34" charset="0"/>
                <a:ea typeface="Tajawal" pitchFamily="34" charset="-122"/>
                <a:cs typeface="Tajawal" pitchFamily="34" charset="-120"/>
              </a:rPr>
              <a:t>قلعة أعيرف</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61223"/>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preencoded.png">    </p:cNvPr>
          <p:cNvPicPr>
            <a:picLocks noChangeAspect="1"/>
          </p:cNvPicPr>
          <p:nvPr/>
        </p:nvPicPr>
        <p:blipFill>
          <a:blip r:embed="rId2"/>
          <a:stretch>
            <a:fillRect/>
          </a:stretch>
        </p:blipFill>
        <p:spPr>
          <a:xfrm>
            <a:off x="457200" y="384048"/>
            <a:ext cx="1371600" cy="512064"/>
          </a:xfrm>
          <a:prstGeom prst="rect">
            <a:avLst/>
          </a:prstGeom>
        </p:spPr>
      </p:pic>
      <p:pic>
        <p:nvPicPr>
          <p:cNvPr id="4" name="Image 2" descr="preencoded.png">    </p:cNvPr>
          <p:cNvPicPr>
            <a:picLocks noChangeAspect="1"/>
          </p:cNvPicPr>
          <p:nvPr/>
        </p:nvPicPr>
        <p:blipFill>
          <a:blip r:embed="rId3"/>
          <a:stretch>
            <a:fillRect/>
          </a:stretch>
        </p:blipFill>
        <p:spPr>
          <a:xfrm>
            <a:off x="10591495" y="320040"/>
            <a:ext cx="1143000" cy="1124712"/>
          </a:xfrm>
          <a:prstGeom prst="rect">
            <a:avLst/>
          </a:prstGeom>
        </p:spPr>
      </p:pic>
      <p:sp>
        <p:nvSpPr>
          <p:cNvPr id="5" name="Text 0"/>
          <p:cNvSpPr/>
          <p:nvPr/>
        </p:nvSpPr>
        <p:spPr>
          <a:xfrm>
            <a:off x="4632808" y="2788920"/>
            <a:ext cx="2926080" cy="822960"/>
          </a:xfrm>
          <a:prstGeom prst="rect">
            <a:avLst/>
          </a:prstGeom>
          <a:noFill/>
          <a:ln/>
        </p:spPr>
        <p:txBody>
          <a:bodyPr wrap="square" lIns="0" tIns="0" rIns="0" bIns="0" rtlCol="0" anchor="ctr"/>
          <a:lstStyle/>
          <a:p>
            <a:pPr rtl="1" algn="ctr" indent="0" marL="0">
              <a:buNone/>
            </a:pPr>
            <a:r>
              <a:rPr lang="en-US" sz="3800" b="1" dirty="0">
                <a:solidFill>
                  <a:srgbClr val="FFFFFF"/>
                </a:solidFill>
                <a:latin typeface="Tajawal" pitchFamily="34" charset="0"/>
                <a:ea typeface="Tajawal" pitchFamily="34" charset="-122"/>
                <a:cs typeface="Tajawal" pitchFamily="34" charset="-120"/>
              </a:rPr>
              <a:t>شكرا لكم</a:t>
            </a:r>
            <a:endParaRPr lang="en-US" sz="3800" dirty="0"/>
          </a:p>
        </p:txBody>
      </p:sp>
      <p:sp>
        <p:nvSpPr>
          <p:cNvPr id="6" name="Shape 1"/>
          <p:cNvSpPr/>
          <p:nvPr/>
        </p:nvSpPr>
        <p:spPr>
          <a:xfrm>
            <a:off x="5227168" y="3767328"/>
            <a:ext cx="1737360" cy="91440"/>
          </a:xfrm>
          <a:prstGeom prst="rect">
            <a:avLst/>
          </a:prstGeom>
          <a:solidFill>
            <a:srgbClr val="8357F6"/>
          </a:solidFill>
          <a:ln w="12700">
            <a:solidFill>
              <a:srgbClr val="333333"/>
            </a:solidFill>
            <a:prstDash val="solid"/>
          </a:ln>
        </p:spPr>
      </p:sp>
      <p:sp>
        <p:nvSpPr>
          <p:cNvPr id="7" name="Text 2"/>
          <p:cNvSpPr/>
          <p:nvPr/>
        </p:nvSpPr>
        <p:spPr>
          <a:xfrm>
            <a:off x="0" y="4114800"/>
            <a:ext cx="12191695" cy="411480"/>
          </a:xfrm>
          <a:prstGeom prst="rect">
            <a:avLst/>
          </a:prstGeom>
          <a:noFill/>
          <a:ln/>
        </p:spPr>
        <p:txBody>
          <a:bodyPr wrap="square" lIns="0" tIns="0" rIns="0" bIns="0" rtlCol="0" anchor="ctr"/>
          <a:lstStyle/>
          <a:p>
            <a:pPr algn="ctr" indent="0" marL="0">
              <a:buNone/>
            </a:pPr>
            <a:r>
              <a:rPr lang="en-US" sz="1500" dirty="0">
                <a:solidFill>
                  <a:srgbClr val="A9B6C8"/>
                </a:solidFill>
                <a:latin typeface="Calibri" pitchFamily="34" charset="0"/>
                <a:ea typeface="Calibri" pitchFamily="34" charset="-122"/>
                <a:cs typeface="Calibri" pitchFamily="34" charset="-120"/>
              </a:rPr>
              <a:t>w-electro.github.io/athr</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أثر — تسليم هاكاثون AJA AI</dc:title>
  <dc:subject>PptxGenJS Presentation</dc:subject>
  <dc:creator>أثر</dc:creator>
  <cp:lastModifiedBy>أثر</cp:lastModifiedBy>
  <cp:revision>1</cp:revision>
  <dcterms:created xsi:type="dcterms:W3CDTF">2026-09-30T11:33:05Z</dcterms:created>
  <dcterms:modified xsi:type="dcterms:W3CDTF">2026-09-30T11:33:05Z</dcterms:modified>
</cp:coreProperties>
</file>