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jpeg"/><Relationship Id="rId4" Type="http://schemas.openxmlformats.org/officeDocument/2006/relationships/image" Target="../media/image-10-4.jpeg"/><Relationship Id="rId5" Type="http://schemas.openxmlformats.org/officeDocument/2006/relationships/image" Target="../media/image-10-5.jpeg"/><Relationship Id="rId6" Type="http://schemas.openxmlformats.org/officeDocument/2006/relationships/image" Target="../media/image-10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jpeg"/><Relationship Id="rId4" Type="http://schemas.openxmlformats.org/officeDocument/2006/relationships/image" Target="../media/image-14-4.jpeg"/><Relationship Id="rId5" Type="http://schemas.openxmlformats.org/officeDocument/2006/relationships/image" Target="../media/image-14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205576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هاكاثون</a:t>
            </a:r>
            <a:endParaRPr lang="en-US" sz="4000" dirty="0"/>
          </a:p>
        </p:txBody>
      </p:sp>
      <p:sp>
        <p:nvSpPr>
          <p:cNvPr id="6" name="Text 1"/>
          <p:cNvSpPr/>
          <p:nvPr/>
        </p:nvSpPr>
        <p:spPr>
          <a:xfrm>
            <a:off x="3883000" y="272491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 AI</a:t>
            </a:r>
            <a:endParaRPr lang="en-US" sz="4000" dirty="0"/>
          </a:p>
        </p:txBody>
      </p:sp>
      <p:sp>
        <p:nvSpPr>
          <p:cNvPr id="7" name="Shape 2"/>
          <p:cNvSpPr/>
          <p:nvPr/>
        </p:nvSpPr>
        <p:spPr>
          <a:xfrm>
            <a:off x="3883000" y="3895344"/>
            <a:ext cx="155448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5638648" y="3712464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فريق أثر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نبذة عنا</a:t>
            </a:r>
            <a:endParaRPr lang="en-US" sz="26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1489409" cy="31089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969" y="1371600"/>
            <a:ext cx="1489409" cy="31089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4579017" y="1463040"/>
            <a:ext cx="683543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 دليل تراثي ذكي لمنطقة حائل، يعمل دون اتصال بالإنترنت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يشمل مسارا كاملا لرحلة السائح، إضافة إلى ماسح ذكي يعمل بنموذج الذكاء الاصطناعي DINOv3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يوجه السائح كاميرا جواله إلى النقش الصخري، فيتعرف عليه الماسح بعينه، ويروي له قصته بصوت مسموع وبلغته</a:t>
            </a:r>
            <a:endParaRPr lang="en-US" sz="1500" dirty="0"/>
          </a:p>
        </p:txBody>
      </p:sp>
      <p:sp>
        <p:nvSpPr>
          <p:cNvPr id="7" name="Shape 2"/>
          <p:cNvSpPr/>
          <p:nvPr/>
        </p:nvSpPr>
        <p:spPr>
          <a:xfrm>
            <a:off x="9282280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9282280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2800" dirty="0"/>
          </a:p>
        </p:txBody>
      </p:sp>
      <p:sp>
        <p:nvSpPr>
          <p:cNvPr id="9" name="Text 4"/>
          <p:cNvSpPr/>
          <p:nvPr/>
        </p:nvSpPr>
        <p:spPr>
          <a:xfrm>
            <a:off x="9392008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لغة، ولكل لغة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رواية مسموعة</a:t>
            </a:r>
            <a:endParaRPr lang="en-US" sz="1100" dirty="0"/>
          </a:p>
        </p:txBody>
      </p:sp>
      <p:sp>
        <p:nvSpPr>
          <p:cNvPr id="10" name="Shape 5"/>
          <p:cNvSpPr/>
          <p:nvPr/>
        </p:nvSpPr>
        <p:spPr>
          <a:xfrm>
            <a:off x="6930649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930649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800" dirty="0"/>
          </a:p>
        </p:txBody>
      </p:sp>
      <p:sp>
        <p:nvSpPr>
          <p:cNvPr id="12" name="Text 7"/>
          <p:cNvSpPr/>
          <p:nvPr/>
        </p:nvSpPr>
        <p:spPr>
          <a:xfrm>
            <a:off x="7040377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نقوش موثقة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جبة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4579017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579017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15" name="Text 10"/>
          <p:cNvSpPr/>
          <p:nvPr/>
        </p:nvSpPr>
        <p:spPr>
          <a:xfrm>
            <a:off x="4688745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خوادم، وصفر تكلفة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سائح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21472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48904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وليد الشمري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48904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قائد الفريق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5156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فالح الغسلان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05156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مؤرخ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تميز الفكرة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 يقرأ النقش نفسه، لا لافتة عامة عند المدخل، فيسمي النقش الذي أمامك من بين مئات النقوش على الصخرة الواحدة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مستوى الابتكار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الرؤية يعمل كاملا داخل المتصفح بحجم 22 ميغابايت، ويتعلم من تصحيح السائح على جهازه فيصيب في المسح التالي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الاختلاف عن البدائل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بديل حد يقف عنده، فاللافتة عامة، والمرشد يحتاج إلى موعد، والتطبيق السحابي يتوقف حيث لا شبكة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842455" y="33101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البدائل الحالية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77240" y="33101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42455" y="3712464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61911" y="3794760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لافتة واحدة عند مدخل الموقع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77240" y="3712464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96696" y="3794760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يسمي النقش الذي أمامك بعينه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842455" y="4224528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61911" y="4306824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مرشد بحجز مسبق وبلغات محدودة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77240" y="4224528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96696" y="4306824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تسع وعشرون لغة، ولكل لغة صوت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42455" y="4736592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61911" y="4818888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سحابي يتوقف بلا تغطية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77240" y="4736592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96696" y="4818888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كاملا بلا إنترنت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842455" y="5248656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061911" y="5330952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بحث بالصور يعطي نتيجة عامة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77240" y="5248656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96696" y="5330952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مبني على 201 صورة من جبة نفسها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842455" y="5760720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061911" y="5843016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تصور الصخرة في ChatGPT فيقول: نقوش صخرية، وبإنترنت فقط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77240" y="5760720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96696" y="5843016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تصورها بماسح أثر فيقول: هذا نقش الأسد ومروضه، ويروي قصته بلا شبكة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082735" y="1234440"/>
            <a:ext cx="2331720" cy="429768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375" y="1481328"/>
            <a:ext cx="1234440" cy="92583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082735" y="245059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السائح يصور النقش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9082735" y="272491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9631375" y="2980944"/>
            <a:ext cx="12344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9631375" y="30449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0.417   0.902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9631375" y="324612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0.773   0.264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9082735" y="35478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 يلخص شكله في أرقام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9082735" y="382219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9576511" y="4096512"/>
            <a:ext cx="1344168" cy="1035558"/>
          </a:xfrm>
          <a:prstGeom prst="roundRect">
            <a:avLst>
              <a:gd name="adj" fmla="val 4415"/>
            </a:avLst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1375" y="4151376"/>
            <a:ext cx="1234440" cy="92583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082735" y="523036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يطابقها بنقوش جبة فيعرف اسمه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777240" y="1234440"/>
            <a:ext cx="798545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1014984" y="1380744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جوهرية الذكاء الاصطناعي في الحل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014984" y="1728216"/>
            <a:ext cx="750996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التعرف على النقش هو المنتج نفسه لا ميزة مضافة إليه، فلا منتج دون النموذج، ونموذج الرؤية DINOv3 من Meta مفتوح المصدر، تعلم أشكال الأشياء من ملايين الصور دون وسم بشري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2642616"/>
            <a:ext cx="7985455" cy="1572768"/>
          </a:xfrm>
          <a:prstGeom prst="roundRect">
            <a:avLst>
              <a:gd name="adj" fmla="val 465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14984" y="2788920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ملاءمة استخدامه للمشكلة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1014984" y="3136392"/>
            <a:ext cx="750996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 بصرية لا نصية، فأمام السائح صخرة لا نص، والموقع بلا تغطية، فاخترنا نموذجا يعمل داخل الجهاز لا على السحابة، وبنينا فوقه طبقة القرار: فهرس بصمات من الميدان، وسلم قص يعالج اختلاف الإطار، وحكم يقول لا أعرف بدل أن يخمن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777240" y="4398264"/>
            <a:ext cx="7985455" cy="1133856"/>
          </a:xfrm>
          <a:prstGeom prst="roundRect">
            <a:avLst>
              <a:gd name="adj" fmla="val 64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014984" y="4544568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الحقيقية المضافة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1014984" y="4892040"/>
            <a:ext cx="750996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يتعلم من تصحيح السائح على جهازه فيتحسن كلما استعمل، ونوظف الذكاء الاصطناعي مرة ثانية في توليد الرواية المسموعة بتسع وعشرين لغة بنماذج نطق مفتوحة المصدر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6233008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040" y="1453896"/>
            <a:ext cx="560349" cy="457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07328" y="1472184"/>
            <a:ext cx="3889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6507328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جبة مسجلة في قائمة التراث العالمي لليونسكو وفيها مئات النقوش، لكن السائح يقف أمام الصخرة فلا يعرف ما أمامه ولا كم عمره، ولا تغطية للشبكة في الموقع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77240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1453896"/>
            <a:ext cx="493986" cy="4572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1472184"/>
            <a:ext cx="395594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الفئة المستهدفة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1051560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جبة والشويمس من داخل المملكة وخارجها، والرحلات المدرسية والجامعية، وهيئة التراث ومركز الزوار، والمنشآت المحلية التي تريد الوصول إلى السائح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233008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9040" y="3493008"/>
            <a:ext cx="391187" cy="4572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07328" y="3511296"/>
            <a:ext cx="4058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الحاجة الفعلية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6507328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من كل مكان وبكل لغة، وموقع في الصحراء المفتوحة، فكل حل يعتمد على السحابة يتوقف هناك، وكل حل بلغة واحدة لا يخدم أكثر السياح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777240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" y="3493008"/>
            <a:ext cx="720896" cy="457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51560" y="3511296"/>
            <a:ext cx="372903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المقدمة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1051560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للسائح أن يفهم ما أمامه بلغته وبصوت مسموع، وللجهة المشغلة تجربة سائح أفضل دون أي تكلفة تشغيل ولا بنية تحتية تحتاج إلى إدارة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يعمل الآن على الويب، يفتح من الرابط بلا تنزيل:   w-electro.github.io/athr</a:t>
            </a:r>
            <a:endParaRPr lang="en-US" sz="13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7399" y="1536192"/>
            <a:ext cx="1117057" cy="23317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18767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اللغة</a:t>
            </a:r>
            <a:endParaRPr lang="en-US" sz="10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7359" y="1536192"/>
            <a:ext cx="1117057" cy="233172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80763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الاستكشاف</a:t>
            </a:r>
            <a:endParaRPr lang="en-US" sz="10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7319" y="1536192"/>
            <a:ext cx="1117057" cy="233172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42759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القصة والصوت</a:t>
            </a:r>
            <a:endParaRPr lang="en-US" sz="105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7280" y="1536192"/>
            <a:ext cx="1117057" cy="233172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304755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المسح</a:t>
            </a:r>
            <a:endParaRPr lang="en-US" sz="105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536192"/>
            <a:ext cx="1117057" cy="233172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66751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بناء الرحلة</a:t>
            </a:r>
            <a:endParaRPr lang="en-US" sz="1050" dirty="0"/>
          </a:p>
        </p:txBody>
      </p:sp>
      <p:sp>
        <p:nvSpPr>
          <p:cNvPr id="15" name="Shape 7"/>
          <p:cNvSpPr/>
          <p:nvPr/>
        </p:nvSpPr>
        <p:spPr>
          <a:xfrm>
            <a:off x="8933459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8933459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96.5%</a:t>
            </a:r>
            <a:endParaRPr lang="en-US" sz="2800" dirty="0"/>
          </a:p>
        </p:txBody>
      </p:sp>
      <p:sp>
        <p:nvSpPr>
          <p:cNvPr id="17" name="Text 9"/>
          <p:cNvSpPr/>
          <p:nvPr/>
        </p:nvSpPr>
        <p:spPr>
          <a:xfrm>
            <a:off x="9043187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تعرف صحيح على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 الموقع</a:t>
            </a:r>
            <a:endParaRPr lang="en-US" sz="1100" dirty="0"/>
          </a:p>
        </p:txBody>
      </p:sp>
      <p:sp>
        <p:nvSpPr>
          <p:cNvPr id="18" name="Shape 10"/>
          <p:cNvSpPr/>
          <p:nvPr/>
        </p:nvSpPr>
        <p:spPr>
          <a:xfrm>
            <a:off x="621472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1"/>
          <p:cNvSpPr/>
          <p:nvPr/>
        </p:nvSpPr>
        <p:spPr>
          <a:xfrm>
            <a:off x="621472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20" name="Text 12"/>
          <p:cNvSpPr/>
          <p:nvPr/>
        </p:nvSpPr>
        <p:spPr>
          <a:xfrm>
            <a:off x="632444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إجابة خاطئة على 175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صورة من خارج الفهرس</a:t>
            </a:r>
            <a:endParaRPr lang="en-US" sz="1100" dirty="0"/>
          </a:p>
        </p:txBody>
      </p:sp>
      <p:sp>
        <p:nvSpPr>
          <p:cNvPr id="21" name="Shape 13"/>
          <p:cNvSpPr/>
          <p:nvPr/>
        </p:nvSpPr>
        <p:spPr>
          <a:xfrm>
            <a:off x="349598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4"/>
          <p:cNvSpPr/>
          <p:nvPr/>
        </p:nvSpPr>
        <p:spPr>
          <a:xfrm>
            <a:off x="349598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663</a:t>
            </a:r>
            <a:endParaRPr lang="en-US" sz="2800" dirty="0"/>
          </a:p>
        </p:txBody>
      </p:sp>
      <p:sp>
        <p:nvSpPr>
          <p:cNvPr id="23" name="Text 15"/>
          <p:cNvSpPr/>
          <p:nvPr/>
        </p:nvSpPr>
        <p:spPr>
          <a:xfrm>
            <a:off x="360570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اختبارا آليا تعمل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 كل تعديل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7724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77724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</a:t>
            </a:r>
            <a:endParaRPr lang="en-US" sz="2800" dirty="0"/>
          </a:p>
        </p:txBody>
      </p:sp>
      <p:sp>
        <p:nvSpPr>
          <p:cNvPr id="26" name="Text 18"/>
          <p:cNvSpPr/>
          <p:nvPr/>
        </p:nvSpPr>
        <p:spPr>
          <a:xfrm>
            <a:off x="88696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مقطعا صوتيا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29 لغة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777240" y="5888736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قراءة النقوش الثمودية قيد التطوير، ولن نخترع ترجمة لا نملك أصلها الموثق، فنعرض الآن جدول الحروف الرسمي ليقارن السائح بنفسه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2697480"/>
          </a:xfrm>
          <a:prstGeom prst="roundRect">
            <a:avLst>
              <a:gd name="adj" fmla="val 271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العملاء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الجهة المشغلة: هيئة التراث ومركز الزوار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والمنشآت المحلية: مطاعم ومقاهي وفنادق حائل، والمحميات السياحية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وشركات السياحة وفنادق حائل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والسائح نفسه، والتطبيق مجاني له دائما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2697480"/>
          </a:xfrm>
          <a:prstGeom prst="roundRect">
            <a:avLst>
              <a:gd name="adj" fmla="val 271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مصادر الإيرادات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رسوم إدراج محددة للمطاعم والمقاهي والفنادق والمحميات السياحية في مسار رحلتي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وترخيص سنوي للجهة المشغلة عن كل موقع، ورسوم إعداد لكل موقع جديد، ونسخة بيضاء لمتاحف أخرى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2697480"/>
          </a:xfrm>
          <a:prstGeom prst="roundRect">
            <a:avLst>
              <a:gd name="adj" fmla="val 271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الاستدامة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يكلفنا السائح الإضافي شيئا، فلا خوادم ولا واجهات برمجية مدفوعة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والتكلفة كلها إعداد لمرة واحدة عن كل موقع: تصوير وفهرسة ومحتوى وترجمة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77240" y="4114800"/>
            <a:ext cx="10637215" cy="841248"/>
          </a:xfrm>
          <a:prstGeom prst="roundRect">
            <a:avLst>
              <a:gd name="adj" fmla="val 8696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88136" y="4334256"/>
            <a:ext cx="1001542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سائح واحد ومليون سائح كلهم سواء في الكلفة، لأن التعرف والصوت والمحتوى كلها داخل جهاز السائح لا على خادم نملكه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9585655" y="5138928"/>
            <a:ext cx="1828800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585655" y="528523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0$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695383" y="5870448"/>
            <a:ext cx="1609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تكلفة تشغيل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شهرية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649517" y="5138928"/>
            <a:ext cx="2698394" cy="1225296"/>
          </a:xfrm>
          <a:prstGeom prst="roundRect">
            <a:avLst>
              <a:gd name="adj" fmla="val 5970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868973" y="5248656"/>
            <a:ext cx="22594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خصم مقابل المسح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6868973" y="5559552"/>
            <a:ext cx="22594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يمسح السائح النقش فيحصل على رمز خصم، ويدفع المقهى أو المحمية رسما ثابتا عند استخدام الرمز فقط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713378" y="5138928"/>
            <a:ext cx="2698394" cy="1225296"/>
          </a:xfrm>
          <a:prstGeom prst="roundRect">
            <a:avLst>
              <a:gd name="adj" fmla="val 5970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932834" y="5248656"/>
            <a:ext cx="22594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عمولة الحجوزات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3932834" y="5559552"/>
            <a:ext cx="22594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يحجز السائح من مسار رحلتي جولة مرشدة أو تخييما في محمية أو رحلة برية، ونأخذ نسبة من كل حجز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777240" y="5138928"/>
            <a:ext cx="2698394" cy="1225296"/>
          </a:xfrm>
          <a:prstGeom prst="roundRect">
            <a:avLst>
              <a:gd name="adj" fmla="val 5970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96696" y="5248656"/>
            <a:ext cx="22594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ترخيص لشركات السياحة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996696" y="5559552"/>
            <a:ext cx="22594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تشترك شركات السياحة وفنادق حائل شهريا، فتحصل مجموعاتها على رواية بلغاتها دون مرشد لكل لغة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933459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34627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171203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تصوير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171203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زيارة ميدانية واحدة للموقع الجديد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1472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1588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5246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فهرسة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5246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تحويل الصور إلى بصمات — دقائق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49598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69714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73372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محتوى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73372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كتابة القصص وترجمتها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7724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7840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1498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01498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توليد الرواية بتسع وعشرين لغة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233008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7328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إعادة تدريب ولا بنية تحتية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507328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 ندرب النموذج على جبة، فهو يتعلم أي موقع بالطريقة نفسها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وإضافة موقع جديد لا تغير البرمجة، بل تحتاج إلى صوره فقط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والفهرس يتوسع بلا حد، فكل تصحيح من سائح يزيد دقته لمن بعده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77240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51560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إلى أين يتوسع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051560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بقية مواقع حائل: الشويمس، وجبال أجا، والقشلة، وقلعة أعيرف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الجنوب حيث النقوش بالآلاف: أبها، وعسير، ونجران، وجازان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وكل مدينة غنية بالنقوش: العلا، وتيماء، وتبوك، والجوف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نسخة بيضاء لأي متحف أو موقع تراثي</a:t>
            </a:r>
            <a:endParaRPr lang="en-US" sz="125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7095" y="5175504"/>
            <a:ext cx="1737360" cy="11582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9585655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الشويمس</a:t>
            </a:r>
            <a:endParaRPr lang="en-US" sz="110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0279" y="5175504"/>
            <a:ext cx="1737360" cy="115824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628839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جبال أجا</a:t>
            </a:r>
            <a:endParaRPr lang="en-US" sz="110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3463" y="5175504"/>
            <a:ext cx="1737360" cy="11582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672023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القشلة</a:t>
            </a:r>
            <a:endParaRPr lang="en-US" sz="11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6647" y="5175504"/>
            <a:ext cx="1737360" cy="115824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3715207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قلعة أعيرف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4632808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شكرا لكم</a:t>
            </a:r>
            <a:endParaRPr lang="en-US" sz="3800" dirty="0"/>
          </a:p>
        </p:txBody>
      </p:sp>
      <p:sp>
        <p:nvSpPr>
          <p:cNvPr id="6" name="Shape 1"/>
          <p:cNvSpPr/>
          <p:nvPr/>
        </p:nvSpPr>
        <p:spPr>
          <a:xfrm>
            <a:off x="5227168" y="3767328"/>
            <a:ext cx="173736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 — تسليم هاكاثون AJA AI</dc:title>
  <dc:subject>PptxGenJS Presentation</dc:subject>
  <dc:creator>أثر</dc:creator>
  <cp:lastModifiedBy>أثر</cp:lastModifiedBy>
  <cp:revision>1</cp:revision>
  <dcterms:created xsi:type="dcterms:W3CDTF">2026-09-30T06:44:16Z</dcterms:created>
  <dcterms:modified xsi:type="dcterms:W3CDTF">2026-09-30T06:44:16Z</dcterms:modified>
</cp:coreProperties>
</file>