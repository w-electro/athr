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image" Target="../media/image-2-2.jpeg"/><Relationship Id="rId3" Type="http://schemas.openxmlformats.org/officeDocument/2006/relationships/image" Target="../media/image-2-3.jpe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eg"/><Relationship Id="rId2" Type="http://schemas.openxmlformats.org/officeDocument/2006/relationships/image" Target="../media/image-6-2.jpeg"/><Relationship Id="rId3" Type="http://schemas.openxmlformats.org/officeDocument/2006/relationships/image" Target="../media/image-6-3.jpe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image" Target="../media/image-10-2.jpeg"/><Relationship Id="rId3" Type="http://schemas.openxmlformats.org/officeDocument/2006/relationships/image" Target="../media/image-10-3.jpeg"/><Relationship Id="rId4" Type="http://schemas.openxmlformats.org/officeDocument/2006/relationships/image" Target="../media/image-10-4.jpeg"/><Relationship Id="rId5" Type="http://schemas.openxmlformats.org/officeDocument/2006/relationships/image" Target="../media/image-10-5.jpeg"/><Relationship Id="rId6" Type="http://schemas.openxmlformats.org/officeDocument/2006/relationships/image" Target="../media/image-10-6.jpe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e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eg"/><Relationship Id="rId2" Type="http://schemas.openxmlformats.org/officeDocument/2006/relationships/image" Target="../media/image-14-2.jpeg"/><Relationship Id="rId3" Type="http://schemas.openxmlformats.org/officeDocument/2006/relationships/image" Target="../media/image-14-3.jpeg"/><Relationship Id="rId4" Type="http://schemas.openxmlformats.org/officeDocument/2006/relationships/image" Target="../media/image-14-4.jpeg"/><Relationship Id="rId5" Type="http://schemas.openxmlformats.org/officeDocument/2006/relationships/image" Target="../media/image-14-5.jpe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61223"/>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preencoded.png">    </p:cNvPr>
          <p:cNvPicPr>
            <a:picLocks noChangeAspect="1"/>
          </p:cNvPicPr>
          <p:nvPr/>
        </p:nvPicPr>
        <p:blipFill>
          <a:blip r:embed="rId2"/>
          <a:stretch>
            <a:fillRect/>
          </a:stretch>
        </p:blipFill>
        <p:spPr>
          <a:xfrm>
            <a:off x="457200" y="384048"/>
            <a:ext cx="1371600" cy="512064"/>
          </a:xfrm>
          <a:prstGeom prst="rect">
            <a:avLst/>
          </a:prstGeom>
        </p:spPr>
      </p:pic>
      <p:pic>
        <p:nvPicPr>
          <p:cNvPr id="4" name="Image 2" descr="preencoded.png">    </p:cNvPr>
          <p:cNvPicPr>
            <a:picLocks noChangeAspect="1"/>
          </p:cNvPicPr>
          <p:nvPr/>
        </p:nvPicPr>
        <p:blipFill>
          <a:blip r:embed="rId3"/>
          <a:stretch>
            <a:fillRect/>
          </a:stretch>
        </p:blipFill>
        <p:spPr>
          <a:xfrm>
            <a:off x="10591495" y="320040"/>
            <a:ext cx="1143000" cy="1124712"/>
          </a:xfrm>
          <a:prstGeom prst="rect">
            <a:avLst/>
          </a:prstGeom>
        </p:spPr>
      </p:pic>
      <p:sp>
        <p:nvSpPr>
          <p:cNvPr id="5" name="Text 0"/>
          <p:cNvSpPr/>
          <p:nvPr/>
        </p:nvSpPr>
        <p:spPr>
          <a:xfrm>
            <a:off x="6205576" y="2697480"/>
            <a:ext cx="2103120" cy="822960"/>
          </a:xfrm>
          <a:prstGeom prst="rect">
            <a:avLst/>
          </a:prstGeom>
          <a:noFill/>
          <a:ln/>
        </p:spPr>
        <p:txBody>
          <a:bodyPr wrap="square" lIns="0" tIns="0" rIns="0" bIns="0" rtlCol="0" anchor="ctr"/>
          <a:lstStyle/>
          <a:p>
            <a:pPr rtl="1" algn="r" indent="0" marL="0">
              <a:buNone/>
            </a:pPr>
            <a:r>
              <a:rPr lang="en-US" sz="4000" b="1" dirty="0">
                <a:solidFill>
                  <a:srgbClr val="FFFFFF"/>
                </a:solidFill>
                <a:latin typeface="Tajawal" pitchFamily="34" charset="0"/>
                <a:ea typeface="Tajawal" pitchFamily="34" charset="-122"/>
                <a:cs typeface="Tajawal" pitchFamily="34" charset="-120"/>
              </a:rPr>
              <a:t>هاكاثون</a:t>
            </a:r>
            <a:endParaRPr lang="en-US" sz="4000" dirty="0"/>
          </a:p>
        </p:txBody>
      </p:sp>
      <p:sp>
        <p:nvSpPr>
          <p:cNvPr id="6" name="Text 1"/>
          <p:cNvSpPr/>
          <p:nvPr/>
        </p:nvSpPr>
        <p:spPr>
          <a:xfrm>
            <a:off x="3883000" y="2724912"/>
            <a:ext cx="2103120" cy="777240"/>
          </a:xfrm>
          <a:prstGeom prst="rect">
            <a:avLst/>
          </a:prstGeom>
          <a:noFill/>
          <a:ln/>
        </p:spPr>
        <p:txBody>
          <a:bodyPr wrap="square" lIns="0" tIns="0" rIns="0" bIns="0" rtlCol="0" anchor="ctr"/>
          <a:lstStyle/>
          <a:p>
            <a:pPr algn="l" indent="0" marL="0">
              <a:buNone/>
            </a:pPr>
            <a:r>
              <a:rPr lang="en-US" sz="4000" b="1" spc="600" kern="0" dirty="0">
                <a:solidFill>
                  <a:srgbClr val="FFFFFF"/>
                </a:solidFill>
                <a:latin typeface="Calibri" pitchFamily="34" charset="0"/>
                <a:ea typeface="Calibri" pitchFamily="34" charset="-122"/>
                <a:cs typeface="Calibri" pitchFamily="34" charset="-120"/>
              </a:rPr>
              <a:t>AJA AI</a:t>
            </a:r>
            <a:endParaRPr lang="en-US" sz="4000" dirty="0"/>
          </a:p>
        </p:txBody>
      </p:sp>
      <p:sp>
        <p:nvSpPr>
          <p:cNvPr id="7" name="Shape 2"/>
          <p:cNvSpPr/>
          <p:nvPr/>
        </p:nvSpPr>
        <p:spPr>
          <a:xfrm>
            <a:off x="3883000" y="3895344"/>
            <a:ext cx="1554480" cy="91440"/>
          </a:xfrm>
          <a:prstGeom prst="rect">
            <a:avLst/>
          </a:prstGeom>
          <a:solidFill>
            <a:srgbClr val="8357F6"/>
          </a:solidFill>
          <a:ln w="12700">
            <a:solidFill>
              <a:srgbClr val="333333"/>
            </a:solidFill>
            <a:prstDash val="solid"/>
          </a:ln>
        </p:spPr>
      </p:sp>
      <p:sp>
        <p:nvSpPr>
          <p:cNvPr id="8" name="Text 3"/>
          <p:cNvSpPr/>
          <p:nvPr/>
        </p:nvSpPr>
        <p:spPr>
          <a:xfrm>
            <a:off x="5638648" y="3712464"/>
            <a:ext cx="2670048" cy="457200"/>
          </a:xfrm>
          <a:prstGeom prst="rect">
            <a:avLst/>
          </a:prstGeom>
          <a:noFill/>
          <a:ln/>
        </p:spPr>
        <p:txBody>
          <a:bodyPr wrap="square" lIns="0" tIns="0" rIns="0" bIns="0" rtlCol="0" anchor="ctr"/>
          <a:lstStyle/>
          <a:p>
            <a:pPr rtl="1" algn="r" indent="0" marL="0">
              <a:buNone/>
            </a:pPr>
            <a:r>
              <a:rPr lang="en-US" sz="2100" dirty="0">
                <a:solidFill>
                  <a:srgbClr val="FFFFFF"/>
                </a:solidFill>
                <a:latin typeface="Tajawal" pitchFamily="34" charset="0"/>
                <a:ea typeface="Tajawal" pitchFamily="34" charset="-122"/>
                <a:cs typeface="Tajawal" pitchFamily="34" charset="-120"/>
              </a:rPr>
              <a:t>فريق أثر</a:t>
            </a:r>
            <a:endParaRPr lang="en-US" sz="2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نبذة عنا</a:t>
            </a:r>
            <a:endParaRPr lang="en-US" sz="2600" dirty="0"/>
          </a:p>
        </p:txBody>
      </p:sp>
      <p:pic>
        <p:nvPicPr>
          <p:cNvPr id="4" name="Image 1" descr="preencoded.png">    </p:cNvPr>
          <p:cNvPicPr>
            <a:picLocks noChangeAspect="1"/>
          </p:cNvPicPr>
          <p:nvPr/>
        </p:nvPicPr>
        <p:blipFill>
          <a:blip r:embed="rId2"/>
          <a:stretch>
            <a:fillRect/>
          </a:stretch>
        </p:blipFill>
        <p:spPr>
          <a:xfrm>
            <a:off x="777240" y="1371600"/>
            <a:ext cx="1489409" cy="3108960"/>
          </a:xfrm>
          <a:prstGeom prst="rect">
            <a:avLst/>
          </a:prstGeom>
        </p:spPr>
      </p:pic>
      <p:pic>
        <p:nvPicPr>
          <p:cNvPr id="5" name="Image 2" descr="preencoded.png">    </p:cNvPr>
          <p:cNvPicPr>
            <a:picLocks noChangeAspect="1"/>
          </p:cNvPicPr>
          <p:nvPr/>
        </p:nvPicPr>
        <p:blipFill>
          <a:blip r:embed="rId3"/>
          <a:stretch>
            <a:fillRect/>
          </a:stretch>
        </p:blipFill>
        <p:spPr>
          <a:xfrm>
            <a:off x="2540969" y="1371600"/>
            <a:ext cx="1489409" cy="3108960"/>
          </a:xfrm>
          <a:prstGeom prst="rect">
            <a:avLst/>
          </a:prstGeom>
        </p:spPr>
      </p:pic>
      <p:sp>
        <p:nvSpPr>
          <p:cNvPr id="6" name="Text 1"/>
          <p:cNvSpPr/>
          <p:nvPr/>
        </p:nvSpPr>
        <p:spPr>
          <a:xfrm>
            <a:off x="4579017" y="1463040"/>
            <a:ext cx="6835438" cy="2286000"/>
          </a:xfrm>
          <a:prstGeom prst="rect">
            <a:avLst/>
          </a:prstGeom>
          <a:noFill/>
          <a:ln/>
        </p:spPr>
        <p:txBody>
          <a:bodyPr wrap="square" lIns="0" tIns="0" rIns="0" bIns="0" rtlCol="0" anchor="ctr"/>
          <a:lstStyle/>
          <a:p>
            <a:pPr rtl="1" algn="r" indent="0" marL="0">
              <a:lnSpc>
                <a:spcPts val="2700"/>
              </a:lnSpc>
              <a:spcAft>
                <a:spcPts val="1600"/>
              </a:spcAft>
              <a:buNone/>
            </a:pPr>
            <a:r>
              <a:rPr lang="en-US" sz="1500" dirty="0">
                <a:solidFill>
                  <a:srgbClr val="4B5B6E"/>
                </a:solidFill>
                <a:latin typeface="Tajawal" pitchFamily="34" charset="0"/>
                <a:ea typeface="Tajawal" pitchFamily="34" charset="-122"/>
                <a:cs typeface="Tajawal" pitchFamily="34" charset="-120"/>
              </a:rPr>
              <a:t>أثر دليل تراثي ذكي لمنطقة حائل، يعمل بدون إنترنت.</a:t>
            </a:r>
            <a:endParaRPr lang="en-US" sz="1500" dirty="0"/>
          </a:p>
          <a:p>
            <a:pPr rtl="1" algn="r" indent="0" marL="0">
              <a:lnSpc>
                <a:spcPts val="2700"/>
              </a:lnSpc>
              <a:spcAft>
                <a:spcPts val="1600"/>
              </a:spcAft>
              <a:buNone/>
            </a:pPr>
            <a:r>
              <a:rPr lang="en-US" sz="1500" dirty="0">
                <a:solidFill>
                  <a:srgbClr val="4B5B6E"/>
                </a:solidFill>
                <a:latin typeface="Tajawal" pitchFamily="34" charset="0"/>
                <a:ea typeface="Tajawal" pitchFamily="34" charset="-122"/>
                <a:cs typeface="Tajawal" pitchFamily="34" charset="-120"/>
              </a:rPr>
              <a:t>يشمل مسارا كاملا لرحلة السائح، إضافة إلى الماسح الذكي المبني على نموذج الذكاء الاصطناعي DINOv3.</a:t>
            </a:r>
            <a:endParaRPr lang="en-US" sz="1500" dirty="0"/>
          </a:p>
          <a:p>
            <a:pPr rtl="1" algn="r" indent="0" marL="0">
              <a:lnSpc>
                <a:spcPts val="2700"/>
              </a:lnSpc>
              <a:spcAft>
                <a:spcPts val="1600"/>
              </a:spcAft>
              <a:buNone/>
            </a:pPr>
            <a:r>
              <a:rPr lang="en-US" sz="1500" dirty="0">
                <a:solidFill>
                  <a:srgbClr val="4B5B6E"/>
                </a:solidFill>
                <a:latin typeface="Tajawal" pitchFamily="34" charset="0"/>
                <a:ea typeface="Tajawal" pitchFamily="34" charset="-122"/>
                <a:cs typeface="Tajawal" pitchFamily="34" charset="-120"/>
              </a:rPr>
              <a:t>يوجه السائح كاميرا جواله على النقش الصخري، فيتعرف الماسح على النقش بعينه، ويروي قصته مسموعة بلغته.</a:t>
            </a:r>
            <a:endParaRPr lang="en-US" sz="1500" dirty="0"/>
          </a:p>
        </p:txBody>
      </p:sp>
      <p:sp>
        <p:nvSpPr>
          <p:cNvPr id="7" name="Shape 2"/>
          <p:cNvSpPr/>
          <p:nvPr/>
        </p:nvSpPr>
        <p:spPr>
          <a:xfrm>
            <a:off x="9282280" y="3950208"/>
            <a:ext cx="2132175" cy="1225296"/>
          </a:xfrm>
          <a:prstGeom prst="roundRect">
            <a:avLst>
              <a:gd name="adj" fmla="val 5970"/>
            </a:avLst>
          </a:prstGeom>
          <a:solidFill>
            <a:srgbClr val="EEF3F9"/>
          </a:solidFill>
          <a:ln w="9525">
            <a:solidFill>
              <a:srgbClr val="D9E2EC"/>
            </a:solidFill>
            <a:prstDash val="solid"/>
          </a:ln>
        </p:spPr>
      </p:sp>
      <p:sp>
        <p:nvSpPr>
          <p:cNvPr id="8" name="Text 3"/>
          <p:cNvSpPr/>
          <p:nvPr/>
        </p:nvSpPr>
        <p:spPr>
          <a:xfrm>
            <a:off x="9282280" y="4096512"/>
            <a:ext cx="2132175" cy="548640"/>
          </a:xfrm>
          <a:prstGeom prst="rect">
            <a:avLst/>
          </a:prstGeom>
          <a:noFill/>
          <a:ln/>
        </p:spPr>
        <p:txBody>
          <a:bodyPr wrap="square" lIns="0" tIns="0" rIns="0" bIns="0" rtlCol="0" anchor="ctr"/>
          <a:lstStyle/>
          <a:p>
            <a:pPr algn="ctr" indent="0" marL="0">
              <a:buNone/>
            </a:pPr>
            <a:r>
              <a:rPr lang="en-US" sz="2800" b="1" dirty="0">
                <a:solidFill>
                  <a:srgbClr val="255174"/>
                </a:solidFill>
                <a:latin typeface="Calibri" pitchFamily="34" charset="0"/>
                <a:ea typeface="Calibri" pitchFamily="34" charset="-122"/>
                <a:cs typeface="Calibri" pitchFamily="34" charset="-120"/>
              </a:rPr>
              <a:t>29</a:t>
            </a:r>
            <a:endParaRPr lang="en-US" sz="2800" dirty="0"/>
          </a:p>
        </p:txBody>
      </p:sp>
      <p:sp>
        <p:nvSpPr>
          <p:cNvPr id="9" name="Text 4"/>
          <p:cNvSpPr/>
          <p:nvPr/>
        </p:nvSpPr>
        <p:spPr>
          <a:xfrm>
            <a:off x="9392008" y="4681728"/>
            <a:ext cx="1912719"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لغة، ولكل لغة</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رواية مسموعة</a:t>
            </a:r>
            <a:endParaRPr lang="en-US" sz="1100" dirty="0"/>
          </a:p>
        </p:txBody>
      </p:sp>
      <p:sp>
        <p:nvSpPr>
          <p:cNvPr id="10" name="Shape 5"/>
          <p:cNvSpPr/>
          <p:nvPr/>
        </p:nvSpPr>
        <p:spPr>
          <a:xfrm>
            <a:off x="6930649" y="3950208"/>
            <a:ext cx="2132175" cy="1225296"/>
          </a:xfrm>
          <a:prstGeom prst="roundRect">
            <a:avLst>
              <a:gd name="adj" fmla="val 5970"/>
            </a:avLst>
          </a:prstGeom>
          <a:solidFill>
            <a:srgbClr val="EEF3F9"/>
          </a:solidFill>
          <a:ln w="9525">
            <a:solidFill>
              <a:srgbClr val="D9E2EC"/>
            </a:solidFill>
            <a:prstDash val="solid"/>
          </a:ln>
        </p:spPr>
      </p:sp>
      <p:sp>
        <p:nvSpPr>
          <p:cNvPr id="11" name="Text 6"/>
          <p:cNvSpPr/>
          <p:nvPr/>
        </p:nvSpPr>
        <p:spPr>
          <a:xfrm>
            <a:off x="6930649" y="4096512"/>
            <a:ext cx="2132175" cy="548640"/>
          </a:xfrm>
          <a:prstGeom prst="rect">
            <a:avLst/>
          </a:prstGeom>
          <a:noFill/>
          <a:ln/>
        </p:spPr>
        <p:txBody>
          <a:bodyPr wrap="square" lIns="0" tIns="0" rIns="0" bIns="0" rtlCol="0" anchor="ctr"/>
          <a:lstStyle/>
          <a:p>
            <a:pPr algn="ctr" indent="0" marL="0">
              <a:buNone/>
            </a:pPr>
            <a:r>
              <a:rPr lang="en-US" sz="2800" b="1" dirty="0">
                <a:solidFill>
                  <a:srgbClr val="255174"/>
                </a:solidFill>
                <a:latin typeface="Calibri" pitchFamily="34" charset="0"/>
                <a:ea typeface="Calibri" pitchFamily="34" charset="-122"/>
                <a:cs typeface="Calibri" pitchFamily="34" charset="-120"/>
              </a:rPr>
              <a:t>10</a:t>
            </a:r>
            <a:endParaRPr lang="en-US" sz="2800" dirty="0"/>
          </a:p>
        </p:txBody>
      </p:sp>
      <p:sp>
        <p:nvSpPr>
          <p:cNvPr id="12" name="Text 7"/>
          <p:cNvSpPr/>
          <p:nvPr/>
        </p:nvSpPr>
        <p:spPr>
          <a:xfrm>
            <a:off x="7040377" y="4681728"/>
            <a:ext cx="1912719"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نقوش موثقة</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في جبة</a:t>
            </a:r>
            <a:endParaRPr lang="en-US" sz="1100" dirty="0"/>
          </a:p>
        </p:txBody>
      </p:sp>
      <p:sp>
        <p:nvSpPr>
          <p:cNvPr id="13" name="Shape 8"/>
          <p:cNvSpPr/>
          <p:nvPr/>
        </p:nvSpPr>
        <p:spPr>
          <a:xfrm>
            <a:off x="4579017" y="3950208"/>
            <a:ext cx="2132175" cy="1225296"/>
          </a:xfrm>
          <a:prstGeom prst="roundRect">
            <a:avLst>
              <a:gd name="adj" fmla="val 5970"/>
            </a:avLst>
          </a:prstGeom>
          <a:solidFill>
            <a:srgbClr val="EEF3F9"/>
          </a:solidFill>
          <a:ln w="9525">
            <a:solidFill>
              <a:srgbClr val="D9E2EC"/>
            </a:solidFill>
            <a:prstDash val="solid"/>
          </a:ln>
        </p:spPr>
      </p:sp>
      <p:sp>
        <p:nvSpPr>
          <p:cNvPr id="14" name="Text 9"/>
          <p:cNvSpPr/>
          <p:nvPr/>
        </p:nvSpPr>
        <p:spPr>
          <a:xfrm>
            <a:off x="4579017" y="4096512"/>
            <a:ext cx="2132175" cy="548640"/>
          </a:xfrm>
          <a:prstGeom prst="rect">
            <a:avLst/>
          </a:prstGeom>
          <a:noFill/>
          <a:ln/>
        </p:spPr>
        <p:txBody>
          <a:bodyPr wrap="square" lIns="0" tIns="0" rIns="0" bIns="0" rtlCol="0" anchor="ctr"/>
          <a:lstStyle/>
          <a:p>
            <a:pPr algn="ctr" indent="0" marL="0">
              <a:buNone/>
            </a:pPr>
            <a:r>
              <a:rPr lang="en-US" sz="2800" b="1" dirty="0">
                <a:solidFill>
                  <a:srgbClr val="8357F6"/>
                </a:solidFill>
                <a:latin typeface="Calibri" pitchFamily="34" charset="0"/>
                <a:ea typeface="Calibri" pitchFamily="34" charset="-122"/>
                <a:cs typeface="Calibri" pitchFamily="34" charset="-120"/>
              </a:rPr>
              <a:t>0</a:t>
            </a:r>
            <a:endParaRPr lang="en-US" sz="2800" dirty="0"/>
          </a:p>
        </p:txBody>
      </p:sp>
      <p:sp>
        <p:nvSpPr>
          <p:cNvPr id="15" name="Text 10"/>
          <p:cNvSpPr/>
          <p:nvPr/>
        </p:nvSpPr>
        <p:spPr>
          <a:xfrm>
            <a:off x="4688745" y="4681728"/>
            <a:ext cx="1912719"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خوادم، وصفر تكلفة</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لكل سائح</a:t>
            </a:r>
            <a:endParaRPr lang="en-US" sz="1100" dirty="0"/>
          </a:p>
        </p:txBody>
      </p:sp>
      <p:sp>
        <p:nvSpPr>
          <p:cNvPr id="16" name="Shape 11"/>
          <p:cNvSpPr/>
          <p:nvPr/>
        </p:nvSpPr>
        <p:spPr>
          <a:xfrm>
            <a:off x="6214720" y="5413248"/>
            <a:ext cx="5199736" cy="841248"/>
          </a:xfrm>
          <a:prstGeom prst="roundRect">
            <a:avLst>
              <a:gd name="adj" fmla="val 8696"/>
            </a:avLst>
          </a:prstGeom>
          <a:solidFill>
            <a:srgbClr val="EEF3F9"/>
          </a:solidFill>
          <a:ln w="9525">
            <a:solidFill>
              <a:srgbClr val="D9E2EC"/>
            </a:solidFill>
            <a:prstDash val="solid"/>
          </a:ln>
        </p:spPr>
      </p:sp>
      <p:sp>
        <p:nvSpPr>
          <p:cNvPr id="17" name="Text 12"/>
          <p:cNvSpPr/>
          <p:nvPr/>
        </p:nvSpPr>
        <p:spPr>
          <a:xfrm>
            <a:off x="6489040" y="5541264"/>
            <a:ext cx="4651096" cy="329184"/>
          </a:xfrm>
          <a:prstGeom prst="rect">
            <a:avLst/>
          </a:prstGeom>
          <a:noFill/>
          <a:ln/>
        </p:spPr>
        <p:txBody>
          <a:bodyPr wrap="square" lIns="0" tIns="0" rIns="0" bIns="0" rtlCol="0" anchor="ctr"/>
          <a:lstStyle/>
          <a:p>
            <a:pPr rtl="1" algn="r" indent="0" marL="0">
              <a:buNone/>
            </a:pPr>
            <a:r>
              <a:rPr lang="en-US" sz="1600" b="1" dirty="0">
                <a:solidFill>
                  <a:srgbClr val="255174"/>
                </a:solidFill>
                <a:latin typeface="Tajawal" pitchFamily="34" charset="0"/>
                <a:ea typeface="Tajawal" pitchFamily="34" charset="-122"/>
                <a:cs typeface="Tajawal" pitchFamily="34" charset="-120"/>
              </a:rPr>
              <a:t>وليد الشمري</a:t>
            </a:r>
            <a:endParaRPr lang="en-US" sz="1600" dirty="0"/>
          </a:p>
        </p:txBody>
      </p:sp>
      <p:sp>
        <p:nvSpPr>
          <p:cNvPr id="18" name="Text 13"/>
          <p:cNvSpPr/>
          <p:nvPr/>
        </p:nvSpPr>
        <p:spPr>
          <a:xfrm>
            <a:off x="6489040" y="5888736"/>
            <a:ext cx="4651096" cy="274320"/>
          </a:xfrm>
          <a:prstGeom prst="rect">
            <a:avLst/>
          </a:prstGeom>
          <a:noFill/>
          <a:ln/>
        </p:spPr>
        <p:txBody>
          <a:bodyPr wrap="square" lIns="0" tIns="0" rIns="0" bIns="0" rtlCol="0" anchor="ctr"/>
          <a:lstStyle/>
          <a:p>
            <a:pPr rtl="1" algn="r" indent="0" marL="0">
              <a:buNone/>
            </a:pPr>
            <a:r>
              <a:rPr lang="en-US" sz="1250" dirty="0">
                <a:solidFill>
                  <a:srgbClr val="4B5B6E"/>
                </a:solidFill>
                <a:latin typeface="Tajawal" pitchFamily="34" charset="0"/>
                <a:ea typeface="Tajawal" pitchFamily="34" charset="-122"/>
                <a:cs typeface="Tajawal" pitchFamily="34" charset="-120"/>
              </a:rPr>
              <a:t>قائد الفريق</a:t>
            </a:r>
            <a:endParaRPr lang="en-US" sz="1250" dirty="0"/>
          </a:p>
        </p:txBody>
      </p:sp>
      <p:sp>
        <p:nvSpPr>
          <p:cNvPr id="19" name="Shape 14"/>
          <p:cNvSpPr/>
          <p:nvPr/>
        </p:nvSpPr>
        <p:spPr>
          <a:xfrm>
            <a:off x="777240" y="5413248"/>
            <a:ext cx="5199736" cy="841248"/>
          </a:xfrm>
          <a:prstGeom prst="roundRect">
            <a:avLst>
              <a:gd name="adj" fmla="val 8696"/>
            </a:avLst>
          </a:prstGeom>
          <a:solidFill>
            <a:srgbClr val="EEF3F9"/>
          </a:solidFill>
          <a:ln w="9525">
            <a:solidFill>
              <a:srgbClr val="D9E2EC"/>
            </a:solidFill>
            <a:prstDash val="solid"/>
          </a:ln>
        </p:spPr>
      </p:sp>
      <p:sp>
        <p:nvSpPr>
          <p:cNvPr id="20" name="Text 15"/>
          <p:cNvSpPr/>
          <p:nvPr/>
        </p:nvSpPr>
        <p:spPr>
          <a:xfrm>
            <a:off x="1051560" y="5541264"/>
            <a:ext cx="4651096" cy="329184"/>
          </a:xfrm>
          <a:prstGeom prst="rect">
            <a:avLst/>
          </a:prstGeom>
          <a:noFill/>
          <a:ln/>
        </p:spPr>
        <p:txBody>
          <a:bodyPr wrap="square" lIns="0" tIns="0" rIns="0" bIns="0" rtlCol="0" anchor="ctr"/>
          <a:lstStyle/>
          <a:p>
            <a:pPr rtl="1" algn="r" indent="0" marL="0">
              <a:buNone/>
            </a:pPr>
            <a:r>
              <a:rPr lang="en-US" sz="1600" b="1" dirty="0">
                <a:solidFill>
                  <a:srgbClr val="255174"/>
                </a:solidFill>
                <a:latin typeface="Tajawal" pitchFamily="34" charset="0"/>
                <a:ea typeface="Tajawal" pitchFamily="34" charset="-122"/>
                <a:cs typeface="Tajawal" pitchFamily="34" charset="-120"/>
              </a:rPr>
              <a:t>فالح الغسلان</a:t>
            </a:r>
            <a:endParaRPr lang="en-US" sz="1600" dirty="0"/>
          </a:p>
        </p:txBody>
      </p:sp>
      <p:sp>
        <p:nvSpPr>
          <p:cNvPr id="21" name="Text 16"/>
          <p:cNvSpPr/>
          <p:nvPr/>
        </p:nvSpPr>
        <p:spPr>
          <a:xfrm>
            <a:off x="1051560" y="5888736"/>
            <a:ext cx="4651096" cy="274320"/>
          </a:xfrm>
          <a:prstGeom prst="rect">
            <a:avLst/>
          </a:prstGeom>
          <a:noFill/>
          <a:ln/>
        </p:spPr>
        <p:txBody>
          <a:bodyPr wrap="square" lIns="0" tIns="0" rIns="0" bIns="0" rtlCol="0" anchor="ctr"/>
          <a:lstStyle/>
          <a:p>
            <a:pPr rtl="1" algn="r" indent="0" marL="0">
              <a:buNone/>
            </a:pPr>
            <a:r>
              <a:rPr lang="en-US" sz="1250" dirty="0">
                <a:solidFill>
                  <a:srgbClr val="4B5B6E"/>
                </a:solidFill>
                <a:latin typeface="Tajawal" pitchFamily="34" charset="0"/>
                <a:ea typeface="Tajawal" pitchFamily="34" charset="-122"/>
                <a:cs typeface="Tajawal" pitchFamily="34" charset="-120"/>
              </a:rPr>
              <a:t>مؤرخ</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40080" y="1920240"/>
            <a:ext cx="4754880" cy="3017520"/>
          </a:xfrm>
          <a:prstGeom prst="rect">
            <a:avLst/>
          </a:prstGeom>
          <a:noFill/>
          <a:ln/>
        </p:spPr>
        <p:txBody>
          <a:bodyPr wrap="square" lIns="0" tIns="0" rIns="0" bIns="0" rtlCol="0" anchor="ctr"/>
          <a:lstStyle/>
          <a:p>
            <a:pPr algn="l" indent="0" marL="0">
              <a:buNone/>
            </a:pPr>
            <a:r>
              <a:rPr lang="en-US" sz="17000" b="1" dirty="0">
                <a:solidFill>
                  <a:srgbClr val="DCE5F0"/>
                </a:solidFill>
                <a:latin typeface="Calibri" pitchFamily="34" charset="0"/>
                <a:ea typeface="Calibri" pitchFamily="34" charset="-122"/>
                <a:cs typeface="Calibri" pitchFamily="34" charset="-120"/>
              </a:rPr>
              <a:t>01</a:t>
            </a:r>
            <a:endParaRPr lang="en-US" sz="17000" dirty="0"/>
          </a:p>
        </p:txBody>
      </p:sp>
      <p:sp>
        <p:nvSpPr>
          <p:cNvPr id="4" name="Text 1"/>
          <p:cNvSpPr/>
          <p:nvPr/>
        </p:nvSpPr>
        <p:spPr>
          <a:xfrm>
            <a:off x="5120640" y="2788920"/>
            <a:ext cx="6293815" cy="1280160"/>
          </a:xfrm>
          <a:prstGeom prst="rect">
            <a:avLst/>
          </a:prstGeom>
          <a:noFill/>
          <a:ln/>
        </p:spPr>
        <p:txBody>
          <a:bodyPr wrap="square" lIns="0" tIns="0" rIns="0" bIns="0" rtlCol="0" anchor="ctr"/>
          <a:lstStyle/>
          <a:p>
            <a:pPr rtl="1" algn="r" indent="0" marL="0">
              <a:buNone/>
            </a:pPr>
            <a:r>
              <a:rPr lang="en-US" sz="3600" b="1" dirty="0">
                <a:solidFill>
                  <a:srgbClr val="255174"/>
                </a:solidFill>
                <a:latin typeface="Tajawal" pitchFamily="34" charset="0"/>
                <a:ea typeface="Tajawal" pitchFamily="34" charset="-122"/>
                <a:cs typeface="Tajawal" pitchFamily="34" charset="-120"/>
              </a:rPr>
              <a:t>الابتكار والأصالة</a:t>
            </a:r>
            <a:endParaRPr lang="en-US" sz="3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الابتكار والأصالة</a:t>
            </a:r>
            <a:endParaRPr lang="en-US" sz="2600" dirty="0"/>
          </a:p>
        </p:txBody>
      </p:sp>
      <p:sp>
        <p:nvSpPr>
          <p:cNvPr id="4" name="Shape 1"/>
          <p:cNvSpPr/>
          <p:nvPr/>
        </p:nvSpPr>
        <p:spPr>
          <a:xfrm>
            <a:off x="8027213" y="1234440"/>
            <a:ext cx="3387242" cy="1783080"/>
          </a:xfrm>
          <a:prstGeom prst="roundRect">
            <a:avLst>
              <a:gd name="adj" fmla="val 4103"/>
            </a:avLst>
          </a:prstGeom>
          <a:solidFill>
            <a:srgbClr val="EEF3F9"/>
          </a:solidFill>
          <a:ln w="9525">
            <a:solidFill>
              <a:srgbClr val="D9E2EC"/>
            </a:solidFill>
            <a:prstDash val="solid"/>
          </a:ln>
        </p:spPr>
      </p:sp>
      <p:sp>
        <p:nvSpPr>
          <p:cNvPr id="5" name="Text 2"/>
          <p:cNvSpPr/>
          <p:nvPr/>
        </p:nvSpPr>
        <p:spPr>
          <a:xfrm>
            <a:off x="8264957" y="1417320"/>
            <a:ext cx="2911754" cy="310896"/>
          </a:xfrm>
          <a:prstGeom prst="rect">
            <a:avLst/>
          </a:prstGeom>
          <a:noFill/>
          <a:ln/>
        </p:spPr>
        <p:txBody>
          <a:bodyPr wrap="square" lIns="0" tIns="0" rIns="0" bIns="0" rtlCol="0" anchor="ctr"/>
          <a:lstStyle/>
          <a:p>
            <a:pPr rtl="1" algn="r" indent="0" marL="0">
              <a:buNone/>
            </a:pPr>
            <a:r>
              <a:rPr lang="en-US" sz="1400" b="1" dirty="0">
                <a:solidFill>
                  <a:srgbClr val="8357F6"/>
                </a:solidFill>
                <a:latin typeface="Tajawal" pitchFamily="34" charset="0"/>
                <a:ea typeface="Tajawal" pitchFamily="34" charset="-122"/>
                <a:cs typeface="Tajawal" pitchFamily="34" charset="-120"/>
              </a:rPr>
              <a:t>تميز الفكرة</a:t>
            </a:r>
            <a:endParaRPr lang="en-US" sz="1400" dirty="0"/>
          </a:p>
        </p:txBody>
      </p:sp>
      <p:sp>
        <p:nvSpPr>
          <p:cNvPr id="6" name="Text 3"/>
          <p:cNvSpPr/>
          <p:nvPr/>
        </p:nvSpPr>
        <p:spPr>
          <a:xfrm>
            <a:off x="8264957" y="1801368"/>
            <a:ext cx="2911754" cy="1033272"/>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دليل يقرأ النقش نفسه لا لافتة عند المدخل: يسمي النقش الذي أمامك من بين مئات النقوش على الجدار الواحد.</a:t>
            </a:r>
            <a:endParaRPr lang="en-US" sz="1250" dirty="0"/>
          </a:p>
        </p:txBody>
      </p:sp>
      <p:sp>
        <p:nvSpPr>
          <p:cNvPr id="7" name="Shape 4"/>
          <p:cNvSpPr/>
          <p:nvPr/>
        </p:nvSpPr>
        <p:spPr>
          <a:xfrm>
            <a:off x="4402226" y="1234440"/>
            <a:ext cx="3387242" cy="1783080"/>
          </a:xfrm>
          <a:prstGeom prst="roundRect">
            <a:avLst>
              <a:gd name="adj" fmla="val 4103"/>
            </a:avLst>
          </a:prstGeom>
          <a:solidFill>
            <a:srgbClr val="EEF3F9"/>
          </a:solidFill>
          <a:ln w="9525">
            <a:solidFill>
              <a:srgbClr val="D9E2EC"/>
            </a:solidFill>
            <a:prstDash val="solid"/>
          </a:ln>
        </p:spPr>
      </p:sp>
      <p:sp>
        <p:nvSpPr>
          <p:cNvPr id="8" name="Text 5"/>
          <p:cNvSpPr/>
          <p:nvPr/>
        </p:nvSpPr>
        <p:spPr>
          <a:xfrm>
            <a:off x="4639970" y="1417320"/>
            <a:ext cx="2911754" cy="310896"/>
          </a:xfrm>
          <a:prstGeom prst="rect">
            <a:avLst/>
          </a:prstGeom>
          <a:noFill/>
          <a:ln/>
        </p:spPr>
        <p:txBody>
          <a:bodyPr wrap="square" lIns="0" tIns="0" rIns="0" bIns="0" rtlCol="0" anchor="ctr"/>
          <a:lstStyle/>
          <a:p>
            <a:pPr rtl="1" algn="r" indent="0" marL="0">
              <a:buNone/>
            </a:pPr>
            <a:r>
              <a:rPr lang="en-US" sz="1400" b="1" dirty="0">
                <a:solidFill>
                  <a:srgbClr val="8357F6"/>
                </a:solidFill>
                <a:latin typeface="Tajawal" pitchFamily="34" charset="0"/>
                <a:ea typeface="Tajawal" pitchFamily="34" charset="-122"/>
                <a:cs typeface="Tajawal" pitchFamily="34" charset="-120"/>
              </a:rPr>
              <a:t>مستوى الابتكار</a:t>
            </a:r>
            <a:endParaRPr lang="en-US" sz="1400" dirty="0"/>
          </a:p>
        </p:txBody>
      </p:sp>
      <p:sp>
        <p:nvSpPr>
          <p:cNvPr id="9" name="Text 6"/>
          <p:cNvSpPr/>
          <p:nvPr/>
        </p:nvSpPr>
        <p:spPr>
          <a:xfrm>
            <a:off x="4639970" y="1801368"/>
            <a:ext cx="2911754" cy="1033272"/>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نموذج الرؤية كله داخل المتصفح، 22 ميغابايت، ويتعلم من تصحيح السائح على جهازه فيصيب في المسح التالي.</a:t>
            </a:r>
            <a:endParaRPr lang="en-US" sz="1250" dirty="0"/>
          </a:p>
        </p:txBody>
      </p:sp>
      <p:sp>
        <p:nvSpPr>
          <p:cNvPr id="10" name="Shape 7"/>
          <p:cNvSpPr/>
          <p:nvPr/>
        </p:nvSpPr>
        <p:spPr>
          <a:xfrm>
            <a:off x="777240" y="1234440"/>
            <a:ext cx="3387242" cy="1783080"/>
          </a:xfrm>
          <a:prstGeom prst="roundRect">
            <a:avLst>
              <a:gd name="adj" fmla="val 4103"/>
            </a:avLst>
          </a:prstGeom>
          <a:solidFill>
            <a:srgbClr val="EEF3F9"/>
          </a:solidFill>
          <a:ln w="9525">
            <a:solidFill>
              <a:srgbClr val="D9E2EC"/>
            </a:solidFill>
            <a:prstDash val="solid"/>
          </a:ln>
        </p:spPr>
      </p:sp>
      <p:sp>
        <p:nvSpPr>
          <p:cNvPr id="11" name="Text 8"/>
          <p:cNvSpPr/>
          <p:nvPr/>
        </p:nvSpPr>
        <p:spPr>
          <a:xfrm>
            <a:off x="1014984" y="1417320"/>
            <a:ext cx="2911754" cy="310896"/>
          </a:xfrm>
          <a:prstGeom prst="rect">
            <a:avLst/>
          </a:prstGeom>
          <a:noFill/>
          <a:ln/>
        </p:spPr>
        <p:txBody>
          <a:bodyPr wrap="square" lIns="0" tIns="0" rIns="0" bIns="0" rtlCol="0" anchor="ctr"/>
          <a:lstStyle/>
          <a:p>
            <a:pPr rtl="1" algn="r" indent="0" marL="0">
              <a:buNone/>
            </a:pPr>
            <a:r>
              <a:rPr lang="en-US" sz="1400" b="1" dirty="0">
                <a:solidFill>
                  <a:srgbClr val="8357F6"/>
                </a:solidFill>
                <a:latin typeface="Tajawal" pitchFamily="34" charset="0"/>
                <a:ea typeface="Tajawal" pitchFamily="34" charset="-122"/>
                <a:cs typeface="Tajawal" pitchFamily="34" charset="-120"/>
              </a:rPr>
              <a:t>الاختلاف عن البدائل</a:t>
            </a:r>
            <a:endParaRPr lang="en-US" sz="1400" dirty="0"/>
          </a:p>
        </p:txBody>
      </p:sp>
      <p:sp>
        <p:nvSpPr>
          <p:cNvPr id="12" name="Text 9"/>
          <p:cNvSpPr/>
          <p:nvPr/>
        </p:nvSpPr>
        <p:spPr>
          <a:xfrm>
            <a:off x="1014984" y="1801368"/>
            <a:ext cx="2911754" cy="1033272"/>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كل بديل يقف عند حد: اللافتة عامة، والمرشد بموعد، والتطبيق السحابي يتوقف حيث لا شبكة.</a:t>
            </a:r>
            <a:endParaRPr lang="en-US" sz="1250" dirty="0"/>
          </a:p>
        </p:txBody>
      </p:sp>
      <p:sp>
        <p:nvSpPr>
          <p:cNvPr id="13" name="Text 10"/>
          <p:cNvSpPr/>
          <p:nvPr/>
        </p:nvSpPr>
        <p:spPr>
          <a:xfrm>
            <a:off x="6842455" y="3310128"/>
            <a:ext cx="4297680" cy="292608"/>
          </a:xfrm>
          <a:prstGeom prst="rect">
            <a:avLst/>
          </a:prstGeom>
          <a:noFill/>
          <a:ln/>
        </p:spPr>
        <p:txBody>
          <a:bodyPr wrap="square" lIns="0" tIns="0" rIns="0" bIns="0" rtlCol="0" anchor="ctr"/>
          <a:lstStyle/>
          <a:p>
            <a:pPr rtl="1" algn="r" indent="0" marL="0">
              <a:buNone/>
            </a:pPr>
            <a:r>
              <a:rPr lang="en-US" sz="1300" b="1" dirty="0">
                <a:solidFill>
                  <a:srgbClr val="4B5B6E"/>
                </a:solidFill>
                <a:latin typeface="Tajawal" pitchFamily="34" charset="0"/>
                <a:ea typeface="Tajawal" pitchFamily="34" charset="-122"/>
                <a:cs typeface="Tajawal" pitchFamily="34" charset="-120"/>
              </a:rPr>
              <a:t>البدائل الحالية</a:t>
            </a:r>
            <a:endParaRPr lang="en-US" sz="1300" dirty="0"/>
          </a:p>
        </p:txBody>
      </p:sp>
      <p:sp>
        <p:nvSpPr>
          <p:cNvPr id="14" name="Text 11"/>
          <p:cNvSpPr/>
          <p:nvPr/>
        </p:nvSpPr>
        <p:spPr>
          <a:xfrm>
            <a:off x="777240" y="3310128"/>
            <a:ext cx="5760720" cy="292608"/>
          </a:xfrm>
          <a:prstGeom prst="rect">
            <a:avLst/>
          </a:prstGeom>
          <a:noFill/>
          <a:ln/>
        </p:spPr>
        <p:txBody>
          <a:bodyPr wrap="square" lIns="0" tIns="0" rIns="0" bIns="0" rtlCol="0" anchor="ctr"/>
          <a:lstStyle/>
          <a:p>
            <a:pPr rtl="1" algn="r" indent="0" marL="0">
              <a:buNone/>
            </a:pPr>
            <a:r>
              <a:rPr lang="en-US" sz="1300" b="1" dirty="0">
                <a:solidFill>
                  <a:srgbClr val="255174"/>
                </a:solidFill>
                <a:latin typeface="Tajawal" pitchFamily="34" charset="0"/>
                <a:ea typeface="Tajawal" pitchFamily="34" charset="-122"/>
                <a:cs typeface="Tajawal" pitchFamily="34" charset="-120"/>
              </a:rPr>
              <a:t>أثر</a:t>
            </a:r>
            <a:endParaRPr lang="en-US" sz="1300" dirty="0"/>
          </a:p>
        </p:txBody>
      </p:sp>
      <p:sp>
        <p:nvSpPr>
          <p:cNvPr id="15" name="Shape 12"/>
          <p:cNvSpPr/>
          <p:nvPr/>
        </p:nvSpPr>
        <p:spPr>
          <a:xfrm>
            <a:off x="6842455" y="3712464"/>
            <a:ext cx="4572000" cy="420624"/>
          </a:xfrm>
          <a:prstGeom prst="roundRect">
            <a:avLst>
              <a:gd name="adj" fmla="val 17391"/>
            </a:avLst>
          </a:prstGeom>
          <a:solidFill>
            <a:srgbClr val="F4F6F9"/>
          </a:solidFill>
          <a:ln w="9525">
            <a:solidFill>
              <a:srgbClr val="D9E2EC"/>
            </a:solidFill>
            <a:prstDash val="solid"/>
          </a:ln>
        </p:spPr>
      </p:sp>
      <p:sp>
        <p:nvSpPr>
          <p:cNvPr id="16" name="Text 13"/>
          <p:cNvSpPr/>
          <p:nvPr/>
        </p:nvSpPr>
        <p:spPr>
          <a:xfrm>
            <a:off x="7061911" y="3794760"/>
            <a:ext cx="4133088" cy="256032"/>
          </a:xfrm>
          <a:prstGeom prst="rect">
            <a:avLst/>
          </a:prstGeom>
          <a:noFill/>
          <a:ln/>
        </p:spPr>
        <p:txBody>
          <a:bodyPr wrap="square" lIns="0" tIns="0" rIns="0" bIns="0" rtlCol="0" anchor="ctr"/>
          <a:lstStyle/>
          <a:p>
            <a:pPr rtl="1" algn="r" indent="0" marL="0">
              <a:buNone/>
            </a:pPr>
            <a:r>
              <a:rPr lang="en-US" sz="1200" dirty="0">
                <a:solidFill>
                  <a:srgbClr val="4B5B6E"/>
                </a:solidFill>
                <a:latin typeface="Tajawal" pitchFamily="34" charset="0"/>
                <a:ea typeface="Tajawal" pitchFamily="34" charset="-122"/>
                <a:cs typeface="Tajawal" pitchFamily="34" charset="-120"/>
              </a:rPr>
              <a:t>لافتة واحدة عند مدخل الموقع</a:t>
            </a:r>
            <a:endParaRPr lang="en-US" sz="1200" dirty="0"/>
          </a:p>
        </p:txBody>
      </p:sp>
      <p:sp>
        <p:nvSpPr>
          <p:cNvPr id="17" name="Shape 14"/>
          <p:cNvSpPr/>
          <p:nvPr/>
        </p:nvSpPr>
        <p:spPr>
          <a:xfrm>
            <a:off x="777240" y="3712464"/>
            <a:ext cx="6035040" cy="420624"/>
          </a:xfrm>
          <a:prstGeom prst="roundRect">
            <a:avLst>
              <a:gd name="adj" fmla="val 17391"/>
            </a:avLst>
          </a:prstGeom>
          <a:solidFill>
            <a:srgbClr val="EEF3F9"/>
          </a:solidFill>
          <a:ln w="9525">
            <a:solidFill>
              <a:srgbClr val="D9E2EC"/>
            </a:solidFill>
            <a:prstDash val="solid"/>
          </a:ln>
        </p:spPr>
      </p:sp>
      <p:sp>
        <p:nvSpPr>
          <p:cNvPr id="18" name="Text 15"/>
          <p:cNvSpPr/>
          <p:nvPr/>
        </p:nvSpPr>
        <p:spPr>
          <a:xfrm>
            <a:off x="996696" y="3794760"/>
            <a:ext cx="5596128" cy="256032"/>
          </a:xfrm>
          <a:prstGeom prst="rect">
            <a:avLst/>
          </a:prstGeom>
          <a:noFill/>
          <a:ln/>
        </p:spPr>
        <p:txBody>
          <a:bodyPr wrap="square" lIns="0" tIns="0" rIns="0" bIns="0" rtlCol="0" anchor="ctr"/>
          <a:lstStyle/>
          <a:p>
            <a:pPr rtl="1" algn="r" indent="0" marL="0">
              <a:buNone/>
            </a:pPr>
            <a:r>
              <a:rPr lang="en-US" sz="1200" b="1" dirty="0">
                <a:solidFill>
                  <a:srgbClr val="2B3A4C"/>
                </a:solidFill>
                <a:latin typeface="Tajawal" pitchFamily="34" charset="0"/>
                <a:ea typeface="Tajawal" pitchFamily="34" charset="-122"/>
                <a:cs typeface="Tajawal" pitchFamily="34" charset="-120"/>
              </a:rPr>
              <a:t>يسمي النقش الذي أمامك بعينه</a:t>
            </a:r>
            <a:endParaRPr lang="en-US" sz="1200" dirty="0"/>
          </a:p>
        </p:txBody>
      </p:sp>
      <p:sp>
        <p:nvSpPr>
          <p:cNvPr id="19" name="Shape 16"/>
          <p:cNvSpPr/>
          <p:nvPr/>
        </p:nvSpPr>
        <p:spPr>
          <a:xfrm>
            <a:off x="6842455" y="4224528"/>
            <a:ext cx="4572000" cy="420624"/>
          </a:xfrm>
          <a:prstGeom prst="roundRect">
            <a:avLst>
              <a:gd name="adj" fmla="val 17391"/>
            </a:avLst>
          </a:prstGeom>
          <a:solidFill>
            <a:srgbClr val="F4F6F9"/>
          </a:solidFill>
          <a:ln w="9525">
            <a:solidFill>
              <a:srgbClr val="D9E2EC"/>
            </a:solidFill>
            <a:prstDash val="solid"/>
          </a:ln>
        </p:spPr>
      </p:sp>
      <p:sp>
        <p:nvSpPr>
          <p:cNvPr id="20" name="Text 17"/>
          <p:cNvSpPr/>
          <p:nvPr/>
        </p:nvSpPr>
        <p:spPr>
          <a:xfrm>
            <a:off x="7061911" y="4306824"/>
            <a:ext cx="4133088" cy="256032"/>
          </a:xfrm>
          <a:prstGeom prst="rect">
            <a:avLst/>
          </a:prstGeom>
          <a:noFill/>
          <a:ln/>
        </p:spPr>
        <p:txBody>
          <a:bodyPr wrap="square" lIns="0" tIns="0" rIns="0" bIns="0" rtlCol="0" anchor="ctr"/>
          <a:lstStyle/>
          <a:p>
            <a:pPr rtl="1" algn="r" indent="0" marL="0">
              <a:buNone/>
            </a:pPr>
            <a:r>
              <a:rPr lang="en-US" sz="1200" dirty="0">
                <a:solidFill>
                  <a:srgbClr val="4B5B6E"/>
                </a:solidFill>
                <a:latin typeface="Tajawal" pitchFamily="34" charset="0"/>
                <a:ea typeface="Tajawal" pitchFamily="34" charset="-122"/>
                <a:cs typeface="Tajawal" pitchFamily="34" charset="-120"/>
              </a:rPr>
              <a:t>مرشد بحجز مسبق وبلغات محدودة</a:t>
            </a:r>
            <a:endParaRPr lang="en-US" sz="1200" dirty="0"/>
          </a:p>
        </p:txBody>
      </p:sp>
      <p:sp>
        <p:nvSpPr>
          <p:cNvPr id="21" name="Shape 18"/>
          <p:cNvSpPr/>
          <p:nvPr/>
        </p:nvSpPr>
        <p:spPr>
          <a:xfrm>
            <a:off x="777240" y="4224528"/>
            <a:ext cx="6035040" cy="420624"/>
          </a:xfrm>
          <a:prstGeom prst="roundRect">
            <a:avLst>
              <a:gd name="adj" fmla="val 17391"/>
            </a:avLst>
          </a:prstGeom>
          <a:solidFill>
            <a:srgbClr val="EEF3F9"/>
          </a:solidFill>
          <a:ln w="9525">
            <a:solidFill>
              <a:srgbClr val="D9E2EC"/>
            </a:solidFill>
            <a:prstDash val="solid"/>
          </a:ln>
        </p:spPr>
      </p:sp>
      <p:sp>
        <p:nvSpPr>
          <p:cNvPr id="22" name="Text 19"/>
          <p:cNvSpPr/>
          <p:nvPr/>
        </p:nvSpPr>
        <p:spPr>
          <a:xfrm>
            <a:off x="996696" y="4306824"/>
            <a:ext cx="5596128" cy="256032"/>
          </a:xfrm>
          <a:prstGeom prst="rect">
            <a:avLst/>
          </a:prstGeom>
          <a:noFill/>
          <a:ln/>
        </p:spPr>
        <p:txBody>
          <a:bodyPr wrap="square" lIns="0" tIns="0" rIns="0" bIns="0" rtlCol="0" anchor="ctr"/>
          <a:lstStyle/>
          <a:p>
            <a:pPr rtl="1" algn="r" indent="0" marL="0">
              <a:buNone/>
            </a:pPr>
            <a:r>
              <a:rPr lang="en-US" sz="1200" b="1" dirty="0">
                <a:solidFill>
                  <a:srgbClr val="2B3A4C"/>
                </a:solidFill>
                <a:latin typeface="Tajawal" pitchFamily="34" charset="0"/>
                <a:ea typeface="Tajawal" pitchFamily="34" charset="-122"/>
                <a:cs typeface="Tajawal" pitchFamily="34" charset="-120"/>
              </a:rPr>
              <a:t>تسع وعشرون لغة، ولكل لغة صوت</a:t>
            </a:r>
            <a:endParaRPr lang="en-US" sz="1200" dirty="0"/>
          </a:p>
        </p:txBody>
      </p:sp>
      <p:sp>
        <p:nvSpPr>
          <p:cNvPr id="23" name="Shape 20"/>
          <p:cNvSpPr/>
          <p:nvPr/>
        </p:nvSpPr>
        <p:spPr>
          <a:xfrm>
            <a:off x="6842455" y="4736592"/>
            <a:ext cx="4572000" cy="420624"/>
          </a:xfrm>
          <a:prstGeom prst="roundRect">
            <a:avLst>
              <a:gd name="adj" fmla="val 17391"/>
            </a:avLst>
          </a:prstGeom>
          <a:solidFill>
            <a:srgbClr val="F4F6F9"/>
          </a:solidFill>
          <a:ln w="9525">
            <a:solidFill>
              <a:srgbClr val="D9E2EC"/>
            </a:solidFill>
            <a:prstDash val="solid"/>
          </a:ln>
        </p:spPr>
      </p:sp>
      <p:sp>
        <p:nvSpPr>
          <p:cNvPr id="24" name="Text 21"/>
          <p:cNvSpPr/>
          <p:nvPr/>
        </p:nvSpPr>
        <p:spPr>
          <a:xfrm>
            <a:off x="7061911" y="4818888"/>
            <a:ext cx="4133088" cy="256032"/>
          </a:xfrm>
          <a:prstGeom prst="rect">
            <a:avLst/>
          </a:prstGeom>
          <a:noFill/>
          <a:ln/>
        </p:spPr>
        <p:txBody>
          <a:bodyPr wrap="square" lIns="0" tIns="0" rIns="0" bIns="0" rtlCol="0" anchor="ctr"/>
          <a:lstStyle/>
          <a:p>
            <a:pPr rtl="1" algn="r" indent="0" marL="0">
              <a:buNone/>
            </a:pPr>
            <a:r>
              <a:rPr lang="en-US" sz="1200" dirty="0">
                <a:solidFill>
                  <a:srgbClr val="4B5B6E"/>
                </a:solidFill>
                <a:latin typeface="Tajawal" pitchFamily="34" charset="0"/>
                <a:ea typeface="Tajawal" pitchFamily="34" charset="-122"/>
                <a:cs typeface="Tajawal" pitchFamily="34" charset="-120"/>
              </a:rPr>
              <a:t>تطبيق سحابي يتوقف بلا تغطية</a:t>
            </a:r>
            <a:endParaRPr lang="en-US" sz="1200" dirty="0"/>
          </a:p>
        </p:txBody>
      </p:sp>
      <p:sp>
        <p:nvSpPr>
          <p:cNvPr id="25" name="Shape 22"/>
          <p:cNvSpPr/>
          <p:nvPr/>
        </p:nvSpPr>
        <p:spPr>
          <a:xfrm>
            <a:off x="777240" y="4736592"/>
            <a:ext cx="6035040" cy="420624"/>
          </a:xfrm>
          <a:prstGeom prst="roundRect">
            <a:avLst>
              <a:gd name="adj" fmla="val 17391"/>
            </a:avLst>
          </a:prstGeom>
          <a:solidFill>
            <a:srgbClr val="EEF3F9"/>
          </a:solidFill>
          <a:ln w="9525">
            <a:solidFill>
              <a:srgbClr val="D9E2EC"/>
            </a:solidFill>
            <a:prstDash val="solid"/>
          </a:ln>
        </p:spPr>
      </p:sp>
      <p:sp>
        <p:nvSpPr>
          <p:cNvPr id="26" name="Text 23"/>
          <p:cNvSpPr/>
          <p:nvPr/>
        </p:nvSpPr>
        <p:spPr>
          <a:xfrm>
            <a:off x="996696" y="4818888"/>
            <a:ext cx="5596128" cy="256032"/>
          </a:xfrm>
          <a:prstGeom prst="rect">
            <a:avLst/>
          </a:prstGeom>
          <a:noFill/>
          <a:ln/>
        </p:spPr>
        <p:txBody>
          <a:bodyPr wrap="square" lIns="0" tIns="0" rIns="0" bIns="0" rtlCol="0" anchor="ctr"/>
          <a:lstStyle/>
          <a:p>
            <a:pPr rtl="1" algn="r" indent="0" marL="0">
              <a:buNone/>
            </a:pPr>
            <a:r>
              <a:rPr lang="en-US" sz="1200" b="1" dirty="0">
                <a:solidFill>
                  <a:srgbClr val="2B3A4C"/>
                </a:solidFill>
                <a:latin typeface="Tajawal" pitchFamily="34" charset="0"/>
                <a:ea typeface="Tajawal" pitchFamily="34" charset="-122"/>
                <a:cs typeface="Tajawal" pitchFamily="34" charset="-120"/>
              </a:rPr>
              <a:t>يعمل كاملا بلا إنترنت</a:t>
            </a:r>
            <a:endParaRPr lang="en-US" sz="1200" dirty="0"/>
          </a:p>
        </p:txBody>
      </p:sp>
      <p:sp>
        <p:nvSpPr>
          <p:cNvPr id="27" name="Shape 24"/>
          <p:cNvSpPr/>
          <p:nvPr/>
        </p:nvSpPr>
        <p:spPr>
          <a:xfrm>
            <a:off x="6842455" y="5248656"/>
            <a:ext cx="4572000" cy="420624"/>
          </a:xfrm>
          <a:prstGeom prst="roundRect">
            <a:avLst>
              <a:gd name="adj" fmla="val 17391"/>
            </a:avLst>
          </a:prstGeom>
          <a:solidFill>
            <a:srgbClr val="F4F6F9"/>
          </a:solidFill>
          <a:ln w="9525">
            <a:solidFill>
              <a:srgbClr val="D9E2EC"/>
            </a:solidFill>
            <a:prstDash val="solid"/>
          </a:ln>
        </p:spPr>
      </p:sp>
      <p:sp>
        <p:nvSpPr>
          <p:cNvPr id="28" name="Text 25"/>
          <p:cNvSpPr/>
          <p:nvPr/>
        </p:nvSpPr>
        <p:spPr>
          <a:xfrm>
            <a:off x="7061911" y="5330952"/>
            <a:ext cx="4133088" cy="256032"/>
          </a:xfrm>
          <a:prstGeom prst="rect">
            <a:avLst/>
          </a:prstGeom>
          <a:noFill/>
          <a:ln/>
        </p:spPr>
        <p:txBody>
          <a:bodyPr wrap="square" lIns="0" tIns="0" rIns="0" bIns="0" rtlCol="0" anchor="ctr"/>
          <a:lstStyle/>
          <a:p>
            <a:pPr rtl="1" algn="r" indent="0" marL="0">
              <a:buNone/>
            </a:pPr>
            <a:r>
              <a:rPr lang="en-US" sz="1200" dirty="0">
                <a:solidFill>
                  <a:srgbClr val="4B5B6E"/>
                </a:solidFill>
                <a:latin typeface="Tajawal" pitchFamily="34" charset="0"/>
                <a:ea typeface="Tajawal" pitchFamily="34" charset="-122"/>
                <a:cs typeface="Tajawal" pitchFamily="34" charset="-120"/>
              </a:rPr>
              <a:t>بحث بالصور يعطي نتيجة عامة</a:t>
            </a:r>
            <a:endParaRPr lang="en-US" sz="1200" dirty="0"/>
          </a:p>
        </p:txBody>
      </p:sp>
      <p:sp>
        <p:nvSpPr>
          <p:cNvPr id="29" name="Shape 26"/>
          <p:cNvSpPr/>
          <p:nvPr/>
        </p:nvSpPr>
        <p:spPr>
          <a:xfrm>
            <a:off x="777240" y="5248656"/>
            <a:ext cx="6035040" cy="420624"/>
          </a:xfrm>
          <a:prstGeom prst="roundRect">
            <a:avLst>
              <a:gd name="adj" fmla="val 17391"/>
            </a:avLst>
          </a:prstGeom>
          <a:solidFill>
            <a:srgbClr val="EEF3F9"/>
          </a:solidFill>
          <a:ln w="9525">
            <a:solidFill>
              <a:srgbClr val="D9E2EC"/>
            </a:solidFill>
            <a:prstDash val="solid"/>
          </a:ln>
        </p:spPr>
      </p:sp>
      <p:sp>
        <p:nvSpPr>
          <p:cNvPr id="30" name="Text 27"/>
          <p:cNvSpPr/>
          <p:nvPr/>
        </p:nvSpPr>
        <p:spPr>
          <a:xfrm>
            <a:off x="996696" y="5330952"/>
            <a:ext cx="5596128" cy="256032"/>
          </a:xfrm>
          <a:prstGeom prst="rect">
            <a:avLst/>
          </a:prstGeom>
          <a:noFill/>
          <a:ln/>
        </p:spPr>
        <p:txBody>
          <a:bodyPr wrap="square" lIns="0" tIns="0" rIns="0" bIns="0" rtlCol="0" anchor="ctr"/>
          <a:lstStyle/>
          <a:p>
            <a:pPr rtl="1" algn="r" indent="0" marL="0">
              <a:buNone/>
            </a:pPr>
            <a:r>
              <a:rPr lang="en-US" sz="1200" b="1" dirty="0">
                <a:solidFill>
                  <a:srgbClr val="2B3A4C"/>
                </a:solidFill>
                <a:latin typeface="Tajawal" pitchFamily="34" charset="0"/>
                <a:ea typeface="Tajawal" pitchFamily="34" charset="-122"/>
                <a:cs typeface="Tajawal" pitchFamily="34" charset="-120"/>
              </a:rPr>
              <a:t>مبني على 201 صورة من جبة نفسها</a:t>
            </a:r>
            <a:endParaRPr lang="en-US" sz="1200" dirty="0"/>
          </a:p>
        </p:txBody>
      </p:sp>
      <p:sp>
        <p:nvSpPr>
          <p:cNvPr id="31" name="Shape 28"/>
          <p:cNvSpPr/>
          <p:nvPr/>
        </p:nvSpPr>
        <p:spPr>
          <a:xfrm>
            <a:off x="6842455" y="5760720"/>
            <a:ext cx="4572000" cy="420624"/>
          </a:xfrm>
          <a:prstGeom prst="roundRect">
            <a:avLst>
              <a:gd name="adj" fmla="val 17391"/>
            </a:avLst>
          </a:prstGeom>
          <a:solidFill>
            <a:srgbClr val="F4F6F9"/>
          </a:solidFill>
          <a:ln w="9525">
            <a:solidFill>
              <a:srgbClr val="D9E2EC"/>
            </a:solidFill>
            <a:prstDash val="solid"/>
          </a:ln>
        </p:spPr>
      </p:sp>
      <p:sp>
        <p:nvSpPr>
          <p:cNvPr id="32" name="Text 29"/>
          <p:cNvSpPr/>
          <p:nvPr/>
        </p:nvSpPr>
        <p:spPr>
          <a:xfrm>
            <a:off x="7061911" y="5843016"/>
            <a:ext cx="4133088" cy="256032"/>
          </a:xfrm>
          <a:prstGeom prst="rect">
            <a:avLst/>
          </a:prstGeom>
          <a:noFill/>
          <a:ln/>
        </p:spPr>
        <p:txBody>
          <a:bodyPr wrap="square" lIns="0" tIns="0" rIns="0" bIns="0" rtlCol="0" anchor="ctr"/>
          <a:lstStyle/>
          <a:p>
            <a:pPr rtl="1" algn="r" indent="0" marL="0">
              <a:buNone/>
            </a:pPr>
            <a:r>
              <a:rPr lang="en-US" sz="1200" dirty="0">
                <a:solidFill>
                  <a:srgbClr val="4B5B6E"/>
                </a:solidFill>
                <a:latin typeface="Tajawal" pitchFamily="34" charset="0"/>
                <a:ea typeface="Tajawal" pitchFamily="34" charset="-122"/>
                <a:cs typeface="Tajawal" pitchFamily="34" charset="-120"/>
              </a:rPr>
              <a:t>تصور الصخرة في ChatGPT فيقول: نقوش صخرية، وبإنترنت فقط</a:t>
            </a:r>
            <a:endParaRPr lang="en-US" sz="1200" dirty="0"/>
          </a:p>
        </p:txBody>
      </p:sp>
      <p:sp>
        <p:nvSpPr>
          <p:cNvPr id="33" name="Shape 30"/>
          <p:cNvSpPr/>
          <p:nvPr/>
        </p:nvSpPr>
        <p:spPr>
          <a:xfrm>
            <a:off x="777240" y="5760720"/>
            <a:ext cx="6035040" cy="420624"/>
          </a:xfrm>
          <a:prstGeom prst="roundRect">
            <a:avLst>
              <a:gd name="adj" fmla="val 17391"/>
            </a:avLst>
          </a:prstGeom>
          <a:solidFill>
            <a:srgbClr val="E9E2FB"/>
          </a:solidFill>
          <a:ln w="9525">
            <a:solidFill>
              <a:srgbClr val="D9E2EC"/>
            </a:solidFill>
            <a:prstDash val="solid"/>
          </a:ln>
        </p:spPr>
      </p:sp>
      <p:sp>
        <p:nvSpPr>
          <p:cNvPr id="34" name="Text 31"/>
          <p:cNvSpPr/>
          <p:nvPr/>
        </p:nvSpPr>
        <p:spPr>
          <a:xfrm>
            <a:off x="996696" y="5843016"/>
            <a:ext cx="5596128" cy="256032"/>
          </a:xfrm>
          <a:prstGeom prst="rect">
            <a:avLst/>
          </a:prstGeom>
          <a:noFill/>
          <a:ln/>
        </p:spPr>
        <p:txBody>
          <a:bodyPr wrap="square" lIns="0" tIns="0" rIns="0" bIns="0" rtlCol="0" anchor="ctr"/>
          <a:lstStyle/>
          <a:p>
            <a:pPr rtl="1" algn="r" indent="0" marL="0">
              <a:buNone/>
            </a:pPr>
            <a:r>
              <a:rPr lang="en-US" sz="1200" b="1" dirty="0">
                <a:solidFill>
                  <a:srgbClr val="4B2E9E"/>
                </a:solidFill>
                <a:latin typeface="Tajawal" pitchFamily="34" charset="0"/>
                <a:ea typeface="Tajawal" pitchFamily="34" charset="-122"/>
                <a:cs typeface="Tajawal" pitchFamily="34" charset="-120"/>
              </a:rPr>
              <a:t>تصورها بماسح أثر فيقول: هذا نقش الأسد ومروضه، ويروي قصته بلا شبكة</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40080" y="1920240"/>
            <a:ext cx="4754880" cy="3017520"/>
          </a:xfrm>
          <a:prstGeom prst="rect">
            <a:avLst/>
          </a:prstGeom>
          <a:noFill/>
          <a:ln/>
        </p:spPr>
        <p:txBody>
          <a:bodyPr wrap="square" lIns="0" tIns="0" rIns="0" bIns="0" rtlCol="0" anchor="ctr"/>
          <a:lstStyle/>
          <a:p>
            <a:pPr algn="l" indent="0" marL="0">
              <a:buNone/>
            </a:pPr>
            <a:r>
              <a:rPr lang="en-US" sz="17000" b="1" dirty="0">
                <a:solidFill>
                  <a:srgbClr val="DCE5F0"/>
                </a:solidFill>
                <a:latin typeface="Calibri" pitchFamily="34" charset="0"/>
                <a:ea typeface="Calibri" pitchFamily="34" charset="-122"/>
                <a:cs typeface="Calibri" pitchFamily="34" charset="-120"/>
              </a:rPr>
              <a:t>02</a:t>
            </a:r>
            <a:endParaRPr lang="en-US" sz="17000" dirty="0"/>
          </a:p>
        </p:txBody>
      </p:sp>
      <p:sp>
        <p:nvSpPr>
          <p:cNvPr id="4" name="Text 1"/>
          <p:cNvSpPr/>
          <p:nvPr/>
        </p:nvSpPr>
        <p:spPr>
          <a:xfrm>
            <a:off x="5120640" y="2788920"/>
            <a:ext cx="6293815" cy="1280160"/>
          </a:xfrm>
          <a:prstGeom prst="rect">
            <a:avLst/>
          </a:prstGeom>
          <a:noFill/>
          <a:ln/>
        </p:spPr>
        <p:txBody>
          <a:bodyPr wrap="square" lIns="0" tIns="0" rIns="0" bIns="0" rtlCol="0" anchor="ctr"/>
          <a:lstStyle/>
          <a:p>
            <a:pPr rtl="1" algn="r" indent="0" marL="0">
              <a:buNone/>
            </a:pPr>
            <a:r>
              <a:rPr lang="en-US" sz="3600" b="1" dirty="0">
                <a:solidFill>
                  <a:srgbClr val="255174"/>
                </a:solidFill>
                <a:latin typeface="Tajawal" pitchFamily="34" charset="0"/>
                <a:ea typeface="Tajawal" pitchFamily="34" charset="-122"/>
                <a:cs typeface="Tajawal" pitchFamily="34" charset="-120"/>
              </a:rPr>
              <a:t>توظيف الذكاء الاصطناعي</a:t>
            </a:r>
            <a:endParaRPr lang="en-US" sz="3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توظيف الذكاء الاصطناعي</a:t>
            </a:r>
            <a:endParaRPr lang="en-US" sz="2600" dirty="0"/>
          </a:p>
        </p:txBody>
      </p:sp>
      <p:sp>
        <p:nvSpPr>
          <p:cNvPr id="4" name="Shape 1"/>
          <p:cNvSpPr/>
          <p:nvPr/>
        </p:nvSpPr>
        <p:spPr>
          <a:xfrm>
            <a:off x="9082735" y="1234440"/>
            <a:ext cx="2331720" cy="4297680"/>
          </a:xfrm>
          <a:prstGeom prst="roundRect">
            <a:avLst>
              <a:gd name="adj" fmla="val 3137"/>
            </a:avLst>
          </a:prstGeom>
          <a:solidFill>
            <a:srgbClr val="F4F6F9"/>
          </a:solidFill>
          <a:ln w="9525">
            <a:solidFill>
              <a:srgbClr val="D9E2EC"/>
            </a:solidFill>
            <a:prstDash val="solid"/>
          </a:ln>
        </p:spPr>
      </p:sp>
      <p:pic>
        <p:nvPicPr>
          <p:cNvPr id="5" name="Image 1" descr="preencoded.png">    </p:cNvPr>
          <p:cNvPicPr>
            <a:picLocks noChangeAspect="1"/>
          </p:cNvPicPr>
          <p:nvPr/>
        </p:nvPicPr>
        <p:blipFill>
          <a:blip r:embed="rId2"/>
          <a:stretch>
            <a:fillRect/>
          </a:stretch>
        </p:blipFill>
        <p:spPr>
          <a:xfrm>
            <a:off x="9631375" y="1481328"/>
            <a:ext cx="1234440" cy="925830"/>
          </a:xfrm>
          <a:prstGeom prst="rect">
            <a:avLst/>
          </a:prstGeom>
        </p:spPr>
      </p:pic>
      <p:sp>
        <p:nvSpPr>
          <p:cNvPr id="6" name="Text 2"/>
          <p:cNvSpPr/>
          <p:nvPr/>
        </p:nvSpPr>
        <p:spPr>
          <a:xfrm>
            <a:off x="9082735" y="2450592"/>
            <a:ext cx="2331720" cy="237744"/>
          </a:xfrm>
          <a:prstGeom prst="rect">
            <a:avLst/>
          </a:prstGeom>
          <a:noFill/>
          <a:ln/>
        </p:spPr>
        <p:txBody>
          <a:bodyPr wrap="square" lIns="0" tIns="0" rIns="0" bIns="0" rtlCol="0" anchor="ctr"/>
          <a:lstStyle/>
          <a:p>
            <a:pPr rtl="1" algn="ctr" indent="0" marL="0">
              <a:buNone/>
            </a:pPr>
            <a:r>
              <a:rPr lang="en-US" sz="1000" dirty="0">
                <a:solidFill>
                  <a:srgbClr val="4B5B6E"/>
                </a:solidFill>
                <a:latin typeface="Tajawal" pitchFamily="34" charset="0"/>
                <a:ea typeface="Tajawal" pitchFamily="34" charset="-122"/>
                <a:cs typeface="Tajawal" pitchFamily="34" charset="-120"/>
              </a:rPr>
              <a:t>السائح يصور النقش</a:t>
            </a:r>
            <a:endParaRPr lang="en-US" sz="1000" dirty="0"/>
          </a:p>
        </p:txBody>
      </p:sp>
      <p:sp>
        <p:nvSpPr>
          <p:cNvPr id="7" name="Text 3"/>
          <p:cNvSpPr/>
          <p:nvPr/>
        </p:nvSpPr>
        <p:spPr>
          <a:xfrm>
            <a:off x="9082735" y="2724912"/>
            <a:ext cx="2331720" cy="219456"/>
          </a:xfrm>
          <a:prstGeom prst="rect">
            <a:avLst/>
          </a:prstGeom>
          <a:noFill/>
          <a:ln/>
        </p:spPr>
        <p:txBody>
          <a:bodyPr wrap="square" lIns="0" tIns="0" rIns="0" bIns="0" rtlCol="0" anchor="ctr"/>
          <a:lstStyle/>
          <a:p>
            <a:pPr algn="ctr" indent="0" marL="0">
              <a:buNone/>
            </a:pPr>
            <a:r>
              <a:rPr lang="en-US" sz="1200" dirty="0">
                <a:solidFill>
                  <a:srgbClr val="8357F6"/>
                </a:solidFill>
                <a:latin typeface="Calibri" pitchFamily="34" charset="0"/>
                <a:ea typeface="Calibri" pitchFamily="34" charset="-122"/>
                <a:cs typeface="Calibri" pitchFamily="34" charset="-120"/>
              </a:rPr>
              <a:t>▼</a:t>
            </a:r>
            <a:endParaRPr lang="en-US" sz="1200" dirty="0"/>
          </a:p>
        </p:txBody>
      </p:sp>
      <p:sp>
        <p:nvSpPr>
          <p:cNvPr id="8" name="Shape 4"/>
          <p:cNvSpPr/>
          <p:nvPr/>
        </p:nvSpPr>
        <p:spPr>
          <a:xfrm>
            <a:off x="9631375" y="2980944"/>
            <a:ext cx="1234440" cy="530352"/>
          </a:xfrm>
          <a:prstGeom prst="roundRect">
            <a:avLst>
              <a:gd name="adj" fmla="val 13793"/>
            </a:avLst>
          </a:prstGeom>
          <a:solidFill>
            <a:srgbClr val="FFFFFF"/>
          </a:solidFill>
          <a:ln w="9525">
            <a:solidFill>
              <a:srgbClr val="D9E2EC"/>
            </a:solidFill>
            <a:prstDash val="solid"/>
          </a:ln>
        </p:spPr>
      </p:sp>
      <p:sp>
        <p:nvSpPr>
          <p:cNvPr id="9" name="Text 5"/>
          <p:cNvSpPr/>
          <p:nvPr/>
        </p:nvSpPr>
        <p:spPr>
          <a:xfrm>
            <a:off x="9631375" y="3044952"/>
            <a:ext cx="1234440" cy="219456"/>
          </a:xfrm>
          <a:prstGeom prst="rect">
            <a:avLst/>
          </a:prstGeom>
          <a:noFill/>
          <a:ln/>
        </p:spPr>
        <p:txBody>
          <a:bodyPr wrap="square" lIns="0" tIns="0" rIns="0" bIns="0" rtlCol="0" anchor="ctr"/>
          <a:lstStyle/>
          <a:p>
            <a:pPr algn="ctr" indent="0" marL="0">
              <a:buNone/>
            </a:pPr>
            <a:r>
              <a:rPr lang="en-US" sz="950" dirty="0">
                <a:solidFill>
                  <a:srgbClr val="255174"/>
                </a:solidFill>
                <a:latin typeface="Courier New" pitchFamily="34" charset="0"/>
                <a:ea typeface="Courier New" pitchFamily="34" charset="-122"/>
                <a:cs typeface="Courier New" pitchFamily="34" charset="-120"/>
              </a:rPr>
              <a:t>0.417   0.902</a:t>
            </a:r>
            <a:endParaRPr lang="en-US" sz="950" dirty="0"/>
          </a:p>
        </p:txBody>
      </p:sp>
      <p:sp>
        <p:nvSpPr>
          <p:cNvPr id="10" name="Text 6"/>
          <p:cNvSpPr/>
          <p:nvPr/>
        </p:nvSpPr>
        <p:spPr>
          <a:xfrm>
            <a:off x="9631375" y="3246120"/>
            <a:ext cx="1234440" cy="219456"/>
          </a:xfrm>
          <a:prstGeom prst="rect">
            <a:avLst/>
          </a:prstGeom>
          <a:noFill/>
          <a:ln/>
        </p:spPr>
        <p:txBody>
          <a:bodyPr wrap="square" lIns="0" tIns="0" rIns="0" bIns="0" rtlCol="0" anchor="ctr"/>
          <a:lstStyle/>
          <a:p>
            <a:pPr algn="ctr" indent="0" marL="0">
              <a:buNone/>
            </a:pPr>
            <a:r>
              <a:rPr lang="en-US" sz="950" dirty="0">
                <a:solidFill>
                  <a:srgbClr val="255174"/>
                </a:solidFill>
                <a:latin typeface="Courier New" pitchFamily="34" charset="0"/>
                <a:ea typeface="Courier New" pitchFamily="34" charset="-122"/>
                <a:cs typeface="Courier New" pitchFamily="34" charset="-120"/>
              </a:rPr>
              <a:t>0.773   0.264</a:t>
            </a:r>
            <a:endParaRPr lang="en-US" sz="950" dirty="0"/>
          </a:p>
        </p:txBody>
      </p:sp>
      <p:sp>
        <p:nvSpPr>
          <p:cNvPr id="11" name="Text 7"/>
          <p:cNvSpPr/>
          <p:nvPr/>
        </p:nvSpPr>
        <p:spPr>
          <a:xfrm>
            <a:off x="9082735" y="3547872"/>
            <a:ext cx="2331720" cy="237744"/>
          </a:xfrm>
          <a:prstGeom prst="rect">
            <a:avLst/>
          </a:prstGeom>
          <a:noFill/>
          <a:ln/>
        </p:spPr>
        <p:txBody>
          <a:bodyPr wrap="square" lIns="0" tIns="0" rIns="0" bIns="0" rtlCol="0" anchor="ctr"/>
          <a:lstStyle/>
          <a:p>
            <a:pPr rtl="1" algn="ctr" indent="0" marL="0">
              <a:buNone/>
            </a:pPr>
            <a:r>
              <a:rPr lang="en-US" sz="1000" dirty="0">
                <a:solidFill>
                  <a:srgbClr val="4B5B6E"/>
                </a:solidFill>
                <a:latin typeface="Tajawal" pitchFamily="34" charset="0"/>
                <a:ea typeface="Tajawal" pitchFamily="34" charset="-122"/>
                <a:cs typeface="Tajawal" pitchFamily="34" charset="-120"/>
              </a:rPr>
              <a:t>النموذج يلخص شكله في أرقام</a:t>
            </a:r>
            <a:endParaRPr lang="en-US" sz="1000" dirty="0"/>
          </a:p>
        </p:txBody>
      </p:sp>
      <p:sp>
        <p:nvSpPr>
          <p:cNvPr id="12" name="Text 8"/>
          <p:cNvSpPr/>
          <p:nvPr/>
        </p:nvSpPr>
        <p:spPr>
          <a:xfrm>
            <a:off x="9082735" y="3822192"/>
            <a:ext cx="2331720" cy="219456"/>
          </a:xfrm>
          <a:prstGeom prst="rect">
            <a:avLst/>
          </a:prstGeom>
          <a:noFill/>
          <a:ln/>
        </p:spPr>
        <p:txBody>
          <a:bodyPr wrap="square" lIns="0" tIns="0" rIns="0" bIns="0" rtlCol="0" anchor="ctr"/>
          <a:lstStyle/>
          <a:p>
            <a:pPr algn="ctr" indent="0" marL="0">
              <a:buNone/>
            </a:pPr>
            <a:r>
              <a:rPr lang="en-US" sz="1200" dirty="0">
                <a:solidFill>
                  <a:srgbClr val="8357F6"/>
                </a:solidFill>
                <a:latin typeface="Calibri" pitchFamily="34" charset="0"/>
                <a:ea typeface="Calibri" pitchFamily="34" charset="-122"/>
                <a:cs typeface="Calibri" pitchFamily="34" charset="-120"/>
              </a:rPr>
              <a:t>▼</a:t>
            </a:r>
            <a:endParaRPr lang="en-US" sz="1200" dirty="0"/>
          </a:p>
        </p:txBody>
      </p:sp>
      <p:sp>
        <p:nvSpPr>
          <p:cNvPr id="13" name="Shape 9"/>
          <p:cNvSpPr/>
          <p:nvPr/>
        </p:nvSpPr>
        <p:spPr>
          <a:xfrm>
            <a:off x="9576511" y="4096512"/>
            <a:ext cx="1344168" cy="1035558"/>
          </a:xfrm>
          <a:prstGeom prst="roundRect">
            <a:avLst>
              <a:gd name="adj" fmla="val 4415"/>
            </a:avLst>
          </a:prstGeom>
          <a:solidFill>
            <a:srgbClr val="8357F6"/>
          </a:solidFill>
          <a:ln w="12700">
            <a:solidFill>
              <a:srgbClr val="333333"/>
            </a:solidFill>
            <a:prstDash val="solid"/>
          </a:ln>
        </p:spPr>
      </p:sp>
      <p:pic>
        <p:nvPicPr>
          <p:cNvPr id="14" name="Image 2" descr="preencoded.png">    </p:cNvPr>
          <p:cNvPicPr>
            <a:picLocks noChangeAspect="1"/>
          </p:cNvPicPr>
          <p:nvPr/>
        </p:nvPicPr>
        <p:blipFill>
          <a:blip r:embed="rId3"/>
          <a:stretch>
            <a:fillRect/>
          </a:stretch>
        </p:blipFill>
        <p:spPr>
          <a:xfrm>
            <a:off x="9631375" y="4151376"/>
            <a:ext cx="1234440" cy="925830"/>
          </a:xfrm>
          <a:prstGeom prst="rect">
            <a:avLst/>
          </a:prstGeom>
        </p:spPr>
      </p:pic>
      <p:sp>
        <p:nvSpPr>
          <p:cNvPr id="15" name="Text 10"/>
          <p:cNvSpPr/>
          <p:nvPr/>
        </p:nvSpPr>
        <p:spPr>
          <a:xfrm>
            <a:off x="9082735" y="5230368"/>
            <a:ext cx="2331720" cy="237744"/>
          </a:xfrm>
          <a:prstGeom prst="rect">
            <a:avLst/>
          </a:prstGeom>
          <a:noFill/>
          <a:ln/>
        </p:spPr>
        <p:txBody>
          <a:bodyPr wrap="square" lIns="0" tIns="0" rIns="0" bIns="0" rtlCol="0" anchor="ctr"/>
          <a:lstStyle/>
          <a:p>
            <a:pPr rtl="1" algn="ctr" indent="0" marL="0">
              <a:buNone/>
            </a:pPr>
            <a:r>
              <a:rPr lang="en-US" sz="1000" dirty="0">
                <a:solidFill>
                  <a:srgbClr val="4B5B6E"/>
                </a:solidFill>
                <a:latin typeface="Tajawal" pitchFamily="34" charset="0"/>
                <a:ea typeface="Tajawal" pitchFamily="34" charset="-122"/>
                <a:cs typeface="Tajawal" pitchFamily="34" charset="-120"/>
              </a:rPr>
              <a:t>يطابقها بنقوش جبة فيعرف اسمه</a:t>
            </a:r>
            <a:endParaRPr lang="en-US" sz="1000" dirty="0"/>
          </a:p>
        </p:txBody>
      </p:sp>
      <p:sp>
        <p:nvSpPr>
          <p:cNvPr id="16" name="Shape 11"/>
          <p:cNvSpPr/>
          <p:nvPr/>
        </p:nvSpPr>
        <p:spPr>
          <a:xfrm>
            <a:off x="777240" y="1234440"/>
            <a:ext cx="7985455" cy="1225296"/>
          </a:xfrm>
          <a:prstGeom prst="roundRect">
            <a:avLst>
              <a:gd name="adj" fmla="val 5970"/>
            </a:avLst>
          </a:prstGeom>
          <a:solidFill>
            <a:srgbClr val="EEF3F9"/>
          </a:solidFill>
          <a:ln w="9525">
            <a:solidFill>
              <a:srgbClr val="D9E2EC"/>
            </a:solidFill>
            <a:prstDash val="solid"/>
          </a:ln>
        </p:spPr>
      </p:sp>
      <p:sp>
        <p:nvSpPr>
          <p:cNvPr id="17" name="Text 12"/>
          <p:cNvSpPr/>
          <p:nvPr/>
        </p:nvSpPr>
        <p:spPr>
          <a:xfrm>
            <a:off x="1014984" y="1380744"/>
            <a:ext cx="7509967" cy="292608"/>
          </a:xfrm>
          <a:prstGeom prst="rect">
            <a:avLst/>
          </a:prstGeom>
          <a:noFill/>
          <a:ln/>
        </p:spPr>
        <p:txBody>
          <a:bodyPr wrap="square" lIns="0" tIns="0" rIns="0" bIns="0" rtlCol="0" anchor="ctr"/>
          <a:lstStyle/>
          <a:p>
            <a:pPr rtl="1" algn="r" indent="0" marL="0">
              <a:buNone/>
            </a:pPr>
            <a:r>
              <a:rPr lang="en-US" sz="1350" b="1" dirty="0">
                <a:solidFill>
                  <a:srgbClr val="8357F6"/>
                </a:solidFill>
                <a:latin typeface="Tajawal" pitchFamily="34" charset="0"/>
                <a:ea typeface="Tajawal" pitchFamily="34" charset="-122"/>
                <a:cs typeface="Tajawal" pitchFamily="34" charset="-120"/>
              </a:rPr>
              <a:t>جوهرية الذكاء الاصطناعي في الحل</a:t>
            </a:r>
            <a:endParaRPr lang="en-US" sz="1350" dirty="0"/>
          </a:p>
        </p:txBody>
      </p:sp>
      <p:sp>
        <p:nvSpPr>
          <p:cNvPr id="18" name="Text 13"/>
          <p:cNvSpPr/>
          <p:nvPr/>
        </p:nvSpPr>
        <p:spPr>
          <a:xfrm>
            <a:off x="1014984" y="1728216"/>
            <a:ext cx="7509967" cy="585216"/>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بلا النموذج لا يوجد منتج: التعرف على النقش هو المنتج نفسه لا ميزة مضافة إليه. ونموذج الرؤية DINOv3 من Meta، مفتوح المصدر، تعلم أشكال الأشياء من ملايين الصور بلا وسم بشري.</a:t>
            </a:r>
            <a:endParaRPr lang="en-US" sz="1250" dirty="0"/>
          </a:p>
        </p:txBody>
      </p:sp>
      <p:sp>
        <p:nvSpPr>
          <p:cNvPr id="19" name="Shape 14"/>
          <p:cNvSpPr/>
          <p:nvPr/>
        </p:nvSpPr>
        <p:spPr>
          <a:xfrm>
            <a:off x="777240" y="2642616"/>
            <a:ext cx="7985455" cy="1572768"/>
          </a:xfrm>
          <a:prstGeom prst="roundRect">
            <a:avLst>
              <a:gd name="adj" fmla="val 4651"/>
            </a:avLst>
          </a:prstGeom>
          <a:solidFill>
            <a:srgbClr val="EEF3F9"/>
          </a:solidFill>
          <a:ln w="9525">
            <a:solidFill>
              <a:srgbClr val="D9E2EC"/>
            </a:solidFill>
            <a:prstDash val="solid"/>
          </a:ln>
        </p:spPr>
      </p:sp>
      <p:sp>
        <p:nvSpPr>
          <p:cNvPr id="20" name="Text 15"/>
          <p:cNvSpPr/>
          <p:nvPr/>
        </p:nvSpPr>
        <p:spPr>
          <a:xfrm>
            <a:off x="1014984" y="2788920"/>
            <a:ext cx="7509967" cy="292608"/>
          </a:xfrm>
          <a:prstGeom prst="rect">
            <a:avLst/>
          </a:prstGeom>
          <a:noFill/>
          <a:ln/>
        </p:spPr>
        <p:txBody>
          <a:bodyPr wrap="square" lIns="0" tIns="0" rIns="0" bIns="0" rtlCol="0" anchor="ctr"/>
          <a:lstStyle/>
          <a:p>
            <a:pPr rtl="1" algn="r" indent="0" marL="0">
              <a:buNone/>
            </a:pPr>
            <a:r>
              <a:rPr lang="en-US" sz="1350" b="1" dirty="0">
                <a:solidFill>
                  <a:srgbClr val="8357F6"/>
                </a:solidFill>
                <a:latin typeface="Tajawal" pitchFamily="34" charset="0"/>
                <a:ea typeface="Tajawal" pitchFamily="34" charset="-122"/>
                <a:cs typeface="Tajawal" pitchFamily="34" charset="-120"/>
              </a:rPr>
              <a:t>ملاءمة استخدامه للمشكلة</a:t>
            </a:r>
            <a:endParaRPr lang="en-US" sz="1350" dirty="0"/>
          </a:p>
        </p:txBody>
      </p:sp>
      <p:sp>
        <p:nvSpPr>
          <p:cNvPr id="21" name="Text 16"/>
          <p:cNvSpPr/>
          <p:nvPr/>
        </p:nvSpPr>
        <p:spPr>
          <a:xfrm>
            <a:off x="1014984" y="3136392"/>
            <a:ext cx="7509967" cy="932688"/>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المشكلة بصرية لا نصية: صخرة أمام السائح. والموقع بلا تغطية، فاخترنا نموذجا يعمل داخل الجهاز لا واجهة سحابية. وبنينا فوقه طبقة القرار: فهرس بصمات ميداني، وسلم قص يعالج اختلاف الإطار، وحكم يقول لا أعرف بدل أن يخمن.</a:t>
            </a:r>
            <a:endParaRPr lang="en-US" sz="1250" dirty="0"/>
          </a:p>
        </p:txBody>
      </p:sp>
      <p:sp>
        <p:nvSpPr>
          <p:cNvPr id="22" name="Shape 17"/>
          <p:cNvSpPr/>
          <p:nvPr/>
        </p:nvSpPr>
        <p:spPr>
          <a:xfrm>
            <a:off x="777240" y="4398264"/>
            <a:ext cx="7985455" cy="1133856"/>
          </a:xfrm>
          <a:prstGeom prst="roundRect">
            <a:avLst>
              <a:gd name="adj" fmla="val 6452"/>
            </a:avLst>
          </a:prstGeom>
          <a:solidFill>
            <a:srgbClr val="EEF3F9"/>
          </a:solidFill>
          <a:ln w="9525">
            <a:solidFill>
              <a:srgbClr val="D9E2EC"/>
            </a:solidFill>
            <a:prstDash val="solid"/>
          </a:ln>
        </p:spPr>
      </p:sp>
      <p:sp>
        <p:nvSpPr>
          <p:cNvPr id="23" name="Text 18"/>
          <p:cNvSpPr/>
          <p:nvPr/>
        </p:nvSpPr>
        <p:spPr>
          <a:xfrm>
            <a:off x="1014984" y="4544568"/>
            <a:ext cx="7509967" cy="292608"/>
          </a:xfrm>
          <a:prstGeom prst="rect">
            <a:avLst/>
          </a:prstGeom>
          <a:noFill/>
          <a:ln/>
        </p:spPr>
        <p:txBody>
          <a:bodyPr wrap="square" lIns="0" tIns="0" rIns="0" bIns="0" rtlCol="0" anchor="ctr"/>
          <a:lstStyle/>
          <a:p>
            <a:pPr rtl="1" algn="r" indent="0" marL="0">
              <a:buNone/>
            </a:pPr>
            <a:r>
              <a:rPr lang="en-US" sz="1350" b="1" dirty="0">
                <a:solidFill>
                  <a:srgbClr val="8357F6"/>
                </a:solidFill>
                <a:latin typeface="Tajawal" pitchFamily="34" charset="0"/>
                <a:ea typeface="Tajawal" pitchFamily="34" charset="-122"/>
                <a:cs typeface="Tajawal" pitchFamily="34" charset="-120"/>
              </a:rPr>
              <a:t>القيمة الحقيقية المضافة</a:t>
            </a:r>
            <a:endParaRPr lang="en-US" sz="1350" dirty="0"/>
          </a:p>
        </p:txBody>
      </p:sp>
      <p:sp>
        <p:nvSpPr>
          <p:cNvPr id="24" name="Text 19"/>
          <p:cNvSpPr/>
          <p:nvPr/>
        </p:nvSpPr>
        <p:spPr>
          <a:xfrm>
            <a:off x="1014984" y="4892040"/>
            <a:ext cx="7509967" cy="493776"/>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يتعلم من تصحيح السائح على جهازه فيتحسن بالاستعمال. وتوظيف ثان للذكاء الاصطناعي: توليد الرواية المسموعة بتسع وعشرين لغة بنماذج نطق مفتوحة المصدر.</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40080" y="1920240"/>
            <a:ext cx="4754880" cy="3017520"/>
          </a:xfrm>
          <a:prstGeom prst="rect">
            <a:avLst/>
          </a:prstGeom>
          <a:noFill/>
          <a:ln/>
        </p:spPr>
        <p:txBody>
          <a:bodyPr wrap="square" lIns="0" tIns="0" rIns="0" bIns="0" rtlCol="0" anchor="ctr"/>
          <a:lstStyle/>
          <a:p>
            <a:pPr algn="l" indent="0" marL="0">
              <a:buNone/>
            </a:pPr>
            <a:r>
              <a:rPr lang="en-US" sz="17000" b="1" dirty="0">
                <a:solidFill>
                  <a:srgbClr val="DCE5F0"/>
                </a:solidFill>
                <a:latin typeface="Calibri" pitchFamily="34" charset="0"/>
                <a:ea typeface="Calibri" pitchFamily="34" charset="-122"/>
                <a:cs typeface="Calibri" pitchFamily="34" charset="-120"/>
              </a:rPr>
              <a:t>03</a:t>
            </a:r>
            <a:endParaRPr lang="en-US" sz="17000" dirty="0"/>
          </a:p>
        </p:txBody>
      </p:sp>
      <p:sp>
        <p:nvSpPr>
          <p:cNvPr id="4" name="Text 1"/>
          <p:cNvSpPr/>
          <p:nvPr/>
        </p:nvSpPr>
        <p:spPr>
          <a:xfrm>
            <a:off x="5120640" y="2788920"/>
            <a:ext cx="6293815" cy="1280160"/>
          </a:xfrm>
          <a:prstGeom prst="rect">
            <a:avLst/>
          </a:prstGeom>
          <a:noFill/>
          <a:ln/>
        </p:spPr>
        <p:txBody>
          <a:bodyPr wrap="square" lIns="0" tIns="0" rIns="0" bIns="0" rtlCol="0" anchor="ctr"/>
          <a:lstStyle/>
          <a:p>
            <a:pPr rtl="1" algn="r" indent="0" marL="0">
              <a:buNone/>
            </a:pPr>
            <a:r>
              <a:rPr lang="en-US" sz="3600" b="1" dirty="0">
                <a:solidFill>
                  <a:srgbClr val="255174"/>
                </a:solidFill>
                <a:latin typeface="Tajawal" pitchFamily="34" charset="0"/>
                <a:ea typeface="Tajawal" pitchFamily="34" charset="-122"/>
                <a:cs typeface="Tajawal" pitchFamily="34" charset="-120"/>
              </a:rPr>
              <a:t>حاجة السوق والقيمة المقدمة</a:t>
            </a:r>
            <a:endParaRPr lang="en-US" sz="3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حاجة السوق والقيمة المقدمة</a:t>
            </a:r>
            <a:endParaRPr lang="en-US" sz="2600" dirty="0"/>
          </a:p>
        </p:txBody>
      </p:sp>
      <p:sp>
        <p:nvSpPr>
          <p:cNvPr id="4" name="Shape 1"/>
          <p:cNvSpPr/>
          <p:nvPr/>
        </p:nvSpPr>
        <p:spPr>
          <a:xfrm>
            <a:off x="6233008" y="1234440"/>
            <a:ext cx="5181448" cy="1783080"/>
          </a:xfrm>
          <a:prstGeom prst="roundRect">
            <a:avLst>
              <a:gd name="adj" fmla="val 4103"/>
            </a:avLst>
          </a:prstGeom>
          <a:solidFill>
            <a:srgbClr val="EEF3F9"/>
          </a:solidFill>
          <a:ln w="9525">
            <a:solidFill>
              <a:srgbClr val="D9E2EC"/>
            </a:solidFill>
            <a:prstDash val="solid"/>
          </a:ln>
        </p:spPr>
      </p:sp>
      <p:pic>
        <p:nvPicPr>
          <p:cNvPr id="5" name="Image 1" descr="preencoded.png">    </p:cNvPr>
          <p:cNvPicPr>
            <a:picLocks noChangeAspect="1"/>
          </p:cNvPicPr>
          <p:nvPr/>
        </p:nvPicPr>
        <p:blipFill>
          <a:blip r:embed="rId2"/>
          <a:stretch>
            <a:fillRect/>
          </a:stretch>
        </p:blipFill>
        <p:spPr>
          <a:xfrm>
            <a:off x="6489040" y="1453896"/>
            <a:ext cx="560349" cy="457200"/>
          </a:xfrm>
          <a:prstGeom prst="rect">
            <a:avLst/>
          </a:prstGeom>
        </p:spPr>
      </p:pic>
      <p:sp>
        <p:nvSpPr>
          <p:cNvPr id="6" name="Text 2"/>
          <p:cNvSpPr/>
          <p:nvPr/>
        </p:nvSpPr>
        <p:spPr>
          <a:xfrm>
            <a:off x="6507328" y="1472184"/>
            <a:ext cx="3889579" cy="329184"/>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المشكلة</a:t>
            </a:r>
            <a:endParaRPr lang="en-US" sz="1500" dirty="0"/>
          </a:p>
        </p:txBody>
      </p:sp>
      <p:sp>
        <p:nvSpPr>
          <p:cNvPr id="7" name="Text 3"/>
          <p:cNvSpPr/>
          <p:nvPr/>
        </p:nvSpPr>
        <p:spPr>
          <a:xfrm>
            <a:off x="6507328" y="2020824"/>
            <a:ext cx="4632808" cy="832104"/>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جبة مسجلة في قائمة التراث العالمي لليونسكو، وفيها مئات النقوش. والسائح يقف أمام الصخرة فلا يعرف ما أمامه ولا كم عمره. ولا تغطية شبكة في الموقع.</a:t>
            </a:r>
            <a:endParaRPr lang="en-US" sz="1250" dirty="0"/>
          </a:p>
        </p:txBody>
      </p:sp>
      <p:sp>
        <p:nvSpPr>
          <p:cNvPr id="8" name="Shape 4"/>
          <p:cNvSpPr/>
          <p:nvPr/>
        </p:nvSpPr>
        <p:spPr>
          <a:xfrm>
            <a:off x="777240" y="1234440"/>
            <a:ext cx="5181448" cy="1783080"/>
          </a:xfrm>
          <a:prstGeom prst="roundRect">
            <a:avLst>
              <a:gd name="adj" fmla="val 4103"/>
            </a:avLst>
          </a:prstGeom>
          <a:solidFill>
            <a:srgbClr val="EEF3F9"/>
          </a:solidFill>
          <a:ln w="9525">
            <a:solidFill>
              <a:srgbClr val="D9E2EC"/>
            </a:solidFill>
            <a:prstDash val="solid"/>
          </a:ln>
        </p:spPr>
      </p:sp>
      <p:pic>
        <p:nvPicPr>
          <p:cNvPr id="9" name="Image 2" descr="preencoded.png">    </p:cNvPr>
          <p:cNvPicPr>
            <a:picLocks noChangeAspect="1"/>
          </p:cNvPicPr>
          <p:nvPr/>
        </p:nvPicPr>
        <p:blipFill>
          <a:blip r:embed="rId3"/>
          <a:stretch>
            <a:fillRect/>
          </a:stretch>
        </p:blipFill>
        <p:spPr>
          <a:xfrm>
            <a:off x="1033272" y="1453896"/>
            <a:ext cx="493986" cy="457200"/>
          </a:xfrm>
          <a:prstGeom prst="rect">
            <a:avLst/>
          </a:prstGeom>
        </p:spPr>
      </p:pic>
      <p:sp>
        <p:nvSpPr>
          <p:cNvPr id="10" name="Text 5"/>
          <p:cNvSpPr/>
          <p:nvPr/>
        </p:nvSpPr>
        <p:spPr>
          <a:xfrm>
            <a:off x="1051560" y="1472184"/>
            <a:ext cx="3955941" cy="329184"/>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الفئة المستهدفة</a:t>
            </a:r>
            <a:endParaRPr lang="en-US" sz="1500" dirty="0"/>
          </a:p>
        </p:txBody>
      </p:sp>
      <p:sp>
        <p:nvSpPr>
          <p:cNvPr id="11" name="Text 6"/>
          <p:cNvSpPr/>
          <p:nvPr/>
        </p:nvSpPr>
        <p:spPr>
          <a:xfrm>
            <a:off x="1051560" y="2020824"/>
            <a:ext cx="4632808" cy="832104"/>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سياح جبة والشويمس من داخل المملكة وخارجها، والرحلات المدرسية والجامعية، وهيئة التراث ومركز الزوار، والمنشآت المحلية التي تريد الوصول إلى السائح.</a:t>
            </a:r>
            <a:endParaRPr lang="en-US" sz="1250" dirty="0"/>
          </a:p>
        </p:txBody>
      </p:sp>
      <p:sp>
        <p:nvSpPr>
          <p:cNvPr id="12" name="Shape 7"/>
          <p:cNvSpPr/>
          <p:nvPr/>
        </p:nvSpPr>
        <p:spPr>
          <a:xfrm>
            <a:off x="6233008" y="3273552"/>
            <a:ext cx="5181448" cy="1783080"/>
          </a:xfrm>
          <a:prstGeom prst="roundRect">
            <a:avLst>
              <a:gd name="adj" fmla="val 4103"/>
            </a:avLst>
          </a:prstGeom>
          <a:solidFill>
            <a:srgbClr val="EEF3F9"/>
          </a:solidFill>
          <a:ln w="9525">
            <a:solidFill>
              <a:srgbClr val="D9E2EC"/>
            </a:solidFill>
            <a:prstDash val="solid"/>
          </a:ln>
        </p:spPr>
      </p:sp>
      <p:pic>
        <p:nvPicPr>
          <p:cNvPr id="13" name="Image 3" descr="preencoded.png">    </p:cNvPr>
          <p:cNvPicPr>
            <a:picLocks noChangeAspect="1"/>
          </p:cNvPicPr>
          <p:nvPr/>
        </p:nvPicPr>
        <p:blipFill>
          <a:blip r:embed="rId4"/>
          <a:stretch>
            <a:fillRect/>
          </a:stretch>
        </p:blipFill>
        <p:spPr>
          <a:xfrm>
            <a:off x="6489040" y="3493008"/>
            <a:ext cx="391187" cy="457200"/>
          </a:xfrm>
          <a:prstGeom prst="rect">
            <a:avLst/>
          </a:prstGeom>
        </p:spPr>
      </p:pic>
      <p:sp>
        <p:nvSpPr>
          <p:cNvPr id="14" name="Text 8"/>
          <p:cNvSpPr/>
          <p:nvPr/>
        </p:nvSpPr>
        <p:spPr>
          <a:xfrm>
            <a:off x="6507328" y="3511296"/>
            <a:ext cx="4058740" cy="329184"/>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الحاجة الفعلية</a:t>
            </a:r>
            <a:endParaRPr lang="en-US" sz="1500" dirty="0"/>
          </a:p>
        </p:txBody>
      </p:sp>
      <p:sp>
        <p:nvSpPr>
          <p:cNvPr id="15" name="Text 9"/>
          <p:cNvSpPr/>
          <p:nvPr/>
        </p:nvSpPr>
        <p:spPr>
          <a:xfrm>
            <a:off x="6507328" y="4059936"/>
            <a:ext cx="4632808" cy="832104"/>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سياح من كل مكان ولغة، وموقع في الصحراء المفتوحة: كل حل يعتمد على السحابة يسقط هناك، وكل حل بلغة واحدة يترك أكثر السياح.</a:t>
            </a:r>
            <a:endParaRPr lang="en-US" sz="1250" dirty="0"/>
          </a:p>
        </p:txBody>
      </p:sp>
      <p:sp>
        <p:nvSpPr>
          <p:cNvPr id="16" name="Shape 10"/>
          <p:cNvSpPr/>
          <p:nvPr/>
        </p:nvSpPr>
        <p:spPr>
          <a:xfrm>
            <a:off x="777240" y="3273552"/>
            <a:ext cx="5181448" cy="1783080"/>
          </a:xfrm>
          <a:prstGeom prst="roundRect">
            <a:avLst>
              <a:gd name="adj" fmla="val 4103"/>
            </a:avLst>
          </a:prstGeom>
          <a:solidFill>
            <a:srgbClr val="EEF3F9"/>
          </a:solidFill>
          <a:ln w="9525">
            <a:solidFill>
              <a:srgbClr val="D9E2EC"/>
            </a:solidFill>
            <a:prstDash val="solid"/>
          </a:ln>
        </p:spPr>
      </p:sp>
      <p:pic>
        <p:nvPicPr>
          <p:cNvPr id="17" name="Image 4" descr="preencoded.png">    </p:cNvPr>
          <p:cNvPicPr>
            <a:picLocks noChangeAspect="1"/>
          </p:cNvPicPr>
          <p:nvPr/>
        </p:nvPicPr>
        <p:blipFill>
          <a:blip r:embed="rId5"/>
          <a:stretch>
            <a:fillRect/>
          </a:stretch>
        </p:blipFill>
        <p:spPr>
          <a:xfrm>
            <a:off x="1033272" y="3493008"/>
            <a:ext cx="720896" cy="457200"/>
          </a:xfrm>
          <a:prstGeom prst="rect">
            <a:avLst/>
          </a:prstGeom>
        </p:spPr>
      </p:pic>
      <p:sp>
        <p:nvSpPr>
          <p:cNvPr id="18" name="Text 11"/>
          <p:cNvSpPr/>
          <p:nvPr/>
        </p:nvSpPr>
        <p:spPr>
          <a:xfrm>
            <a:off x="1051560" y="3511296"/>
            <a:ext cx="3729031" cy="329184"/>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القيمة المقدمة</a:t>
            </a:r>
            <a:endParaRPr lang="en-US" sz="1500" dirty="0"/>
          </a:p>
        </p:txBody>
      </p:sp>
      <p:sp>
        <p:nvSpPr>
          <p:cNvPr id="19" name="Text 12"/>
          <p:cNvSpPr/>
          <p:nvPr/>
        </p:nvSpPr>
        <p:spPr>
          <a:xfrm>
            <a:off x="1051560" y="4059936"/>
            <a:ext cx="4632808" cy="832104"/>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للسائح: يعرف ما أمامه بلغته وبصوت. وللجهة المشغلة: تجربة سائح أفضل بصفر تكلفة تشغيل، ودون بنية تحتية تحتاج إلى إدارة.</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40080" y="1920240"/>
            <a:ext cx="4754880" cy="3017520"/>
          </a:xfrm>
          <a:prstGeom prst="rect">
            <a:avLst/>
          </a:prstGeom>
          <a:noFill/>
          <a:ln/>
        </p:spPr>
        <p:txBody>
          <a:bodyPr wrap="square" lIns="0" tIns="0" rIns="0" bIns="0" rtlCol="0" anchor="ctr"/>
          <a:lstStyle/>
          <a:p>
            <a:pPr algn="l" indent="0" marL="0">
              <a:buNone/>
            </a:pPr>
            <a:r>
              <a:rPr lang="en-US" sz="17000" b="1" dirty="0">
                <a:solidFill>
                  <a:srgbClr val="DCE5F0"/>
                </a:solidFill>
                <a:latin typeface="Calibri" pitchFamily="34" charset="0"/>
                <a:ea typeface="Calibri" pitchFamily="34" charset="-122"/>
                <a:cs typeface="Calibri" pitchFamily="34" charset="-120"/>
              </a:rPr>
              <a:t>04</a:t>
            </a:r>
            <a:endParaRPr lang="en-US" sz="17000" dirty="0"/>
          </a:p>
        </p:txBody>
      </p:sp>
      <p:sp>
        <p:nvSpPr>
          <p:cNvPr id="4" name="Text 1"/>
          <p:cNvSpPr/>
          <p:nvPr/>
        </p:nvSpPr>
        <p:spPr>
          <a:xfrm>
            <a:off x="5120640" y="2788920"/>
            <a:ext cx="6293815" cy="1280160"/>
          </a:xfrm>
          <a:prstGeom prst="rect">
            <a:avLst/>
          </a:prstGeom>
          <a:noFill/>
          <a:ln/>
        </p:spPr>
        <p:txBody>
          <a:bodyPr wrap="square" lIns="0" tIns="0" rIns="0" bIns="0" rtlCol="0" anchor="ctr"/>
          <a:lstStyle/>
          <a:p>
            <a:pPr rtl="1" algn="r" indent="0" marL="0">
              <a:buNone/>
            </a:pPr>
            <a:r>
              <a:rPr lang="en-US" sz="3600" b="1" dirty="0">
                <a:solidFill>
                  <a:srgbClr val="255174"/>
                </a:solidFill>
                <a:latin typeface="Tajawal" pitchFamily="34" charset="0"/>
                <a:ea typeface="Tajawal" pitchFamily="34" charset="-122"/>
                <a:cs typeface="Tajawal" pitchFamily="34" charset="-120"/>
              </a:rPr>
              <a:t>جودة الحل والنموذج الأولي MVP</a:t>
            </a:r>
            <a:endParaRPr lang="en-US" sz="3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جودة الحل والنموذج الأولي MVP</a:t>
            </a:r>
            <a:endParaRPr lang="en-US" sz="2600" dirty="0"/>
          </a:p>
        </p:txBody>
      </p:sp>
      <p:sp>
        <p:nvSpPr>
          <p:cNvPr id="4" name="Text 1"/>
          <p:cNvSpPr/>
          <p:nvPr/>
        </p:nvSpPr>
        <p:spPr>
          <a:xfrm>
            <a:off x="777240" y="1115568"/>
            <a:ext cx="10637215" cy="310896"/>
          </a:xfrm>
          <a:prstGeom prst="rect">
            <a:avLst/>
          </a:prstGeom>
          <a:noFill/>
          <a:ln/>
        </p:spPr>
        <p:txBody>
          <a:bodyPr wrap="square" lIns="0" tIns="0" rIns="0" bIns="0" rtlCol="0" anchor="ctr"/>
          <a:lstStyle/>
          <a:p>
            <a:pPr rtl="1" algn="r" indent="0" marL="0">
              <a:buNone/>
            </a:pPr>
            <a:r>
              <a:rPr lang="en-US" sz="1300" dirty="0">
                <a:solidFill>
                  <a:srgbClr val="4B5B6E"/>
                </a:solidFill>
                <a:latin typeface="Tajawal" pitchFamily="34" charset="0"/>
                <a:ea typeface="Tajawal" pitchFamily="34" charset="-122"/>
                <a:cs typeface="Tajawal" pitchFamily="34" charset="-120"/>
              </a:rPr>
              <a:t>تطبيق يعمل الآن على الويب، يفتح من الرابط بلا تنزيل:   w-electro.github.io/athr</a:t>
            </a:r>
            <a:endParaRPr lang="en-US" sz="1300" dirty="0"/>
          </a:p>
        </p:txBody>
      </p:sp>
      <p:pic>
        <p:nvPicPr>
          <p:cNvPr id="5" name="Image 1" descr="preencoded.png">    </p:cNvPr>
          <p:cNvPicPr>
            <a:picLocks noChangeAspect="1"/>
          </p:cNvPicPr>
          <p:nvPr/>
        </p:nvPicPr>
        <p:blipFill>
          <a:blip r:embed="rId2"/>
          <a:stretch>
            <a:fillRect/>
          </a:stretch>
        </p:blipFill>
        <p:spPr>
          <a:xfrm>
            <a:off x="10297399" y="1536192"/>
            <a:ext cx="1117057" cy="2331720"/>
          </a:xfrm>
          <a:prstGeom prst="rect">
            <a:avLst/>
          </a:prstGeom>
        </p:spPr>
      </p:pic>
      <p:sp>
        <p:nvSpPr>
          <p:cNvPr id="6" name="Text 2"/>
          <p:cNvSpPr/>
          <p:nvPr/>
        </p:nvSpPr>
        <p:spPr>
          <a:xfrm>
            <a:off x="10187671" y="3941064"/>
            <a:ext cx="1336513" cy="256032"/>
          </a:xfrm>
          <a:prstGeom prst="rect">
            <a:avLst/>
          </a:prstGeom>
          <a:noFill/>
          <a:ln/>
        </p:spPr>
        <p:txBody>
          <a:bodyPr wrap="square" lIns="0" tIns="0" rIns="0" bIns="0" rtlCol="0" anchor="ctr"/>
          <a:lstStyle/>
          <a:p>
            <a:pPr rtl="1" algn="ctr" indent="0" marL="0">
              <a:buNone/>
            </a:pPr>
            <a:r>
              <a:rPr lang="en-US" sz="1050" dirty="0">
                <a:solidFill>
                  <a:srgbClr val="4B5B6E"/>
                </a:solidFill>
                <a:latin typeface="Tajawal" pitchFamily="34" charset="0"/>
                <a:ea typeface="Tajawal" pitchFamily="34" charset="-122"/>
                <a:cs typeface="Tajawal" pitchFamily="34" charset="-120"/>
              </a:rPr>
              <a:t>اختيار اللغة</a:t>
            </a:r>
            <a:endParaRPr lang="en-US" sz="1050" dirty="0"/>
          </a:p>
        </p:txBody>
      </p:sp>
      <p:pic>
        <p:nvPicPr>
          <p:cNvPr id="7" name="Image 2" descr="preencoded.png">    </p:cNvPr>
          <p:cNvPicPr>
            <a:picLocks noChangeAspect="1"/>
          </p:cNvPicPr>
          <p:nvPr/>
        </p:nvPicPr>
        <p:blipFill>
          <a:blip r:embed="rId3"/>
          <a:stretch>
            <a:fillRect/>
          </a:stretch>
        </p:blipFill>
        <p:spPr>
          <a:xfrm>
            <a:off x="7917359" y="1536192"/>
            <a:ext cx="1117057" cy="2331720"/>
          </a:xfrm>
          <a:prstGeom prst="rect">
            <a:avLst/>
          </a:prstGeom>
        </p:spPr>
      </p:pic>
      <p:sp>
        <p:nvSpPr>
          <p:cNvPr id="8" name="Text 3"/>
          <p:cNvSpPr/>
          <p:nvPr/>
        </p:nvSpPr>
        <p:spPr>
          <a:xfrm>
            <a:off x="7807631" y="3941064"/>
            <a:ext cx="1336513" cy="256032"/>
          </a:xfrm>
          <a:prstGeom prst="rect">
            <a:avLst/>
          </a:prstGeom>
          <a:noFill/>
          <a:ln/>
        </p:spPr>
        <p:txBody>
          <a:bodyPr wrap="square" lIns="0" tIns="0" rIns="0" bIns="0" rtlCol="0" anchor="ctr"/>
          <a:lstStyle/>
          <a:p>
            <a:pPr rtl="1" algn="ctr" indent="0" marL="0">
              <a:buNone/>
            </a:pPr>
            <a:r>
              <a:rPr lang="en-US" sz="1050" dirty="0">
                <a:solidFill>
                  <a:srgbClr val="4B5B6E"/>
                </a:solidFill>
                <a:latin typeface="Tajawal" pitchFamily="34" charset="0"/>
                <a:ea typeface="Tajawal" pitchFamily="34" charset="-122"/>
                <a:cs typeface="Tajawal" pitchFamily="34" charset="-120"/>
              </a:rPr>
              <a:t>الاستكشاف</a:t>
            </a:r>
            <a:endParaRPr lang="en-US" sz="1050" dirty="0"/>
          </a:p>
        </p:txBody>
      </p:sp>
      <p:pic>
        <p:nvPicPr>
          <p:cNvPr id="9" name="Image 3" descr="preencoded.png">    </p:cNvPr>
          <p:cNvPicPr>
            <a:picLocks noChangeAspect="1"/>
          </p:cNvPicPr>
          <p:nvPr/>
        </p:nvPicPr>
        <p:blipFill>
          <a:blip r:embed="rId4"/>
          <a:stretch>
            <a:fillRect/>
          </a:stretch>
        </p:blipFill>
        <p:spPr>
          <a:xfrm>
            <a:off x="5537319" y="1536192"/>
            <a:ext cx="1117057" cy="2331720"/>
          </a:xfrm>
          <a:prstGeom prst="rect">
            <a:avLst/>
          </a:prstGeom>
        </p:spPr>
      </p:pic>
      <p:sp>
        <p:nvSpPr>
          <p:cNvPr id="10" name="Text 4"/>
          <p:cNvSpPr/>
          <p:nvPr/>
        </p:nvSpPr>
        <p:spPr>
          <a:xfrm>
            <a:off x="5427591" y="3941064"/>
            <a:ext cx="1336513" cy="256032"/>
          </a:xfrm>
          <a:prstGeom prst="rect">
            <a:avLst/>
          </a:prstGeom>
          <a:noFill/>
          <a:ln/>
        </p:spPr>
        <p:txBody>
          <a:bodyPr wrap="square" lIns="0" tIns="0" rIns="0" bIns="0" rtlCol="0" anchor="ctr"/>
          <a:lstStyle/>
          <a:p>
            <a:pPr rtl="1" algn="ctr" indent="0" marL="0">
              <a:buNone/>
            </a:pPr>
            <a:r>
              <a:rPr lang="en-US" sz="1050" dirty="0">
                <a:solidFill>
                  <a:srgbClr val="4B5B6E"/>
                </a:solidFill>
                <a:latin typeface="Tajawal" pitchFamily="34" charset="0"/>
                <a:ea typeface="Tajawal" pitchFamily="34" charset="-122"/>
                <a:cs typeface="Tajawal" pitchFamily="34" charset="-120"/>
              </a:rPr>
              <a:t>القصة والصوت</a:t>
            </a:r>
            <a:endParaRPr lang="en-US" sz="1050" dirty="0"/>
          </a:p>
        </p:txBody>
      </p:sp>
      <p:pic>
        <p:nvPicPr>
          <p:cNvPr id="11" name="Image 4" descr="preencoded.png">    </p:cNvPr>
          <p:cNvPicPr>
            <a:picLocks noChangeAspect="1"/>
          </p:cNvPicPr>
          <p:nvPr/>
        </p:nvPicPr>
        <p:blipFill>
          <a:blip r:embed="rId5"/>
          <a:stretch>
            <a:fillRect/>
          </a:stretch>
        </p:blipFill>
        <p:spPr>
          <a:xfrm>
            <a:off x="3157280" y="1536192"/>
            <a:ext cx="1117057" cy="2331720"/>
          </a:xfrm>
          <a:prstGeom prst="rect">
            <a:avLst/>
          </a:prstGeom>
        </p:spPr>
      </p:pic>
      <p:sp>
        <p:nvSpPr>
          <p:cNvPr id="12" name="Text 5"/>
          <p:cNvSpPr/>
          <p:nvPr/>
        </p:nvSpPr>
        <p:spPr>
          <a:xfrm>
            <a:off x="3047552" y="3941064"/>
            <a:ext cx="1336513" cy="256032"/>
          </a:xfrm>
          <a:prstGeom prst="rect">
            <a:avLst/>
          </a:prstGeom>
          <a:noFill/>
          <a:ln/>
        </p:spPr>
        <p:txBody>
          <a:bodyPr wrap="square" lIns="0" tIns="0" rIns="0" bIns="0" rtlCol="0" anchor="ctr"/>
          <a:lstStyle/>
          <a:p>
            <a:pPr rtl="1" algn="ctr" indent="0" marL="0">
              <a:buNone/>
            </a:pPr>
            <a:r>
              <a:rPr lang="en-US" sz="1050" dirty="0">
                <a:solidFill>
                  <a:srgbClr val="4B5B6E"/>
                </a:solidFill>
                <a:latin typeface="Tajawal" pitchFamily="34" charset="0"/>
                <a:ea typeface="Tajawal" pitchFamily="34" charset="-122"/>
                <a:cs typeface="Tajawal" pitchFamily="34" charset="-120"/>
              </a:rPr>
              <a:t>المسح</a:t>
            </a:r>
            <a:endParaRPr lang="en-US" sz="1050" dirty="0"/>
          </a:p>
        </p:txBody>
      </p:sp>
      <p:pic>
        <p:nvPicPr>
          <p:cNvPr id="13" name="Image 5" descr="preencoded.png">    </p:cNvPr>
          <p:cNvPicPr>
            <a:picLocks noChangeAspect="1"/>
          </p:cNvPicPr>
          <p:nvPr/>
        </p:nvPicPr>
        <p:blipFill>
          <a:blip r:embed="rId6"/>
          <a:stretch>
            <a:fillRect/>
          </a:stretch>
        </p:blipFill>
        <p:spPr>
          <a:xfrm>
            <a:off x="777240" y="1536192"/>
            <a:ext cx="1117057" cy="2331720"/>
          </a:xfrm>
          <a:prstGeom prst="rect">
            <a:avLst/>
          </a:prstGeom>
        </p:spPr>
      </p:pic>
      <p:sp>
        <p:nvSpPr>
          <p:cNvPr id="14" name="Text 6"/>
          <p:cNvSpPr/>
          <p:nvPr/>
        </p:nvSpPr>
        <p:spPr>
          <a:xfrm>
            <a:off x="667512" y="3941064"/>
            <a:ext cx="1336513" cy="256032"/>
          </a:xfrm>
          <a:prstGeom prst="rect">
            <a:avLst/>
          </a:prstGeom>
          <a:noFill/>
          <a:ln/>
        </p:spPr>
        <p:txBody>
          <a:bodyPr wrap="square" lIns="0" tIns="0" rIns="0" bIns="0" rtlCol="0" anchor="ctr"/>
          <a:lstStyle/>
          <a:p>
            <a:pPr rtl="1" algn="ctr" indent="0" marL="0">
              <a:buNone/>
            </a:pPr>
            <a:r>
              <a:rPr lang="en-US" sz="1050" dirty="0">
                <a:solidFill>
                  <a:srgbClr val="4B5B6E"/>
                </a:solidFill>
                <a:latin typeface="Tajawal" pitchFamily="34" charset="0"/>
                <a:ea typeface="Tajawal" pitchFamily="34" charset="-122"/>
                <a:cs typeface="Tajawal" pitchFamily="34" charset="-120"/>
              </a:rPr>
              <a:t>بناء الرحلة</a:t>
            </a:r>
            <a:endParaRPr lang="en-US" sz="1050" dirty="0"/>
          </a:p>
        </p:txBody>
      </p:sp>
      <p:sp>
        <p:nvSpPr>
          <p:cNvPr id="15" name="Shape 7"/>
          <p:cNvSpPr/>
          <p:nvPr/>
        </p:nvSpPr>
        <p:spPr>
          <a:xfrm>
            <a:off x="8933459" y="4498848"/>
            <a:ext cx="2480996" cy="1225296"/>
          </a:xfrm>
          <a:prstGeom prst="roundRect">
            <a:avLst>
              <a:gd name="adj" fmla="val 5970"/>
            </a:avLst>
          </a:prstGeom>
          <a:solidFill>
            <a:srgbClr val="EEF3F9"/>
          </a:solidFill>
          <a:ln w="9525">
            <a:solidFill>
              <a:srgbClr val="D9E2EC"/>
            </a:solidFill>
            <a:prstDash val="solid"/>
          </a:ln>
        </p:spPr>
      </p:sp>
      <p:sp>
        <p:nvSpPr>
          <p:cNvPr id="16" name="Text 8"/>
          <p:cNvSpPr/>
          <p:nvPr/>
        </p:nvSpPr>
        <p:spPr>
          <a:xfrm>
            <a:off x="8933459" y="4645152"/>
            <a:ext cx="2480996" cy="548640"/>
          </a:xfrm>
          <a:prstGeom prst="rect">
            <a:avLst/>
          </a:prstGeom>
          <a:noFill/>
          <a:ln/>
        </p:spPr>
        <p:txBody>
          <a:bodyPr wrap="square" lIns="0" tIns="0" rIns="0" bIns="0" rtlCol="0" anchor="ctr"/>
          <a:lstStyle/>
          <a:p>
            <a:pPr algn="ctr" indent="0" marL="0">
              <a:buNone/>
            </a:pPr>
            <a:r>
              <a:rPr lang="en-US" sz="2800" b="1" dirty="0">
                <a:solidFill>
                  <a:srgbClr val="255174"/>
                </a:solidFill>
                <a:latin typeface="Calibri" pitchFamily="34" charset="0"/>
                <a:ea typeface="Calibri" pitchFamily="34" charset="-122"/>
                <a:cs typeface="Calibri" pitchFamily="34" charset="-120"/>
              </a:rPr>
              <a:t>96.5%</a:t>
            </a:r>
            <a:endParaRPr lang="en-US" sz="2800" dirty="0"/>
          </a:p>
        </p:txBody>
      </p:sp>
      <p:sp>
        <p:nvSpPr>
          <p:cNvPr id="17" name="Text 9"/>
          <p:cNvSpPr/>
          <p:nvPr/>
        </p:nvSpPr>
        <p:spPr>
          <a:xfrm>
            <a:off x="9043187" y="5230368"/>
            <a:ext cx="2261540"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تعرف صحيح على</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صور الموقع</a:t>
            </a:r>
            <a:endParaRPr lang="en-US" sz="1100" dirty="0"/>
          </a:p>
        </p:txBody>
      </p:sp>
      <p:sp>
        <p:nvSpPr>
          <p:cNvPr id="18" name="Shape 10"/>
          <p:cNvSpPr/>
          <p:nvPr/>
        </p:nvSpPr>
        <p:spPr>
          <a:xfrm>
            <a:off x="6214720" y="4498848"/>
            <a:ext cx="2480996" cy="1225296"/>
          </a:xfrm>
          <a:prstGeom prst="roundRect">
            <a:avLst>
              <a:gd name="adj" fmla="val 5970"/>
            </a:avLst>
          </a:prstGeom>
          <a:solidFill>
            <a:srgbClr val="EEF3F9"/>
          </a:solidFill>
          <a:ln w="9525">
            <a:solidFill>
              <a:srgbClr val="D9E2EC"/>
            </a:solidFill>
            <a:prstDash val="solid"/>
          </a:ln>
        </p:spPr>
      </p:sp>
      <p:sp>
        <p:nvSpPr>
          <p:cNvPr id="19" name="Text 11"/>
          <p:cNvSpPr/>
          <p:nvPr/>
        </p:nvSpPr>
        <p:spPr>
          <a:xfrm>
            <a:off x="6214720" y="4645152"/>
            <a:ext cx="2480996" cy="548640"/>
          </a:xfrm>
          <a:prstGeom prst="rect">
            <a:avLst/>
          </a:prstGeom>
          <a:noFill/>
          <a:ln/>
        </p:spPr>
        <p:txBody>
          <a:bodyPr wrap="square" lIns="0" tIns="0" rIns="0" bIns="0" rtlCol="0" anchor="ctr"/>
          <a:lstStyle/>
          <a:p>
            <a:pPr algn="ctr" indent="0" marL="0">
              <a:buNone/>
            </a:pPr>
            <a:r>
              <a:rPr lang="en-US" sz="2800" b="1" dirty="0">
                <a:solidFill>
                  <a:srgbClr val="8357F6"/>
                </a:solidFill>
                <a:latin typeface="Calibri" pitchFamily="34" charset="0"/>
                <a:ea typeface="Calibri" pitchFamily="34" charset="-122"/>
                <a:cs typeface="Calibri" pitchFamily="34" charset="-120"/>
              </a:rPr>
              <a:t>0</a:t>
            </a:r>
            <a:endParaRPr lang="en-US" sz="2800" dirty="0"/>
          </a:p>
        </p:txBody>
      </p:sp>
      <p:sp>
        <p:nvSpPr>
          <p:cNvPr id="20" name="Text 12"/>
          <p:cNvSpPr/>
          <p:nvPr/>
        </p:nvSpPr>
        <p:spPr>
          <a:xfrm>
            <a:off x="6324448" y="5230368"/>
            <a:ext cx="2261540"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إجابة خاطئة على 175</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صورة من خارج الفهرس</a:t>
            </a:r>
            <a:endParaRPr lang="en-US" sz="1100" dirty="0"/>
          </a:p>
        </p:txBody>
      </p:sp>
      <p:sp>
        <p:nvSpPr>
          <p:cNvPr id="21" name="Shape 13"/>
          <p:cNvSpPr/>
          <p:nvPr/>
        </p:nvSpPr>
        <p:spPr>
          <a:xfrm>
            <a:off x="3495980" y="4498848"/>
            <a:ext cx="2480996" cy="1225296"/>
          </a:xfrm>
          <a:prstGeom prst="roundRect">
            <a:avLst>
              <a:gd name="adj" fmla="val 5970"/>
            </a:avLst>
          </a:prstGeom>
          <a:solidFill>
            <a:srgbClr val="EEF3F9"/>
          </a:solidFill>
          <a:ln w="9525">
            <a:solidFill>
              <a:srgbClr val="D9E2EC"/>
            </a:solidFill>
            <a:prstDash val="solid"/>
          </a:ln>
        </p:spPr>
      </p:sp>
      <p:sp>
        <p:nvSpPr>
          <p:cNvPr id="22" name="Text 14"/>
          <p:cNvSpPr/>
          <p:nvPr/>
        </p:nvSpPr>
        <p:spPr>
          <a:xfrm>
            <a:off x="3495980" y="4645152"/>
            <a:ext cx="2480996" cy="548640"/>
          </a:xfrm>
          <a:prstGeom prst="rect">
            <a:avLst/>
          </a:prstGeom>
          <a:noFill/>
          <a:ln/>
        </p:spPr>
        <p:txBody>
          <a:bodyPr wrap="square" lIns="0" tIns="0" rIns="0" bIns="0" rtlCol="0" anchor="ctr"/>
          <a:lstStyle/>
          <a:p>
            <a:pPr algn="ctr" indent="0" marL="0">
              <a:buNone/>
            </a:pPr>
            <a:r>
              <a:rPr lang="en-US" sz="2800" b="1" dirty="0">
                <a:solidFill>
                  <a:srgbClr val="255174"/>
                </a:solidFill>
                <a:latin typeface="Calibri" pitchFamily="34" charset="0"/>
                <a:ea typeface="Calibri" pitchFamily="34" charset="-122"/>
                <a:cs typeface="Calibri" pitchFamily="34" charset="-120"/>
              </a:rPr>
              <a:t>663</a:t>
            </a:r>
            <a:endParaRPr lang="en-US" sz="2800" dirty="0"/>
          </a:p>
        </p:txBody>
      </p:sp>
      <p:sp>
        <p:nvSpPr>
          <p:cNvPr id="23" name="Text 15"/>
          <p:cNvSpPr/>
          <p:nvPr/>
        </p:nvSpPr>
        <p:spPr>
          <a:xfrm>
            <a:off x="3605708" y="5230368"/>
            <a:ext cx="2261540"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اختبارا آليا تعمل</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مع كل تعديل</a:t>
            </a:r>
            <a:endParaRPr lang="en-US" sz="1100" dirty="0"/>
          </a:p>
        </p:txBody>
      </p:sp>
      <p:sp>
        <p:nvSpPr>
          <p:cNvPr id="24" name="Shape 16"/>
          <p:cNvSpPr/>
          <p:nvPr/>
        </p:nvSpPr>
        <p:spPr>
          <a:xfrm>
            <a:off x="777240" y="4498848"/>
            <a:ext cx="2480996" cy="1225296"/>
          </a:xfrm>
          <a:prstGeom prst="roundRect">
            <a:avLst>
              <a:gd name="adj" fmla="val 5970"/>
            </a:avLst>
          </a:prstGeom>
          <a:solidFill>
            <a:srgbClr val="EEF3F9"/>
          </a:solidFill>
          <a:ln w="9525">
            <a:solidFill>
              <a:srgbClr val="D9E2EC"/>
            </a:solidFill>
            <a:prstDash val="solid"/>
          </a:ln>
        </p:spPr>
      </p:sp>
      <p:sp>
        <p:nvSpPr>
          <p:cNvPr id="25" name="Text 17"/>
          <p:cNvSpPr/>
          <p:nvPr/>
        </p:nvSpPr>
        <p:spPr>
          <a:xfrm>
            <a:off x="777240" y="4645152"/>
            <a:ext cx="2480996" cy="548640"/>
          </a:xfrm>
          <a:prstGeom prst="rect">
            <a:avLst/>
          </a:prstGeom>
          <a:noFill/>
          <a:ln/>
        </p:spPr>
        <p:txBody>
          <a:bodyPr wrap="square" lIns="0" tIns="0" rIns="0" bIns="0" rtlCol="0" anchor="ctr"/>
          <a:lstStyle/>
          <a:p>
            <a:pPr algn="ctr" indent="0" marL="0">
              <a:buNone/>
            </a:pPr>
            <a:r>
              <a:rPr lang="en-US" sz="2800" b="1" dirty="0">
                <a:solidFill>
                  <a:srgbClr val="255174"/>
                </a:solidFill>
                <a:latin typeface="Calibri" pitchFamily="34" charset="0"/>
                <a:ea typeface="Calibri" pitchFamily="34" charset="-122"/>
                <a:cs typeface="Calibri" pitchFamily="34" charset="-120"/>
              </a:rPr>
              <a:t>174</a:t>
            </a:r>
            <a:endParaRPr lang="en-US" sz="2800" dirty="0"/>
          </a:p>
        </p:txBody>
      </p:sp>
      <p:sp>
        <p:nvSpPr>
          <p:cNvPr id="26" name="Text 18"/>
          <p:cNvSpPr/>
          <p:nvPr/>
        </p:nvSpPr>
        <p:spPr>
          <a:xfrm>
            <a:off x="886968" y="5230368"/>
            <a:ext cx="2261540"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مقطعا صوتيا</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في 29 لغة</a:t>
            </a:r>
            <a:endParaRPr lang="en-US" sz="1100" dirty="0"/>
          </a:p>
        </p:txBody>
      </p:sp>
      <p:sp>
        <p:nvSpPr>
          <p:cNvPr id="27" name="Text 19"/>
          <p:cNvSpPr/>
          <p:nvPr/>
        </p:nvSpPr>
        <p:spPr>
          <a:xfrm>
            <a:off x="777240" y="5888736"/>
            <a:ext cx="10637215" cy="329184"/>
          </a:xfrm>
          <a:prstGeom prst="rect">
            <a:avLst/>
          </a:prstGeom>
          <a:noFill/>
          <a:ln/>
        </p:spPr>
        <p:txBody>
          <a:bodyPr wrap="square" lIns="0" tIns="0" rIns="0" bIns="0" rtlCol="0" anchor="ctr"/>
          <a:lstStyle/>
          <a:p>
            <a:pPr rtl="1" algn="ctr" indent="0" marL="0">
              <a:buNone/>
            </a:pPr>
            <a:r>
              <a:rPr lang="en-US" sz="1200" i="1" dirty="0">
                <a:solidFill>
                  <a:srgbClr val="4B5B6E"/>
                </a:solidFill>
                <a:latin typeface="Tajawal" pitchFamily="34" charset="0"/>
                <a:ea typeface="Tajawal" pitchFamily="34" charset="-122"/>
                <a:cs typeface="Tajawal" pitchFamily="34" charset="-120"/>
              </a:rPr>
              <a:t>وقراءة النقوش الثمودية قيد التطوير: لا نخترع ترجمة لا نملك أصلها الموثق، ونعرض الآن جدول الحروف الرسمي ليطابق السائح بنفسه.</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40080" y="1920240"/>
            <a:ext cx="4754880" cy="3017520"/>
          </a:xfrm>
          <a:prstGeom prst="rect">
            <a:avLst/>
          </a:prstGeom>
          <a:noFill/>
          <a:ln/>
        </p:spPr>
        <p:txBody>
          <a:bodyPr wrap="square" lIns="0" tIns="0" rIns="0" bIns="0" rtlCol="0" anchor="ctr"/>
          <a:lstStyle/>
          <a:p>
            <a:pPr algn="l" indent="0" marL="0">
              <a:buNone/>
            </a:pPr>
            <a:r>
              <a:rPr lang="en-US" sz="17000" b="1" dirty="0">
                <a:solidFill>
                  <a:srgbClr val="DCE5F0"/>
                </a:solidFill>
                <a:latin typeface="Calibri" pitchFamily="34" charset="0"/>
                <a:ea typeface="Calibri" pitchFamily="34" charset="-122"/>
                <a:cs typeface="Calibri" pitchFamily="34" charset="-120"/>
              </a:rPr>
              <a:t>05</a:t>
            </a:r>
            <a:endParaRPr lang="en-US" sz="17000" dirty="0"/>
          </a:p>
        </p:txBody>
      </p:sp>
      <p:sp>
        <p:nvSpPr>
          <p:cNvPr id="4" name="Text 1"/>
          <p:cNvSpPr/>
          <p:nvPr/>
        </p:nvSpPr>
        <p:spPr>
          <a:xfrm>
            <a:off x="5120640" y="2788920"/>
            <a:ext cx="6293815" cy="1280160"/>
          </a:xfrm>
          <a:prstGeom prst="rect">
            <a:avLst/>
          </a:prstGeom>
          <a:noFill/>
          <a:ln/>
        </p:spPr>
        <p:txBody>
          <a:bodyPr wrap="square" lIns="0" tIns="0" rIns="0" bIns="0" rtlCol="0" anchor="ctr"/>
          <a:lstStyle/>
          <a:p>
            <a:pPr rtl="1" algn="r" indent="0" marL="0">
              <a:buNone/>
            </a:pPr>
            <a:r>
              <a:rPr lang="en-US" sz="3600" b="1" dirty="0">
                <a:solidFill>
                  <a:srgbClr val="255174"/>
                </a:solidFill>
                <a:latin typeface="Tajawal" pitchFamily="34" charset="0"/>
                <a:ea typeface="Tajawal" pitchFamily="34" charset="-122"/>
                <a:cs typeface="Tajawal" pitchFamily="34" charset="-120"/>
              </a:rPr>
              <a:t>نموذج العمل والجدوى</a:t>
            </a:r>
            <a:endParaRPr lang="en-US" sz="3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نموذج العمل والجدوى</a:t>
            </a:r>
            <a:endParaRPr lang="en-US" sz="2600" dirty="0"/>
          </a:p>
        </p:txBody>
      </p:sp>
      <p:sp>
        <p:nvSpPr>
          <p:cNvPr id="4" name="Shape 1"/>
          <p:cNvSpPr/>
          <p:nvPr/>
        </p:nvSpPr>
        <p:spPr>
          <a:xfrm>
            <a:off x="8027213" y="1234440"/>
            <a:ext cx="3387242" cy="2697480"/>
          </a:xfrm>
          <a:prstGeom prst="roundRect">
            <a:avLst>
              <a:gd name="adj" fmla="val 2712"/>
            </a:avLst>
          </a:prstGeom>
          <a:solidFill>
            <a:srgbClr val="EEF3F9"/>
          </a:solidFill>
          <a:ln w="9525">
            <a:solidFill>
              <a:srgbClr val="D9E2EC"/>
            </a:solidFill>
            <a:prstDash val="solid"/>
          </a:ln>
        </p:spPr>
      </p:sp>
      <p:sp>
        <p:nvSpPr>
          <p:cNvPr id="5" name="Text 2"/>
          <p:cNvSpPr/>
          <p:nvPr/>
        </p:nvSpPr>
        <p:spPr>
          <a:xfrm>
            <a:off x="8264957" y="1417320"/>
            <a:ext cx="2911754" cy="310896"/>
          </a:xfrm>
          <a:prstGeom prst="rect">
            <a:avLst/>
          </a:prstGeom>
          <a:noFill/>
          <a:ln/>
        </p:spPr>
        <p:txBody>
          <a:bodyPr wrap="square" lIns="0" tIns="0" rIns="0" bIns="0" rtlCol="0" anchor="ctr"/>
          <a:lstStyle/>
          <a:p>
            <a:pPr rtl="1" algn="r" indent="0" marL="0">
              <a:buNone/>
            </a:pPr>
            <a:r>
              <a:rPr lang="en-US" sz="1400" b="1" dirty="0">
                <a:solidFill>
                  <a:srgbClr val="8357F6"/>
                </a:solidFill>
                <a:latin typeface="Tajawal" pitchFamily="34" charset="0"/>
                <a:ea typeface="Tajawal" pitchFamily="34" charset="-122"/>
                <a:cs typeface="Tajawal" pitchFamily="34" charset="-120"/>
              </a:rPr>
              <a:t>العملاء</a:t>
            </a:r>
            <a:endParaRPr lang="en-US" sz="1400" dirty="0"/>
          </a:p>
        </p:txBody>
      </p:sp>
      <p:sp>
        <p:nvSpPr>
          <p:cNvPr id="6" name="Text 3"/>
          <p:cNvSpPr/>
          <p:nvPr/>
        </p:nvSpPr>
        <p:spPr>
          <a:xfrm>
            <a:off x="8264957" y="1801368"/>
            <a:ext cx="2911754" cy="1947672"/>
          </a:xfrm>
          <a:prstGeom prst="rect">
            <a:avLst/>
          </a:prstGeom>
          <a:noFill/>
          <a:ln/>
        </p:spPr>
        <p:txBody>
          <a:bodyPr wrap="square" lIns="0" tIns="0" rIns="0" bIns="0" rtlCol="0" anchor="t"/>
          <a:lstStyle/>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الجهة المشغلة: هيئة التراث ومركز الزوار.</a:t>
            </a:r>
            <a:endParaRPr lang="en-US" sz="1250" dirty="0"/>
          </a:p>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والمنشآت المحلية: مطاعم ومقاهي وفنادق حائل تريد الوصول إلى السائح.</a:t>
            </a:r>
            <a:endParaRPr lang="en-US" sz="1250" dirty="0"/>
          </a:p>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والسائح نفسه، والتطبيق مجاني له دائما.</a:t>
            </a:r>
            <a:endParaRPr lang="en-US" sz="1250" dirty="0"/>
          </a:p>
        </p:txBody>
      </p:sp>
      <p:sp>
        <p:nvSpPr>
          <p:cNvPr id="7" name="Shape 4"/>
          <p:cNvSpPr/>
          <p:nvPr/>
        </p:nvSpPr>
        <p:spPr>
          <a:xfrm>
            <a:off x="4402226" y="1234440"/>
            <a:ext cx="3387242" cy="2697480"/>
          </a:xfrm>
          <a:prstGeom prst="roundRect">
            <a:avLst>
              <a:gd name="adj" fmla="val 2712"/>
            </a:avLst>
          </a:prstGeom>
          <a:solidFill>
            <a:srgbClr val="EEF3F9"/>
          </a:solidFill>
          <a:ln w="9525">
            <a:solidFill>
              <a:srgbClr val="D9E2EC"/>
            </a:solidFill>
            <a:prstDash val="solid"/>
          </a:ln>
        </p:spPr>
      </p:sp>
      <p:sp>
        <p:nvSpPr>
          <p:cNvPr id="8" name="Text 5"/>
          <p:cNvSpPr/>
          <p:nvPr/>
        </p:nvSpPr>
        <p:spPr>
          <a:xfrm>
            <a:off x="4639970" y="1417320"/>
            <a:ext cx="2911754" cy="310896"/>
          </a:xfrm>
          <a:prstGeom prst="rect">
            <a:avLst/>
          </a:prstGeom>
          <a:noFill/>
          <a:ln/>
        </p:spPr>
        <p:txBody>
          <a:bodyPr wrap="square" lIns="0" tIns="0" rIns="0" bIns="0" rtlCol="0" anchor="ctr"/>
          <a:lstStyle/>
          <a:p>
            <a:pPr rtl="1" algn="r" indent="0" marL="0">
              <a:buNone/>
            </a:pPr>
            <a:r>
              <a:rPr lang="en-US" sz="1400" b="1" dirty="0">
                <a:solidFill>
                  <a:srgbClr val="8357F6"/>
                </a:solidFill>
                <a:latin typeface="Tajawal" pitchFamily="34" charset="0"/>
                <a:ea typeface="Tajawal" pitchFamily="34" charset="-122"/>
                <a:cs typeface="Tajawal" pitchFamily="34" charset="-120"/>
              </a:rPr>
              <a:t>مصادر الإيرادات</a:t>
            </a:r>
            <a:endParaRPr lang="en-US" sz="1400" dirty="0"/>
          </a:p>
        </p:txBody>
      </p:sp>
      <p:sp>
        <p:nvSpPr>
          <p:cNvPr id="9" name="Text 6"/>
          <p:cNvSpPr/>
          <p:nvPr/>
        </p:nvSpPr>
        <p:spPr>
          <a:xfrm>
            <a:off x="4639970" y="1801368"/>
            <a:ext cx="2911754" cy="1947672"/>
          </a:xfrm>
          <a:prstGeom prst="rect">
            <a:avLst/>
          </a:prstGeom>
          <a:noFill/>
          <a:ln/>
        </p:spPr>
        <p:txBody>
          <a:bodyPr wrap="square" lIns="0" tIns="0" rIns="0" bIns="0" rtlCol="0" anchor="t"/>
          <a:lstStyle/>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شركاء محليون: ندرج مواقعهم في مسار رحلتي برسوم محددة. السائح جائع بعد ساعتين في الموقع، والمطعم يريد أن يصل إليه.</a:t>
            </a:r>
            <a:endParaRPr lang="en-US" sz="1250" dirty="0"/>
          </a:p>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وترخيص سنوي للجهة المشغلة عن كل موقع، ورسوم إعداد لكل موقع جديد، ونسخة بيضاء لمتاحف أخرى.</a:t>
            </a:r>
            <a:endParaRPr lang="en-US" sz="1250" dirty="0"/>
          </a:p>
        </p:txBody>
      </p:sp>
      <p:sp>
        <p:nvSpPr>
          <p:cNvPr id="10" name="Shape 7"/>
          <p:cNvSpPr/>
          <p:nvPr/>
        </p:nvSpPr>
        <p:spPr>
          <a:xfrm>
            <a:off x="777240" y="1234440"/>
            <a:ext cx="3387242" cy="2697480"/>
          </a:xfrm>
          <a:prstGeom prst="roundRect">
            <a:avLst>
              <a:gd name="adj" fmla="val 2712"/>
            </a:avLst>
          </a:prstGeom>
          <a:solidFill>
            <a:srgbClr val="EEF3F9"/>
          </a:solidFill>
          <a:ln w="9525">
            <a:solidFill>
              <a:srgbClr val="D9E2EC"/>
            </a:solidFill>
            <a:prstDash val="solid"/>
          </a:ln>
        </p:spPr>
      </p:sp>
      <p:sp>
        <p:nvSpPr>
          <p:cNvPr id="11" name="Text 8"/>
          <p:cNvSpPr/>
          <p:nvPr/>
        </p:nvSpPr>
        <p:spPr>
          <a:xfrm>
            <a:off x="1014984" y="1417320"/>
            <a:ext cx="2911754" cy="310896"/>
          </a:xfrm>
          <a:prstGeom prst="rect">
            <a:avLst/>
          </a:prstGeom>
          <a:noFill/>
          <a:ln/>
        </p:spPr>
        <p:txBody>
          <a:bodyPr wrap="square" lIns="0" tIns="0" rIns="0" bIns="0" rtlCol="0" anchor="ctr"/>
          <a:lstStyle/>
          <a:p>
            <a:pPr rtl="1" algn="r" indent="0" marL="0">
              <a:buNone/>
            </a:pPr>
            <a:r>
              <a:rPr lang="en-US" sz="1400" b="1" dirty="0">
                <a:solidFill>
                  <a:srgbClr val="8357F6"/>
                </a:solidFill>
                <a:latin typeface="Tajawal" pitchFamily="34" charset="0"/>
                <a:ea typeface="Tajawal" pitchFamily="34" charset="-122"/>
                <a:cs typeface="Tajawal" pitchFamily="34" charset="-120"/>
              </a:rPr>
              <a:t>الاستدامة</a:t>
            </a:r>
            <a:endParaRPr lang="en-US" sz="1400" dirty="0"/>
          </a:p>
        </p:txBody>
      </p:sp>
      <p:sp>
        <p:nvSpPr>
          <p:cNvPr id="12" name="Text 9"/>
          <p:cNvSpPr/>
          <p:nvPr/>
        </p:nvSpPr>
        <p:spPr>
          <a:xfrm>
            <a:off x="1014984" y="1801368"/>
            <a:ext cx="2911754" cy="1947672"/>
          </a:xfrm>
          <a:prstGeom prst="rect">
            <a:avLst/>
          </a:prstGeom>
          <a:noFill/>
          <a:ln/>
        </p:spPr>
        <p:txBody>
          <a:bodyPr wrap="square" lIns="0" tIns="0" rIns="0" bIns="0" rtlCol="0" anchor="t"/>
          <a:lstStyle/>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التكلفة الحدية للسائح الإضافي صفر: لا خوادم ولا واجهات مدفوعة.</a:t>
            </a:r>
            <a:endParaRPr lang="en-US" sz="1250" dirty="0"/>
          </a:p>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والتكلفة كلها إعداد لمرة واحدة عن كل موقع: تصوير وفهرسة ومحتوى وترجمة.</a:t>
            </a:r>
            <a:endParaRPr lang="en-US" sz="1250" dirty="0"/>
          </a:p>
        </p:txBody>
      </p:sp>
      <p:sp>
        <p:nvSpPr>
          <p:cNvPr id="13" name="Shape 10"/>
          <p:cNvSpPr/>
          <p:nvPr/>
        </p:nvSpPr>
        <p:spPr>
          <a:xfrm>
            <a:off x="777240" y="4114800"/>
            <a:ext cx="10637215" cy="841248"/>
          </a:xfrm>
          <a:prstGeom prst="roundRect">
            <a:avLst>
              <a:gd name="adj" fmla="val 8696"/>
            </a:avLst>
          </a:prstGeom>
          <a:solidFill>
            <a:srgbClr val="E9E2FB"/>
          </a:solidFill>
          <a:ln w="9525">
            <a:solidFill>
              <a:srgbClr val="D9E2EC"/>
            </a:solidFill>
            <a:prstDash val="solid"/>
          </a:ln>
        </p:spPr>
      </p:sp>
      <p:sp>
        <p:nvSpPr>
          <p:cNvPr id="14" name="Text 11"/>
          <p:cNvSpPr/>
          <p:nvPr/>
        </p:nvSpPr>
        <p:spPr>
          <a:xfrm>
            <a:off x="1088136" y="4334256"/>
            <a:ext cx="10015423" cy="420624"/>
          </a:xfrm>
          <a:prstGeom prst="rect">
            <a:avLst/>
          </a:prstGeom>
          <a:noFill/>
          <a:ln/>
        </p:spPr>
        <p:txBody>
          <a:bodyPr wrap="square" lIns="0" tIns="0" rIns="0" bIns="0" rtlCol="0" anchor="ctr"/>
          <a:lstStyle/>
          <a:p>
            <a:pPr rtl="1" algn="ctr" indent="0" marL="0">
              <a:buNone/>
            </a:pPr>
            <a:r>
              <a:rPr lang="en-US" sz="1450" b="1" dirty="0">
                <a:solidFill>
                  <a:srgbClr val="4B2E9E"/>
                </a:solidFill>
                <a:latin typeface="Tajawal" pitchFamily="34" charset="0"/>
                <a:ea typeface="Tajawal" pitchFamily="34" charset="-122"/>
                <a:cs typeface="Tajawal" pitchFamily="34" charset="-120"/>
              </a:rPr>
              <a:t>سائح واحد ومليون سائح، كلهم سواء في الكلفة — لأن التعرف والصوت والمحتوى كلها داخل جهاز السائح، لا على خادم نملكه.</a:t>
            </a:r>
            <a:endParaRPr lang="en-US" sz="1450" dirty="0"/>
          </a:p>
        </p:txBody>
      </p:sp>
      <p:sp>
        <p:nvSpPr>
          <p:cNvPr id="15" name="Shape 12"/>
          <p:cNvSpPr/>
          <p:nvPr/>
        </p:nvSpPr>
        <p:spPr>
          <a:xfrm>
            <a:off x="9037015" y="5138928"/>
            <a:ext cx="2377440" cy="1225296"/>
          </a:xfrm>
          <a:prstGeom prst="roundRect">
            <a:avLst>
              <a:gd name="adj" fmla="val 5970"/>
            </a:avLst>
          </a:prstGeom>
          <a:solidFill>
            <a:srgbClr val="EEF3F9"/>
          </a:solidFill>
          <a:ln w="9525">
            <a:solidFill>
              <a:srgbClr val="D9E2EC"/>
            </a:solidFill>
            <a:prstDash val="solid"/>
          </a:ln>
        </p:spPr>
      </p:sp>
      <p:sp>
        <p:nvSpPr>
          <p:cNvPr id="16" name="Text 13"/>
          <p:cNvSpPr/>
          <p:nvPr/>
        </p:nvSpPr>
        <p:spPr>
          <a:xfrm>
            <a:off x="9037015" y="5285232"/>
            <a:ext cx="2377440" cy="548640"/>
          </a:xfrm>
          <a:prstGeom prst="rect">
            <a:avLst/>
          </a:prstGeom>
          <a:noFill/>
          <a:ln/>
        </p:spPr>
        <p:txBody>
          <a:bodyPr wrap="square" lIns="0" tIns="0" rIns="0" bIns="0" rtlCol="0" anchor="ctr"/>
          <a:lstStyle/>
          <a:p>
            <a:pPr algn="ctr" indent="0" marL="0">
              <a:buNone/>
            </a:pPr>
            <a:r>
              <a:rPr lang="en-US" sz="2800" b="1" dirty="0">
                <a:solidFill>
                  <a:srgbClr val="8357F6"/>
                </a:solidFill>
                <a:latin typeface="Calibri" pitchFamily="34" charset="0"/>
                <a:ea typeface="Calibri" pitchFamily="34" charset="-122"/>
                <a:cs typeface="Calibri" pitchFamily="34" charset="-120"/>
              </a:rPr>
              <a:t>0$</a:t>
            </a:r>
            <a:endParaRPr lang="en-US" sz="2800" dirty="0"/>
          </a:p>
        </p:txBody>
      </p:sp>
      <p:sp>
        <p:nvSpPr>
          <p:cNvPr id="17" name="Text 14"/>
          <p:cNvSpPr/>
          <p:nvPr/>
        </p:nvSpPr>
        <p:spPr>
          <a:xfrm>
            <a:off x="9146743" y="5870448"/>
            <a:ext cx="2157984"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تكلفة تشغيل</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شهرية</a:t>
            </a:r>
            <a:endParaRPr lang="en-US" sz="1100" dirty="0"/>
          </a:p>
        </p:txBody>
      </p:sp>
      <p:sp>
        <p:nvSpPr>
          <p:cNvPr id="18" name="Shape 15"/>
          <p:cNvSpPr/>
          <p:nvPr/>
        </p:nvSpPr>
        <p:spPr>
          <a:xfrm>
            <a:off x="777240" y="5138928"/>
            <a:ext cx="8022031" cy="1225296"/>
          </a:xfrm>
          <a:prstGeom prst="roundRect">
            <a:avLst>
              <a:gd name="adj" fmla="val 5970"/>
            </a:avLst>
          </a:prstGeom>
          <a:solidFill>
            <a:srgbClr val="E9E2FB"/>
          </a:solidFill>
          <a:ln w="9525">
            <a:solidFill>
              <a:srgbClr val="D9E2EC"/>
            </a:solidFill>
            <a:prstDash val="solid"/>
          </a:ln>
        </p:spPr>
      </p:sp>
      <p:sp>
        <p:nvSpPr>
          <p:cNvPr id="19" name="Text 16"/>
          <p:cNvSpPr/>
          <p:nvPr/>
        </p:nvSpPr>
        <p:spPr>
          <a:xfrm>
            <a:off x="1051560" y="5266944"/>
            <a:ext cx="7473391" cy="310896"/>
          </a:xfrm>
          <a:prstGeom prst="rect">
            <a:avLst/>
          </a:prstGeom>
          <a:noFill/>
          <a:ln/>
        </p:spPr>
        <p:txBody>
          <a:bodyPr wrap="square" lIns="0" tIns="0" rIns="0" bIns="0" rtlCol="0" anchor="ctr"/>
          <a:lstStyle/>
          <a:p>
            <a:pPr rtl="1" algn="r" indent="0" marL="0">
              <a:buNone/>
            </a:pPr>
            <a:r>
              <a:rPr lang="en-US" sz="1400" b="1" dirty="0">
                <a:solidFill>
                  <a:srgbClr val="4B2E9E"/>
                </a:solidFill>
                <a:latin typeface="Tajawal" pitchFamily="34" charset="0"/>
                <a:ea typeface="Tajawal" pitchFamily="34" charset="-122"/>
                <a:cs typeface="Tajawal" pitchFamily="34" charset="-120"/>
              </a:rPr>
              <a:t>مصدر دخل مبتكر: ختم الرحلة</a:t>
            </a:r>
            <a:endParaRPr lang="en-US" sz="1400" dirty="0"/>
          </a:p>
        </p:txBody>
      </p:sp>
      <p:sp>
        <p:nvSpPr>
          <p:cNvPr id="20" name="Text 17"/>
          <p:cNvSpPr/>
          <p:nvPr/>
        </p:nvSpPr>
        <p:spPr>
          <a:xfrm>
            <a:off x="1051560" y="5614416"/>
            <a:ext cx="7473391" cy="640080"/>
          </a:xfrm>
          <a:prstGeom prst="rect">
            <a:avLst/>
          </a:prstGeom>
          <a:noFill/>
          <a:ln/>
        </p:spPr>
        <p:txBody>
          <a:bodyPr wrap="square" lIns="0" tIns="0" rIns="0" bIns="0" rtlCol="0" anchor="t"/>
          <a:lstStyle/>
          <a:p>
            <a:pPr rtl="1" algn="r" indent="0" marL="0">
              <a:lnSpc>
                <a:spcPts val="1900"/>
              </a:lnSpc>
              <a:buNone/>
            </a:pPr>
            <a:r>
              <a:rPr lang="en-US" sz="1250" dirty="0">
                <a:solidFill>
                  <a:srgbClr val="4B5B6E"/>
                </a:solidFill>
                <a:latin typeface="Tajawal" pitchFamily="34" charset="0"/>
                <a:ea typeface="Tajawal" pitchFamily="34" charset="-122"/>
                <a:cs typeface="Tajawal" pitchFamily="34" charset="-120"/>
              </a:rPr>
              <a:t>حين يمسح السائح النقش يثبت وجوده في الموقع، فيحصل على خصم في أقرب مقهى أو مطعم شريك. ويدفع الشريك عمولة عن كل زيارة مؤكدة، لا عن إعلان قد لا يراه أحد.</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40080" y="1920240"/>
            <a:ext cx="4754880" cy="3017520"/>
          </a:xfrm>
          <a:prstGeom prst="rect">
            <a:avLst/>
          </a:prstGeom>
          <a:noFill/>
          <a:ln/>
        </p:spPr>
        <p:txBody>
          <a:bodyPr wrap="square" lIns="0" tIns="0" rIns="0" bIns="0" rtlCol="0" anchor="ctr"/>
          <a:lstStyle/>
          <a:p>
            <a:pPr algn="l" indent="0" marL="0">
              <a:buNone/>
            </a:pPr>
            <a:r>
              <a:rPr lang="en-US" sz="17000" b="1" dirty="0">
                <a:solidFill>
                  <a:srgbClr val="DCE5F0"/>
                </a:solidFill>
                <a:latin typeface="Calibri" pitchFamily="34" charset="0"/>
                <a:ea typeface="Calibri" pitchFamily="34" charset="-122"/>
                <a:cs typeface="Calibri" pitchFamily="34" charset="-120"/>
              </a:rPr>
              <a:t>06</a:t>
            </a:r>
            <a:endParaRPr lang="en-US" sz="17000" dirty="0"/>
          </a:p>
        </p:txBody>
      </p:sp>
      <p:sp>
        <p:nvSpPr>
          <p:cNvPr id="4" name="Text 1"/>
          <p:cNvSpPr/>
          <p:nvPr/>
        </p:nvSpPr>
        <p:spPr>
          <a:xfrm>
            <a:off x="5120640" y="2788920"/>
            <a:ext cx="6293815" cy="1280160"/>
          </a:xfrm>
          <a:prstGeom prst="rect">
            <a:avLst/>
          </a:prstGeom>
          <a:noFill/>
          <a:ln/>
        </p:spPr>
        <p:txBody>
          <a:bodyPr wrap="square" lIns="0" tIns="0" rIns="0" bIns="0" rtlCol="0" anchor="ctr"/>
          <a:lstStyle/>
          <a:p>
            <a:pPr rtl="1" algn="r" indent="0" marL="0">
              <a:buNone/>
            </a:pPr>
            <a:r>
              <a:rPr lang="en-US" sz="3600" b="1" dirty="0">
                <a:solidFill>
                  <a:srgbClr val="255174"/>
                </a:solidFill>
                <a:latin typeface="Tajawal" pitchFamily="34" charset="0"/>
                <a:ea typeface="Tajawal" pitchFamily="34" charset="-122"/>
                <a:cs typeface="Tajawal" pitchFamily="34" charset="-120"/>
              </a:rPr>
              <a:t>قابلية النمو</a:t>
            </a:r>
            <a:endParaRPr lang="en-US" sz="3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قابلية النمو</a:t>
            </a:r>
            <a:endParaRPr lang="en-US" sz="2600" dirty="0"/>
          </a:p>
        </p:txBody>
      </p:sp>
      <p:sp>
        <p:nvSpPr>
          <p:cNvPr id="4" name="Shape 1"/>
          <p:cNvSpPr/>
          <p:nvPr/>
        </p:nvSpPr>
        <p:spPr>
          <a:xfrm>
            <a:off x="8933459" y="1234440"/>
            <a:ext cx="2480996" cy="1298448"/>
          </a:xfrm>
          <a:prstGeom prst="roundRect">
            <a:avLst>
              <a:gd name="adj" fmla="val 5634"/>
            </a:avLst>
          </a:prstGeom>
          <a:solidFill>
            <a:srgbClr val="EEF3F9"/>
          </a:solidFill>
          <a:ln w="9525">
            <a:solidFill>
              <a:srgbClr val="D9E2EC"/>
            </a:solidFill>
            <a:prstDash val="solid"/>
          </a:ln>
        </p:spPr>
      </p:sp>
      <p:sp>
        <p:nvSpPr>
          <p:cNvPr id="5" name="Text 2"/>
          <p:cNvSpPr/>
          <p:nvPr/>
        </p:nvSpPr>
        <p:spPr>
          <a:xfrm>
            <a:off x="9134627" y="1353312"/>
            <a:ext cx="365760" cy="310896"/>
          </a:xfrm>
          <a:prstGeom prst="rect">
            <a:avLst/>
          </a:prstGeom>
          <a:noFill/>
          <a:ln/>
        </p:spPr>
        <p:txBody>
          <a:bodyPr wrap="square" lIns="0" tIns="0" rIns="0" bIns="0" rtlCol="0" anchor="ctr"/>
          <a:lstStyle/>
          <a:p>
            <a:pPr algn="l" indent="0" marL="0">
              <a:buNone/>
            </a:pPr>
            <a:r>
              <a:rPr lang="en-US" sz="1300" b="1" dirty="0">
                <a:solidFill>
                  <a:srgbClr val="AFC0D4"/>
                </a:solidFill>
                <a:latin typeface="Calibri" pitchFamily="34" charset="0"/>
                <a:ea typeface="Calibri" pitchFamily="34" charset="-122"/>
                <a:cs typeface="Calibri" pitchFamily="34" charset="-120"/>
              </a:rPr>
              <a:t>1</a:t>
            </a:r>
            <a:endParaRPr lang="en-US" sz="1300" dirty="0"/>
          </a:p>
        </p:txBody>
      </p:sp>
      <p:sp>
        <p:nvSpPr>
          <p:cNvPr id="6" name="Text 3"/>
          <p:cNvSpPr/>
          <p:nvPr/>
        </p:nvSpPr>
        <p:spPr>
          <a:xfrm>
            <a:off x="9171203" y="1371600"/>
            <a:ext cx="1658036" cy="310896"/>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تصوير</a:t>
            </a:r>
            <a:endParaRPr lang="en-US" sz="1500" dirty="0"/>
          </a:p>
        </p:txBody>
      </p:sp>
      <p:sp>
        <p:nvSpPr>
          <p:cNvPr id="7" name="Text 4"/>
          <p:cNvSpPr/>
          <p:nvPr/>
        </p:nvSpPr>
        <p:spPr>
          <a:xfrm>
            <a:off x="9171203" y="1773936"/>
            <a:ext cx="2005508" cy="603504"/>
          </a:xfrm>
          <a:prstGeom prst="rect">
            <a:avLst/>
          </a:prstGeom>
          <a:noFill/>
          <a:ln/>
        </p:spPr>
        <p:txBody>
          <a:bodyPr wrap="square" lIns="0" tIns="0" rIns="0" bIns="0" rtlCol="0" anchor="ctr"/>
          <a:lstStyle/>
          <a:p>
            <a:pPr rtl="1" algn="r" indent="0" marL="0">
              <a:lnSpc>
                <a:spcPts val="1700"/>
              </a:lnSpc>
              <a:buNone/>
            </a:pPr>
            <a:r>
              <a:rPr lang="en-US" sz="1150" dirty="0">
                <a:solidFill>
                  <a:srgbClr val="4B5B6E"/>
                </a:solidFill>
                <a:latin typeface="Tajawal" pitchFamily="34" charset="0"/>
                <a:ea typeface="Tajawal" pitchFamily="34" charset="-122"/>
                <a:cs typeface="Tajawal" pitchFamily="34" charset="-120"/>
              </a:rPr>
              <a:t>زيارة ميدانية واحدة للموقع الجديد</a:t>
            </a:r>
            <a:endParaRPr lang="en-US" sz="1150" dirty="0"/>
          </a:p>
        </p:txBody>
      </p:sp>
      <p:sp>
        <p:nvSpPr>
          <p:cNvPr id="8" name="Shape 5"/>
          <p:cNvSpPr/>
          <p:nvPr/>
        </p:nvSpPr>
        <p:spPr>
          <a:xfrm>
            <a:off x="6214720" y="1234440"/>
            <a:ext cx="2480996" cy="1298448"/>
          </a:xfrm>
          <a:prstGeom prst="roundRect">
            <a:avLst>
              <a:gd name="adj" fmla="val 5634"/>
            </a:avLst>
          </a:prstGeom>
          <a:solidFill>
            <a:srgbClr val="EEF3F9"/>
          </a:solidFill>
          <a:ln w="9525">
            <a:solidFill>
              <a:srgbClr val="D9E2EC"/>
            </a:solidFill>
            <a:prstDash val="solid"/>
          </a:ln>
        </p:spPr>
      </p:sp>
      <p:sp>
        <p:nvSpPr>
          <p:cNvPr id="9" name="Text 6"/>
          <p:cNvSpPr/>
          <p:nvPr/>
        </p:nvSpPr>
        <p:spPr>
          <a:xfrm>
            <a:off x="6415888" y="1353312"/>
            <a:ext cx="365760" cy="310896"/>
          </a:xfrm>
          <a:prstGeom prst="rect">
            <a:avLst/>
          </a:prstGeom>
          <a:noFill/>
          <a:ln/>
        </p:spPr>
        <p:txBody>
          <a:bodyPr wrap="square" lIns="0" tIns="0" rIns="0" bIns="0" rtlCol="0" anchor="ctr"/>
          <a:lstStyle/>
          <a:p>
            <a:pPr algn="l" indent="0" marL="0">
              <a:buNone/>
            </a:pPr>
            <a:r>
              <a:rPr lang="en-US" sz="1300" b="1" dirty="0">
                <a:solidFill>
                  <a:srgbClr val="AFC0D4"/>
                </a:solidFill>
                <a:latin typeface="Calibri" pitchFamily="34" charset="0"/>
                <a:ea typeface="Calibri" pitchFamily="34" charset="-122"/>
                <a:cs typeface="Calibri" pitchFamily="34" charset="-120"/>
              </a:rPr>
              <a:t>2</a:t>
            </a:r>
            <a:endParaRPr lang="en-US" sz="1300" dirty="0"/>
          </a:p>
        </p:txBody>
      </p:sp>
      <p:sp>
        <p:nvSpPr>
          <p:cNvPr id="10" name="Text 7"/>
          <p:cNvSpPr/>
          <p:nvPr/>
        </p:nvSpPr>
        <p:spPr>
          <a:xfrm>
            <a:off x="6452464" y="1371600"/>
            <a:ext cx="1658036" cy="310896"/>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فهرسة</a:t>
            </a:r>
            <a:endParaRPr lang="en-US" sz="1500" dirty="0"/>
          </a:p>
        </p:txBody>
      </p:sp>
      <p:sp>
        <p:nvSpPr>
          <p:cNvPr id="11" name="Text 8"/>
          <p:cNvSpPr/>
          <p:nvPr/>
        </p:nvSpPr>
        <p:spPr>
          <a:xfrm>
            <a:off x="6452464" y="1773936"/>
            <a:ext cx="2005508" cy="603504"/>
          </a:xfrm>
          <a:prstGeom prst="rect">
            <a:avLst/>
          </a:prstGeom>
          <a:noFill/>
          <a:ln/>
        </p:spPr>
        <p:txBody>
          <a:bodyPr wrap="square" lIns="0" tIns="0" rIns="0" bIns="0" rtlCol="0" anchor="ctr"/>
          <a:lstStyle/>
          <a:p>
            <a:pPr rtl="1" algn="r" indent="0" marL="0">
              <a:lnSpc>
                <a:spcPts val="1700"/>
              </a:lnSpc>
              <a:buNone/>
            </a:pPr>
            <a:r>
              <a:rPr lang="en-US" sz="1150" dirty="0">
                <a:solidFill>
                  <a:srgbClr val="4B5B6E"/>
                </a:solidFill>
                <a:latin typeface="Tajawal" pitchFamily="34" charset="0"/>
                <a:ea typeface="Tajawal" pitchFamily="34" charset="-122"/>
                <a:cs typeface="Tajawal" pitchFamily="34" charset="-120"/>
              </a:rPr>
              <a:t>تحويل الصور إلى بصمات — دقائق</a:t>
            </a:r>
            <a:endParaRPr lang="en-US" sz="1150" dirty="0"/>
          </a:p>
        </p:txBody>
      </p:sp>
      <p:sp>
        <p:nvSpPr>
          <p:cNvPr id="12" name="Shape 9"/>
          <p:cNvSpPr/>
          <p:nvPr/>
        </p:nvSpPr>
        <p:spPr>
          <a:xfrm>
            <a:off x="3495980" y="1234440"/>
            <a:ext cx="2480996" cy="1298448"/>
          </a:xfrm>
          <a:prstGeom prst="roundRect">
            <a:avLst>
              <a:gd name="adj" fmla="val 5634"/>
            </a:avLst>
          </a:prstGeom>
          <a:solidFill>
            <a:srgbClr val="EEF3F9"/>
          </a:solidFill>
          <a:ln w="9525">
            <a:solidFill>
              <a:srgbClr val="D9E2EC"/>
            </a:solidFill>
            <a:prstDash val="solid"/>
          </a:ln>
        </p:spPr>
      </p:sp>
      <p:sp>
        <p:nvSpPr>
          <p:cNvPr id="13" name="Text 10"/>
          <p:cNvSpPr/>
          <p:nvPr/>
        </p:nvSpPr>
        <p:spPr>
          <a:xfrm>
            <a:off x="3697148" y="1353312"/>
            <a:ext cx="365760" cy="310896"/>
          </a:xfrm>
          <a:prstGeom prst="rect">
            <a:avLst/>
          </a:prstGeom>
          <a:noFill/>
          <a:ln/>
        </p:spPr>
        <p:txBody>
          <a:bodyPr wrap="square" lIns="0" tIns="0" rIns="0" bIns="0" rtlCol="0" anchor="ctr"/>
          <a:lstStyle/>
          <a:p>
            <a:pPr algn="l" indent="0" marL="0">
              <a:buNone/>
            </a:pPr>
            <a:r>
              <a:rPr lang="en-US" sz="1300" b="1" dirty="0">
                <a:solidFill>
                  <a:srgbClr val="AFC0D4"/>
                </a:solidFill>
                <a:latin typeface="Calibri" pitchFamily="34" charset="0"/>
                <a:ea typeface="Calibri" pitchFamily="34" charset="-122"/>
                <a:cs typeface="Calibri" pitchFamily="34" charset="-120"/>
              </a:rPr>
              <a:t>3</a:t>
            </a:r>
            <a:endParaRPr lang="en-US" sz="1300" dirty="0"/>
          </a:p>
        </p:txBody>
      </p:sp>
      <p:sp>
        <p:nvSpPr>
          <p:cNvPr id="14" name="Text 11"/>
          <p:cNvSpPr/>
          <p:nvPr/>
        </p:nvSpPr>
        <p:spPr>
          <a:xfrm>
            <a:off x="3733724" y="1371600"/>
            <a:ext cx="1658036" cy="310896"/>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محتوى</a:t>
            </a:r>
            <a:endParaRPr lang="en-US" sz="1500" dirty="0"/>
          </a:p>
        </p:txBody>
      </p:sp>
      <p:sp>
        <p:nvSpPr>
          <p:cNvPr id="15" name="Text 12"/>
          <p:cNvSpPr/>
          <p:nvPr/>
        </p:nvSpPr>
        <p:spPr>
          <a:xfrm>
            <a:off x="3733724" y="1773936"/>
            <a:ext cx="2005508" cy="603504"/>
          </a:xfrm>
          <a:prstGeom prst="rect">
            <a:avLst/>
          </a:prstGeom>
          <a:noFill/>
          <a:ln/>
        </p:spPr>
        <p:txBody>
          <a:bodyPr wrap="square" lIns="0" tIns="0" rIns="0" bIns="0" rtlCol="0" anchor="ctr"/>
          <a:lstStyle/>
          <a:p>
            <a:pPr rtl="1" algn="r" indent="0" marL="0">
              <a:lnSpc>
                <a:spcPts val="1700"/>
              </a:lnSpc>
              <a:buNone/>
            </a:pPr>
            <a:r>
              <a:rPr lang="en-US" sz="1150" dirty="0">
                <a:solidFill>
                  <a:srgbClr val="4B5B6E"/>
                </a:solidFill>
                <a:latin typeface="Tajawal" pitchFamily="34" charset="0"/>
                <a:ea typeface="Tajawal" pitchFamily="34" charset="-122"/>
                <a:cs typeface="Tajawal" pitchFamily="34" charset="-120"/>
              </a:rPr>
              <a:t>كتابة القصص وترجمتها</a:t>
            </a:r>
            <a:endParaRPr lang="en-US" sz="1150" dirty="0"/>
          </a:p>
        </p:txBody>
      </p:sp>
      <p:sp>
        <p:nvSpPr>
          <p:cNvPr id="16" name="Shape 13"/>
          <p:cNvSpPr/>
          <p:nvPr/>
        </p:nvSpPr>
        <p:spPr>
          <a:xfrm>
            <a:off x="777240" y="1234440"/>
            <a:ext cx="2480996" cy="1298448"/>
          </a:xfrm>
          <a:prstGeom prst="roundRect">
            <a:avLst>
              <a:gd name="adj" fmla="val 5634"/>
            </a:avLst>
          </a:prstGeom>
          <a:solidFill>
            <a:srgbClr val="EEF3F9"/>
          </a:solidFill>
          <a:ln w="9525">
            <a:solidFill>
              <a:srgbClr val="D9E2EC"/>
            </a:solidFill>
            <a:prstDash val="solid"/>
          </a:ln>
        </p:spPr>
      </p:sp>
      <p:sp>
        <p:nvSpPr>
          <p:cNvPr id="17" name="Text 14"/>
          <p:cNvSpPr/>
          <p:nvPr/>
        </p:nvSpPr>
        <p:spPr>
          <a:xfrm>
            <a:off x="978408" y="1353312"/>
            <a:ext cx="365760" cy="310896"/>
          </a:xfrm>
          <a:prstGeom prst="rect">
            <a:avLst/>
          </a:prstGeom>
          <a:noFill/>
          <a:ln/>
        </p:spPr>
        <p:txBody>
          <a:bodyPr wrap="square" lIns="0" tIns="0" rIns="0" bIns="0" rtlCol="0" anchor="ctr"/>
          <a:lstStyle/>
          <a:p>
            <a:pPr algn="l" indent="0" marL="0">
              <a:buNone/>
            </a:pPr>
            <a:r>
              <a:rPr lang="en-US" sz="1300" b="1" dirty="0">
                <a:solidFill>
                  <a:srgbClr val="AFC0D4"/>
                </a:solidFill>
                <a:latin typeface="Calibri" pitchFamily="34" charset="0"/>
                <a:ea typeface="Calibri" pitchFamily="34" charset="-122"/>
                <a:cs typeface="Calibri" pitchFamily="34" charset="-120"/>
              </a:rPr>
              <a:t>4</a:t>
            </a:r>
            <a:endParaRPr lang="en-US" sz="1300" dirty="0"/>
          </a:p>
        </p:txBody>
      </p:sp>
      <p:sp>
        <p:nvSpPr>
          <p:cNvPr id="18" name="Text 15"/>
          <p:cNvSpPr/>
          <p:nvPr/>
        </p:nvSpPr>
        <p:spPr>
          <a:xfrm>
            <a:off x="1014984" y="1371600"/>
            <a:ext cx="1658036" cy="310896"/>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صوت</a:t>
            </a:r>
            <a:endParaRPr lang="en-US" sz="1500" dirty="0"/>
          </a:p>
        </p:txBody>
      </p:sp>
      <p:sp>
        <p:nvSpPr>
          <p:cNvPr id="19" name="Text 16"/>
          <p:cNvSpPr/>
          <p:nvPr/>
        </p:nvSpPr>
        <p:spPr>
          <a:xfrm>
            <a:off x="1014984" y="1773936"/>
            <a:ext cx="2005508" cy="603504"/>
          </a:xfrm>
          <a:prstGeom prst="rect">
            <a:avLst/>
          </a:prstGeom>
          <a:noFill/>
          <a:ln/>
        </p:spPr>
        <p:txBody>
          <a:bodyPr wrap="square" lIns="0" tIns="0" rIns="0" bIns="0" rtlCol="0" anchor="ctr"/>
          <a:lstStyle/>
          <a:p>
            <a:pPr rtl="1" algn="r" indent="0" marL="0">
              <a:lnSpc>
                <a:spcPts val="1700"/>
              </a:lnSpc>
              <a:buNone/>
            </a:pPr>
            <a:r>
              <a:rPr lang="en-US" sz="1150" dirty="0">
                <a:solidFill>
                  <a:srgbClr val="4B5B6E"/>
                </a:solidFill>
                <a:latin typeface="Tajawal" pitchFamily="34" charset="0"/>
                <a:ea typeface="Tajawal" pitchFamily="34" charset="-122"/>
                <a:cs typeface="Tajawal" pitchFamily="34" charset="-120"/>
              </a:rPr>
              <a:t>توليد الرواية بتسع وعشرين لغة</a:t>
            </a:r>
            <a:endParaRPr lang="en-US" sz="1150" dirty="0"/>
          </a:p>
        </p:txBody>
      </p:sp>
      <p:sp>
        <p:nvSpPr>
          <p:cNvPr id="20" name="Shape 17"/>
          <p:cNvSpPr/>
          <p:nvPr/>
        </p:nvSpPr>
        <p:spPr>
          <a:xfrm>
            <a:off x="6233008" y="2761488"/>
            <a:ext cx="5181448" cy="2249424"/>
          </a:xfrm>
          <a:prstGeom prst="roundRect">
            <a:avLst>
              <a:gd name="adj" fmla="val 3252"/>
            </a:avLst>
          </a:prstGeom>
          <a:solidFill>
            <a:srgbClr val="EEF3F9"/>
          </a:solidFill>
          <a:ln w="9525">
            <a:solidFill>
              <a:srgbClr val="D9E2EC"/>
            </a:solidFill>
            <a:prstDash val="solid"/>
          </a:ln>
        </p:spPr>
      </p:sp>
      <p:sp>
        <p:nvSpPr>
          <p:cNvPr id="21" name="Text 18"/>
          <p:cNvSpPr/>
          <p:nvPr/>
        </p:nvSpPr>
        <p:spPr>
          <a:xfrm>
            <a:off x="6507328" y="2962656"/>
            <a:ext cx="4632808" cy="329184"/>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لا إعادة تدريب ولا بنية تحتية</a:t>
            </a:r>
            <a:endParaRPr lang="en-US" sz="1500" dirty="0"/>
          </a:p>
        </p:txBody>
      </p:sp>
      <p:sp>
        <p:nvSpPr>
          <p:cNvPr id="22" name="Text 19"/>
          <p:cNvSpPr/>
          <p:nvPr/>
        </p:nvSpPr>
        <p:spPr>
          <a:xfrm>
            <a:off x="6507328" y="3383280"/>
            <a:ext cx="4632808" cy="1463040"/>
          </a:xfrm>
          <a:prstGeom prst="rect">
            <a:avLst/>
          </a:prstGeom>
          <a:noFill/>
          <a:ln/>
        </p:spPr>
        <p:txBody>
          <a:bodyPr wrap="square" lIns="0" tIns="0" rIns="0" bIns="0" rtlCol="0" anchor="t"/>
          <a:lstStyle/>
          <a:p>
            <a:pPr rtl="1" algn="r" indent="0" marL="0">
              <a:lnSpc>
                <a:spcPts val="2000"/>
              </a:lnSpc>
              <a:spcAft>
                <a:spcPts val="1300"/>
              </a:spcAft>
              <a:buNone/>
            </a:pPr>
            <a:r>
              <a:rPr lang="en-US" sz="1250" dirty="0">
                <a:solidFill>
                  <a:srgbClr val="4B5B6E"/>
                </a:solidFill>
                <a:latin typeface="Tajawal" pitchFamily="34" charset="0"/>
                <a:ea typeface="Tajawal" pitchFamily="34" charset="-122"/>
                <a:cs typeface="Tajawal" pitchFamily="34" charset="-120"/>
              </a:rPr>
              <a:t>النموذج لم ندربه على جبة، فهو لا يعرفها أكثر مما سيعرف غيرها.</a:t>
            </a:r>
            <a:endParaRPr lang="en-US" sz="1250" dirty="0"/>
          </a:p>
          <a:p>
            <a:pPr rtl="1" algn="r" indent="0" marL="0">
              <a:lnSpc>
                <a:spcPts val="2000"/>
              </a:lnSpc>
              <a:spcAft>
                <a:spcPts val="1300"/>
              </a:spcAft>
              <a:buNone/>
            </a:pPr>
            <a:r>
              <a:rPr lang="en-US" sz="1250" dirty="0">
                <a:solidFill>
                  <a:srgbClr val="4B5B6E"/>
                </a:solidFill>
                <a:latin typeface="Tajawal" pitchFamily="34" charset="0"/>
                <a:ea typeface="Tajawal" pitchFamily="34" charset="-122"/>
                <a:cs typeface="Tajawal" pitchFamily="34" charset="-120"/>
              </a:rPr>
              <a:t>وإضافة موقع جديد لا تمس الشيفرة: مجلد صور جديد، وإعادة تشغيل بناء الفهرس.</a:t>
            </a:r>
            <a:endParaRPr lang="en-US" sz="1250" dirty="0"/>
          </a:p>
          <a:p>
            <a:pPr rtl="1" algn="r" indent="0" marL="0">
              <a:lnSpc>
                <a:spcPts val="2000"/>
              </a:lnSpc>
              <a:spcAft>
                <a:spcPts val="1300"/>
              </a:spcAft>
              <a:buNone/>
            </a:pPr>
            <a:r>
              <a:rPr lang="en-US" sz="1250" dirty="0">
                <a:solidFill>
                  <a:srgbClr val="4B5B6E"/>
                </a:solidFill>
                <a:latin typeface="Tajawal" pitchFamily="34" charset="0"/>
                <a:ea typeface="Tajawal" pitchFamily="34" charset="-122"/>
                <a:cs typeface="Tajawal" pitchFamily="34" charset="-120"/>
              </a:rPr>
              <a:t>والفهرس يتوسع بلا حد: كل سائح يصحح يزيد دقته لمن بعده.</a:t>
            </a:r>
            <a:endParaRPr lang="en-US" sz="1250" dirty="0"/>
          </a:p>
        </p:txBody>
      </p:sp>
      <p:sp>
        <p:nvSpPr>
          <p:cNvPr id="23" name="Shape 20"/>
          <p:cNvSpPr/>
          <p:nvPr/>
        </p:nvSpPr>
        <p:spPr>
          <a:xfrm>
            <a:off x="777240" y="2761488"/>
            <a:ext cx="5181448" cy="2249424"/>
          </a:xfrm>
          <a:prstGeom prst="roundRect">
            <a:avLst>
              <a:gd name="adj" fmla="val 3252"/>
            </a:avLst>
          </a:prstGeom>
          <a:solidFill>
            <a:srgbClr val="EEF3F9"/>
          </a:solidFill>
          <a:ln w="9525">
            <a:solidFill>
              <a:srgbClr val="D9E2EC"/>
            </a:solidFill>
            <a:prstDash val="solid"/>
          </a:ln>
        </p:spPr>
      </p:sp>
      <p:sp>
        <p:nvSpPr>
          <p:cNvPr id="24" name="Text 21"/>
          <p:cNvSpPr/>
          <p:nvPr/>
        </p:nvSpPr>
        <p:spPr>
          <a:xfrm>
            <a:off x="1051560" y="2962656"/>
            <a:ext cx="4632808" cy="329184"/>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إلى أين يتوسع</a:t>
            </a:r>
            <a:endParaRPr lang="en-US" sz="1500" dirty="0"/>
          </a:p>
        </p:txBody>
      </p:sp>
      <p:sp>
        <p:nvSpPr>
          <p:cNvPr id="25" name="Text 22"/>
          <p:cNvSpPr/>
          <p:nvPr/>
        </p:nvSpPr>
        <p:spPr>
          <a:xfrm>
            <a:off x="1051560" y="3383280"/>
            <a:ext cx="4632808" cy="1463040"/>
          </a:xfrm>
          <a:prstGeom prst="rect">
            <a:avLst/>
          </a:prstGeom>
          <a:noFill/>
          <a:ln/>
        </p:spPr>
        <p:txBody>
          <a:bodyPr wrap="square" lIns="0" tIns="0" rIns="0" bIns="0" rtlCol="0" anchor="t"/>
          <a:lstStyle/>
          <a:p>
            <a:pPr rtl="1" algn="r" indent="0" marL="0">
              <a:lnSpc>
                <a:spcPts val="2000"/>
              </a:lnSpc>
              <a:spcAft>
                <a:spcPts val="900"/>
              </a:spcAft>
              <a:buNone/>
            </a:pPr>
            <a:r>
              <a:rPr lang="en-US" sz="1250" dirty="0">
                <a:solidFill>
                  <a:srgbClr val="4B5B6E"/>
                </a:solidFill>
                <a:latin typeface="Tajawal" pitchFamily="34" charset="0"/>
                <a:ea typeface="Tajawal" pitchFamily="34" charset="-122"/>
                <a:cs typeface="Tajawal" pitchFamily="34" charset="-120"/>
              </a:rPr>
              <a:t>بقية مواقع حائل: الشويمس، وجبال أجا، والقشلة، وقلعة أعيرف.</a:t>
            </a:r>
            <a:endParaRPr lang="en-US" sz="1250" dirty="0"/>
          </a:p>
          <a:p>
            <a:pPr rtl="1" algn="r" indent="0" marL="0">
              <a:lnSpc>
                <a:spcPts val="2000"/>
              </a:lnSpc>
              <a:spcAft>
                <a:spcPts val="900"/>
              </a:spcAft>
              <a:buNone/>
            </a:pPr>
            <a:r>
              <a:rPr lang="en-US" sz="1250" dirty="0">
                <a:solidFill>
                  <a:srgbClr val="4B5B6E"/>
                </a:solidFill>
                <a:latin typeface="Tajawal" pitchFamily="34" charset="0"/>
                <a:ea typeface="Tajawal" pitchFamily="34" charset="-122"/>
                <a:cs typeface="Tajawal" pitchFamily="34" charset="-120"/>
              </a:rPr>
              <a:t>ثم الجنوب حيث النقوش بالآلاف: أبها، وعسير، ونجران، وجازان.</a:t>
            </a:r>
            <a:endParaRPr lang="en-US" sz="1250" dirty="0"/>
          </a:p>
          <a:p>
            <a:pPr rtl="1" algn="r" indent="0" marL="0">
              <a:lnSpc>
                <a:spcPts val="2000"/>
              </a:lnSpc>
              <a:spcAft>
                <a:spcPts val="900"/>
              </a:spcAft>
              <a:buNone/>
            </a:pPr>
            <a:r>
              <a:rPr lang="en-US" sz="1250" dirty="0">
                <a:solidFill>
                  <a:srgbClr val="4B5B6E"/>
                </a:solidFill>
                <a:latin typeface="Tajawal" pitchFamily="34" charset="0"/>
                <a:ea typeface="Tajawal" pitchFamily="34" charset="-122"/>
                <a:cs typeface="Tajawal" pitchFamily="34" charset="-120"/>
              </a:rPr>
              <a:t>وكل مدينة غنية بالنقوش: العلا، وتيماء، وتبوك، والجوف.</a:t>
            </a:r>
            <a:endParaRPr lang="en-US" sz="1250" dirty="0"/>
          </a:p>
          <a:p>
            <a:pPr rtl="1" algn="r" indent="0" marL="0">
              <a:lnSpc>
                <a:spcPts val="2000"/>
              </a:lnSpc>
              <a:spcAft>
                <a:spcPts val="900"/>
              </a:spcAft>
              <a:buNone/>
            </a:pPr>
            <a:r>
              <a:rPr lang="en-US" sz="1250" dirty="0">
                <a:solidFill>
                  <a:srgbClr val="4B5B6E"/>
                </a:solidFill>
                <a:latin typeface="Tajawal" pitchFamily="34" charset="0"/>
                <a:ea typeface="Tajawal" pitchFamily="34" charset="-122"/>
                <a:cs typeface="Tajawal" pitchFamily="34" charset="-120"/>
              </a:rPr>
              <a:t>ثم نسخة بيضاء لأي متحف أو موقع تراثي.</a:t>
            </a:r>
            <a:endParaRPr lang="en-US" sz="1250" dirty="0"/>
          </a:p>
        </p:txBody>
      </p:sp>
      <p:pic>
        <p:nvPicPr>
          <p:cNvPr id="26" name="Image 1" descr="preencoded.png">    </p:cNvPr>
          <p:cNvPicPr>
            <a:picLocks noChangeAspect="1"/>
          </p:cNvPicPr>
          <p:nvPr/>
        </p:nvPicPr>
        <p:blipFill>
          <a:blip r:embed="rId2"/>
          <a:stretch>
            <a:fillRect/>
          </a:stretch>
        </p:blipFill>
        <p:spPr>
          <a:xfrm>
            <a:off x="9677095" y="5175504"/>
            <a:ext cx="1737360" cy="1158240"/>
          </a:xfrm>
          <a:prstGeom prst="rect">
            <a:avLst/>
          </a:prstGeom>
        </p:spPr>
      </p:pic>
      <p:sp>
        <p:nvSpPr>
          <p:cNvPr id="27" name="Text 23"/>
          <p:cNvSpPr/>
          <p:nvPr/>
        </p:nvSpPr>
        <p:spPr>
          <a:xfrm>
            <a:off x="9585655" y="6406896"/>
            <a:ext cx="1920240" cy="256032"/>
          </a:xfrm>
          <a:prstGeom prst="rect">
            <a:avLst/>
          </a:prstGeom>
          <a:noFill/>
          <a:ln/>
        </p:spPr>
        <p:txBody>
          <a:bodyPr wrap="square" lIns="0" tIns="0" rIns="0" bIns="0" rtlCol="0" anchor="ctr"/>
          <a:lstStyle/>
          <a:p>
            <a:pPr rtl="1" algn="ctr" indent="0" marL="0">
              <a:buNone/>
            </a:pPr>
            <a:r>
              <a:rPr lang="en-US" sz="1100" dirty="0">
                <a:solidFill>
                  <a:srgbClr val="4B5B6E"/>
                </a:solidFill>
                <a:latin typeface="Tajawal" pitchFamily="34" charset="0"/>
                <a:ea typeface="Tajawal" pitchFamily="34" charset="-122"/>
                <a:cs typeface="Tajawal" pitchFamily="34" charset="-120"/>
              </a:rPr>
              <a:t>الشويمس</a:t>
            </a:r>
            <a:endParaRPr lang="en-US" sz="1100" dirty="0"/>
          </a:p>
        </p:txBody>
      </p:sp>
      <p:pic>
        <p:nvPicPr>
          <p:cNvPr id="28" name="Image 2" descr="preencoded.png">    </p:cNvPr>
          <p:cNvPicPr>
            <a:picLocks noChangeAspect="1"/>
          </p:cNvPicPr>
          <p:nvPr/>
        </p:nvPicPr>
        <p:blipFill>
          <a:blip r:embed="rId3"/>
          <a:stretch>
            <a:fillRect/>
          </a:stretch>
        </p:blipFill>
        <p:spPr>
          <a:xfrm>
            <a:off x="7720279" y="5175504"/>
            <a:ext cx="1737360" cy="1158240"/>
          </a:xfrm>
          <a:prstGeom prst="rect">
            <a:avLst/>
          </a:prstGeom>
        </p:spPr>
      </p:pic>
      <p:sp>
        <p:nvSpPr>
          <p:cNvPr id="29" name="Text 24"/>
          <p:cNvSpPr/>
          <p:nvPr/>
        </p:nvSpPr>
        <p:spPr>
          <a:xfrm>
            <a:off x="7628839" y="6406896"/>
            <a:ext cx="1920240" cy="256032"/>
          </a:xfrm>
          <a:prstGeom prst="rect">
            <a:avLst/>
          </a:prstGeom>
          <a:noFill/>
          <a:ln/>
        </p:spPr>
        <p:txBody>
          <a:bodyPr wrap="square" lIns="0" tIns="0" rIns="0" bIns="0" rtlCol="0" anchor="ctr"/>
          <a:lstStyle/>
          <a:p>
            <a:pPr rtl="1" algn="ctr" indent="0" marL="0">
              <a:buNone/>
            </a:pPr>
            <a:r>
              <a:rPr lang="en-US" sz="1100" dirty="0">
                <a:solidFill>
                  <a:srgbClr val="4B5B6E"/>
                </a:solidFill>
                <a:latin typeface="Tajawal" pitchFamily="34" charset="0"/>
                <a:ea typeface="Tajawal" pitchFamily="34" charset="-122"/>
                <a:cs typeface="Tajawal" pitchFamily="34" charset="-120"/>
              </a:rPr>
              <a:t>جبال أجا</a:t>
            </a:r>
            <a:endParaRPr lang="en-US" sz="1100" dirty="0"/>
          </a:p>
        </p:txBody>
      </p:sp>
      <p:pic>
        <p:nvPicPr>
          <p:cNvPr id="30" name="Image 3" descr="preencoded.png">    </p:cNvPr>
          <p:cNvPicPr>
            <a:picLocks noChangeAspect="1"/>
          </p:cNvPicPr>
          <p:nvPr/>
        </p:nvPicPr>
        <p:blipFill>
          <a:blip r:embed="rId4"/>
          <a:stretch>
            <a:fillRect/>
          </a:stretch>
        </p:blipFill>
        <p:spPr>
          <a:xfrm>
            <a:off x="5763463" y="5175504"/>
            <a:ext cx="1737360" cy="1158240"/>
          </a:xfrm>
          <a:prstGeom prst="rect">
            <a:avLst/>
          </a:prstGeom>
        </p:spPr>
      </p:pic>
      <p:sp>
        <p:nvSpPr>
          <p:cNvPr id="31" name="Text 25"/>
          <p:cNvSpPr/>
          <p:nvPr/>
        </p:nvSpPr>
        <p:spPr>
          <a:xfrm>
            <a:off x="5672023" y="6406896"/>
            <a:ext cx="1920240" cy="256032"/>
          </a:xfrm>
          <a:prstGeom prst="rect">
            <a:avLst/>
          </a:prstGeom>
          <a:noFill/>
          <a:ln/>
        </p:spPr>
        <p:txBody>
          <a:bodyPr wrap="square" lIns="0" tIns="0" rIns="0" bIns="0" rtlCol="0" anchor="ctr"/>
          <a:lstStyle/>
          <a:p>
            <a:pPr rtl="1" algn="ctr" indent="0" marL="0">
              <a:buNone/>
            </a:pPr>
            <a:r>
              <a:rPr lang="en-US" sz="1100" dirty="0">
                <a:solidFill>
                  <a:srgbClr val="4B5B6E"/>
                </a:solidFill>
                <a:latin typeface="Tajawal" pitchFamily="34" charset="0"/>
                <a:ea typeface="Tajawal" pitchFamily="34" charset="-122"/>
                <a:cs typeface="Tajawal" pitchFamily="34" charset="-120"/>
              </a:rPr>
              <a:t>القشلة</a:t>
            </a:r>
            <a:endParaRPr lang="en-US" sz="1100" dirty="0"/>
          </a:p>
        </p:txBody>
      </p:sp>
      <p:pic>
        <p:nvPicPr>
          <p:cNvPr id="32" name="Image 4" descr="preencoded.png">    </p:cNvPr>
          <p:cNvPicPr>
            <a:picLocks noChangeAspect="1"/>
          </p:cNvPicPr>
          <p:nvPr/>
        </p:nvPicPr>
        <p:blipFill>
          <a:blip r:embed="rId5"/>
          <a:stretch>
            <a:fillRect/>
          </a:stretch>
        </p:blipFill>
        <p:spPr>
          <a:xfrm>
            <a:off x="3806647" y="5175504"/>
            <a:ext cx="1737360" cy="1158240"/>
          </a:xfrm>
          <a:prstGeom prst="rect">
            <a:avLst/>
          </a:prstGeom>
        </p:spPr>
      </p:pic>
      <p:sp>
        <p:nvSpPr>
          <p:cNvPr id="33" name="Text 26"/>
          <p:cNvSpPr/>
          <p:nvPr/>
        </p:nvSpPr>
        <p:spPr>
          <a:xfrm>
            <a:off x="3715207" y="6406896"/>
            <a:ext cx="1920240" cy="256032"/>
          </a:xfrm>
          <a:prstGeom prst="rect">
            <a:avLst/>
          </a:prstGeom>
          <a:noFill/>
          <a:ln/>
        </p:spPr>
        <p:txBody>
          <a:bodyPr wrap="square" lIns="0" tIns="0" rIns="0" bIns="0" rtlCol="0" anchor="ctr"/>
          <a:lstStyle/>
          <a:p>
            <a:pPr rtl="1" algn="ctr" indent="0" marL="0">
              <a:buNone/>
            </a:pPr>
            <a:r>
              <a:rPr lang="en-US" sz="1100" dirty="0">
                <a:solidFill>
                  <a:srgbClr val="4B5B6E"/>
                </a:solidFill>
                <a:latin typeface="Tajawal" pitchFamily="34" charset="0"/>
                <a:ea typeface="Tajawal" pitchFamily="34" charset="-122"/>
                <a:cs typeface="Tajawal" pitchFamily="34" charset="-120"/>
              </a:rPr>
              <a:t>قلعة أعيرف</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61223"/>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preencoded.png">    </p:cNvPr>
          <p:cNvPicPr>
            <a:picLocks noChangeAspect="1"/>
          </p:cNvPicPr>
          <p:nvPr/>
        </p:nvPicPr>
        <p:blipFill>
          <a:blip r:embed="rId2"/>
          <a:stretch>
            <a:fillRect/>
          </a:stretch>
        </p:blipFill>
        <p:spPr>
          <a:xfrm>
            <a:off x="457200" y="384048"/>
            <a:ext cx="1371600" cy="512064"/>
          </a:xfrm>
          <a:prstGeom prst="rect">
            <a:avLst/>
          </a:prstGeom>
        </p:spPr>
      </p:pic>
      <p:pic>
        <p:nvPicPr>
          <p:cNvPr id="4" name="Image 2" descr="preencoded.png">    </p:cNvPr>
          <p:cNvPicPr>
            <a:picLocks noChangeAspect="1"/>
          </p:cNvPicPr>
          <p:nvPr/>
        </p:nvPicPr>
        <p:blipFill>
          <a:blip r:embed="rId3"/>
          <a:stretch>
            <a:fillRect/>
          </a:stretch>
        </p:blipFill>
        <p:spPr>
          <a:xfrm>
            <a:off x="10591495" y="320040"/>
            <a:ext cx="1143000" cy="1124712"/>
          </a:xfrm>
          <a:prstGeom prst="rect">
            <a:avLst/>
          </a:prstGeom>
        </p:spPr>
      </p:pic>
      <p:sp>
        <p:nvSpPr>
          <p:cNvPr id="5" name="Text 0"/>
          <p:cNvSpPr/>
          <p:nvPr/>
        </p:nvSpPr>
        <p:spPr>
          <a:xfrm>
            <a:off x="4632808" y="2788920"/>
            <a:ext cx="2926080" cy="822960"/>
          </a:xfrm>
          <a:prstGeom prst="rect">
            <a:avLst/>
          </a:prstGeom>
          <a:noFill/>
          <a:ln/>
        </p:spPr>
        <p:txBody>
          <a:bodyPr wrap="square" lIns="0" tIns="0" rIns="0" bIns="0" rtlCol="0" anchor="ctr"/>
          <a:lstStyle/>
          <a:p>
            <a:pPr rtl="1" algn="ctr" indent="0" marL="0">
              <a:buNone/>
            </a:pPr>
            <a:r>
              <a:rPr lang="en-US" sz="3800" b="1" dirty="0">
                <a:solidFill>
                  <a:srgbClr val="FFFFFF"/>
                </a:solidFill>
                <a:latin typeface="Tajawal" pitchFamily="34" charset="0"/>
                <a:ea typeface="Tajawal" pitchFamily="34" charset="-122"/>
                <a:cs typeface="Tajawal" pitchFamily="34" charset="-120"/>
              </a:rPr>
              <a:t>شكرا لكم</a:t>
            </a:r>
            <a:endParaRPr lang="en-US" sz="3800" dirty="0"/>
          </a:p>
        </p:txBody>
      </p:sp>
      <p:sp>
        <p:nvSpPr>
          <p:cNvPr id="6" name="Shape 1"/>
          <p:cNvSpPr/>
          <p:nvPr/>
        </p:nvSpPr>
        <p:spPr>
          <a:xfrm>
            <a:off x="5227168" y="3767328"/>
            <a:ext cx="1737360" cy="91440"/>
          </a:xfrm>
          <a:prstGeom prst="rect">
            <a:avLst/>
          </a:prstGeom>
          <a:solidFill>
            <a:srgbClr val="8357F6"/>
          </a:solidFill>
          <a:ln w="12700">
            <a:solidFill>
              <a:srgbClr val="333333"/>
            </a:solidFill>
            <a:prstDash val="solid"/>
          </a:ln>
        </p:spPr>
      </p:sp>
      <p:sp>
        <p:nvSpPr>
          <p:cNvPr id="7" name="Text 2"/>
          <p:cNvSpPr/>
          <p:nvPr/>
        </p:nvSpPr>
        <p:spPr>
          <a:xfrm>
            <a:off x="0" y="4114800"/>
            <a:ext cx="12191695" cy="411480"/>
          </a:xfrm>
          <a:prstGeom prst="rect">
            <a:avLst/>
          </a:prstGeom>
          <a:noFill/>
          <a:ln/>
        </p:spPr>
        <p:txBody>
          <a:bodyPr wrap="square" lIns="0" tIns="0" rIns="0" bIns="0" rtlCol="0" anchor="ctr"/>
          <a:lstStyle/>
          <a:p>
            <a:pPr algn="ctr" indent="0" marL="0">
              <a:buNone/>
            </a:pPr>
            <a:r>
              <a:rPr lang="en-US" sz="1500" dirty="0">
                <a:solidFill>
                  <a:srgbClr val="A9B6C8"/>
                </a:solidFill>
                <a:latin typeface="Calibri" pitchFamily="34" charset="0"/>
                <a:ea typeface="Calibri" pitchFamily="34" charset="-122"/>
                <a:cs typeface="Calibri" pitchFamily="34" charset="-120"/>
              </a:rPr>
              <a:t>w-electro.github.io/athr</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أثر — تسليم هاكاثون AJA AI</dc:title>
  <dc:subject>PptxGenJS Presentation</dc:subject>
  <dc:creator>أثر</dc:creator>
  <cp:lastModifiedBy>أثر</cp:lastModifiedBy>
  <cp:revision>1</cp:revision>
  <dcterms:created xsi:type="dcterms:W3CDTF">2026-09-30T06:34:49Z</dcterms:created>
  <dcterms:modified xsi:type="dcterms:W3CDTF">2026-09-30T06:34:49Z</dcterms:modified>
</cp:coreProperties>
</file>