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201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بنقوش جبة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تعلم أشكال الأشياء من ملايين الصور دون وسم بشري</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القرار: فهرس بصمات من الميدان،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كلما استعمل، ونوظف الذكاء الاصطناعي مرة ثانية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933459" y="4498848"/>
            <a:ext cx="2480996"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933459"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9043187"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6214720" y="4498848"/>
            <a:ext cx="2480996"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6214720" y="4645152"/>
            <a:ext cx="2480996"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20" name="Text 12"/>
          <p:cNvSpPr/>
          <p:nvPr/>
        </p:nvSpPr>
        <p:spPr>
          <a:xfrm>
            <a:off x="632444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إجابة خاطئة على 175</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صورة من خارج الفهرس</a:t>
            </a:r>
            <a:endParaRPr lang="en-US" sz="1100" dirty="0"/>
          </a:p>
        </p:txBody>
      </p:sp>
      <p:sp>
        <p:nvSpPr>
          <p:cNvPr id="21" name="Shape 13"/>
          <p:cNvSpPr/>
          <p:nvPr/>
        </p:nvSpPr>
        <p:spPr>
          <a:xfrm>
            <a:off x="3495980" y="4498848"/>
            <a:ext cx="2480996"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349598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3" name="Text 15"/>
          <p:cNvSpPr/>
          <p:nvPr/>
        </p:nvSpPr>
        <p:spPr>
          <a:xfrm>
            <a:off x="360570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4" name="Shape 16"/>
          <p:cNvSpPr/>
          <p:nvPr/>
        </p:nvSpPr>
        <p:spPr>
          <a:xfrm>
            <a:off x="777240" y="4498848"/>
            <a:ext cx="2480996" cy="1225296"/>
          </a:xfrm>
          <a:prstGeom prst="roundRect">
            <a:avLst>
              <a:gd name="adj" fmla="val 5970"/>
            </a:avLst>
          </a:prstGeom>
          <a:solidFill>
            <a:srgbClr val="EEF3F9"/>
          </a:solidFill>
          <a:ln w="9525">
            <a:solidFill>
              <a:srgbClr val="D9E2EC"/>
            </a:solidFill>
            <a:prstDash val="solid"/>
          </a:ln>
        </p:spPr>
      </p:sp>
      <p:sp>
        <p:nvSpPr>
          <p:cNvPr id="25" name="Text 17"/>
          <p:cNvSpPr/>
          <p:nvPr/>
        </p:nvSpPr>
        <p:spPr>
          <a:xfrm>
            <a:off x="77724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6" name="Text 18"/>
          <p:cNvSpPr/>
          <p:nvPr/>
        </p:nvSpPr>
        <p:spPr>
          <a:xfrm>
            <a:off x="88696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7" name="Text 19"/>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4"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6"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 مثل محمية رملة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7"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9"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شركاء محليون من مطاعم ومقاهي ومحميات سياحية مثل محمية رملة، ندرج مواقعهم في مسار رحلتي برسوم محددة، فهم يريدون الوصول إلى السائح</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وترخيص سنوي للجهة المشغلة عن كل موقع، ورسوم إعداد لكل موقع جديد، ونسخة بيضاء لمتاحف أخرى</a:t>
            </a:r>
            <a:endParaRPr lang="en-US" sz="1250" dirty="0"/>
          </a:p>
        </p:txBody>
      </p:sp>
      <p:sp>
        <p:nvSpPr>
          <p:cNvPr id="10"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2"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3"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4"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5" name="Shape 12"/>
          <p:cNvSpPr/>
          <p:nvPr/>
        </p:nvSpPr>
        <p:spPr>
          <a:xfrm>
            <a:off x="9037015" y="5138928"/>
            <a:ext cx="2377440" cy="1225296"/>
          </a:xfrm>
          <a:prstGeom prst="roundRect">
            <a:avLst>
              <a:gd name="adj" fmla="val 5970"/>
            </a:avLst>
          </a:prstGeom>
          <a:solidFill>
            <a:srgbClr val="EEF3F9"/>
          </a:solidFill>
          <a:ln w="9525">
            <a:solidFill>
              <a:srgbClr val="D9E2EC"/>
            </a:solidFill>
            <a:prstDash val="solid"/>
          </a:ln>
        </p:spPr>
      </p:sp>
      <p:sp>
        <p:nvSpPr>
          <p:cNvPr id="16" name="Text 13"/>
          <p:cNvSpPr/>
          <p:nvPr/>
        </p:nvSpPr>
        <p:spPr>
          <a:xfrm>
            <a:off x="9037015" y="5285232"/>
            <a:ext cx="237744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7" name="Text 14"/>
          <p:cNvSpPr/>
          <p:nvPr/>
        </p:nvSpPr>
        <p:spPr>
          <a:xfrm>
            <a:off x="9146743" y="5870448"/>
            <a:ext cx="215798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8" name="Shape 15"/>
          <p:cNvSpPr/>
          <p:nvPr/>
        </p:nvSpPr>
        <p:spPr>
          <a:xfrm>
            <a:off x="777240" y="5138928"/>
            <a:ext cx="8022031" cy="1225296"/>
          </a:xfrm>
          <a:prstGeom prst="roundRect">
            <a:avLst>
              <a:gd name="adj" fmla="val 5970"/>
            </a:avLst>
          </a:prstGeom>
          <a:solidFill>
            <a:srgbClr val="E9E2FB"/>
          </a:solidFill>
          <a:ln w="9525">
            <a:solidFill>
              <a:srgbClr val="D9E2EC"/>
            </a:solidFill>
            <a:prstDash val="solid"/>
          </a:ln>
        </p:spPr>
      </p:sp>
      <p:sp>
        <p:nvSpPr>
          <p:cNvPr id="19" name="Text 16"/>
          <p:cNvSpPr/>
          <p:nvPr/>
        </p:nvSpPr>
        <p:spPr>
          <a:xfrm>
            <a:off x="1051560" y="5266944"/>
            <a:ext cx="7473391" cy="310896"/>
          </a:xfrm>
          <a:prstGeom prst="rect">
            <a:avLst/>
          </a:prstGeom>
          <a:noFill/>
          <a:ln/>
        </p:spPr>
        <p:txBody>
          <a:bodyPr wrap="square" lIns="0" tIns="0" rIns="0" bIns="0" rtlCol="0" anchor="ctr"/>
          <a:lstStyle/>
          <a:p>
            <a:pPr rtl="1" algn="r" indent="0" marL="0">
              <a:buNone/>
            </a:pPr>
            <a:r>
              <a:rPr lang="en-US" sz="1400" b="1" dirty="0">
                <a:solidFill>
                  <a:srgbClr val="4B2E9E"/>
                </a:solidFill>
                <a:latin typeface="Tajawal" pitchFamily="34" charset="0"/>
                <a:ea typeface="Tajawal" pitchFamily="34" charset="-122"/>
                <a:cs typeface="Tajawal" pitchFamily="34" charset="-120"/>
              </a:rPr>
              <a:t>مصدر دخل مبتكر: ختم الرحلة</a:t>
            </a:r>
            <a:endParaRPr lang="en-US" sz="1400" dirty="0"/>
          </a:p>
        </p:txBody>
      </p:sp>
      <p:sp>
        <p:nvSpPr>
          <p:cNvPr id="20" name="Text 17"/>
          <p:cNvSpPr/>
          <p:nvPr/>
        </p:nvSpPr>
        <p:spPr>
          <a:xfrm>
            <a:off x="1051560" y="5614416"/>
            <a:ext cx="7473391" cy="640080"/>
          </a:xfrm>
          <a:prstGeom prst="rect">
            <a:avLst/>
          </a:prstGeom>
          <a:noFill/>
          <a:ln/>
        </p:spPr>
        <p:txBody>
          <a:bodyPr wrap="square" lIns="0" tIns="0" rIns="0" bIns="0" rtlCol="0" anchor="t"/>
          <a:lstStyle/>
          <a:p>
            <a:pPr rtl="1" algn="r" indent="0" marL="0">
              <a:lnSpc>
                <a:spcPts val="1900"/>
              </a:lnSpc>
              <a:buNone/>
            </a:pPr>
            <a:r>
              <a:rPr lang="en-US" sz="1250" dirty="0">
                <a:solidFill>
                  <a:srgbClr val="4B5B6E"/>
                </a:solidFill>
                <a:latin typeface="Tajawal" pitchFamily="34" charset="0"/>
                <a:ea typeface="Tajawal" pitchFamily="34" charset="-122"/>
                <a:cs typeface="Tajawal" pitchFamily="34" charset="-120"/>
              </a:rPr>
              <a:t>حين يمسح السائح النقش يثبت وجوده في الموقع، فيحصل على خصم في أقرب مقهى أو مطعم شريك، ويدفع الشريك عمولة عن كل زيارة مؤكدة لا عن إعلان قد لا يراه أحد</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أو موقع تراثي</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2026-09-30T06:38:49Z</dcterms:created>
  <dcterms:modified xsi:type="dcterms:W3CDTF">2026-09-30T06:38:49Z</dcterms:modified>
</cp:coreProperties>
</file>