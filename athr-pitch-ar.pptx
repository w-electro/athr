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tl="1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ابدأ بالمكان لا بالتقنية: ما خلفي نقوش جبة، على بعد ساعة من حائل، وعمر بعضها عشرة آلاف سنة.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ثلاثة أسئلة يحملها الزائر، وثلاثتها تُجاب في الشريحة التالية: أي لوحة، وبأي لغة، وبلا شبكة.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اعرض هنا مباشرة على جوالك. ولا تشرح البنية أثناء العرض — دعهم يرونه يعمل.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لو سُئلت: لم ندرّب الشبكة ولم نغيّر أوزانها. نستخدم تمثيلات نموذج جاهز ونبحث فيها — وهو ما تفعله محركات البحث بالصور.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هذه نقطة التميز. قُلها بوضوح وامضِ — لا تُطِل فيها.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اعرضه حيا: امسح، صحّح، امسح مرة أخرى. عشر ثوان يرون فيها التعلم يقع. وإن سُئلت: النموذج غير بارامتري (k-NN)، وأوزان الشبكة لا تتغير — الذي يتغير هو ما يعرفه عن لوحات جبة.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هذه شريحة الرحلة. اذكر أن الترتيب مقصود: الميدان أولا، ثم النموذج، ثم مقياس أمين، ثم التعلم من الزائر. ولو سأل محكّم عن الأرقام الحقيقية للدقة، فالجواب جاهز عندك شفهيا.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اختم بأن تعطي أحد المحكّمين جوالك، أو اتركهم يمسحون الرمز فيفتحوه على أجهزتهم.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0F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!!wordmark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394960" y="1737360"/>
            <a:ext cx="61264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0" b="1" dirty="0">
                <a:solidFill>
                  <a:srgbClr val="DD8C58"/>
                </a:solidFill>
                <a:latin typeface="Reem Kufi" pitchFamily="34" charset="0"/>
                <a:ea typeface="Reem Kufi" pitchFamily="34" charset="-122"/>
                <a:cs typeface="Reem Kufi" pitchFamily="34" charset="-120"/>
              </a:rPr>
              <a:t>أثر</a:t>
            </a:r>
            <a:endParaRPr lang="en-US" sz="13000" dirty="0"/>
          </a:p>
        </p:txBody>
      </p:sp>
      <p:sp>
        <p:nvSpPr>
          <p:cNvPr id="4" name="Text 1"/>
          <p:cNvSpPr/>
          <p:nvPr/>
        </p:nvSpPr>
        <p:spPr>
          <a:xfrm>
            <a:off x="4206240" y="384048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000" b="1" dirty="0">
                <a:solidFill>
                  <a:srgbClr val="E8DCC8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دليلك إلى نقوش حائل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4206240" y="452628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dirty="0">
                <a:solidFill>
                  <a:srgbClr val="A2977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يعمل بدون إنترنت، وبتسع وعشرين لغة</a:t>
            </a:r>
            <a:endParaRPr lang="en-US" sz="1700" dirty="0"/>
          </a:p>
        </p:txBody>
      </p:sp>
      <p:sp>
        <p:nvSpPr>
          <p:cNvPr id="6" name="Text 3"/>
          <p:cNvSpPr/>
          <p:nvPr/>
        </p:nvSpPr>
        <p:spPr>
          <a:xfrm>
            <a:off x="4206240" y="59436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E6757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نقوش جبة — حائل</a:t>
            </a:r>
            <a:endParaRPr lang="en-US" sz="12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900">
        <p159:morph option="byObject"/>
      </p:transition>
    </mc:Choice>
    <mc:Fallback>
      <p:transition xmlns:p14="http://schemas.microsoft.com/office/powerpoint/2010/main" spd="slow" p14:dur="900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0F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title"/>
          <p:cNvSpPr/>
          <p:nvPr/>
        </p:nvSpPr>
        <p:spPr>
          <a:xfrm>
            <a:off x="685800" y="502920"/>
            <a:ext cx="108200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800" b="1" dirty="0">
                <a:solidFill>
                  <a:srgbClr val="E8DCC8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زائر يقف أمام نقش</a:t>
            </a:r>
            <a:endParaRPr lang="en-US" sz="3800" dirty="0"/>
          </a:p>
        </p:txBody>
      </p:sp>
      <p:sp>
        <p:nvSpPr>
          <p:cNvPr id="3" name="Text 1"/>
          <p:cNvSpPr/>
          <p:nvPr/>
        </p:nvSpPr>
        <p:spPr>
          <a:xfrm>
            <a:off x="685800" y="1371600"/>
            <a:ext cx="108200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900" dirty="0">
                <a:solidFill>
                  <a:srgbClr val="A2977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ويريد أن يعرف: ما هذا؟ وكم عمره؟ ولماذا يختلف عن جاره؟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7939735" y="2103120"/>
            <a:ext cx="3566160" cy="3063240"/>
          </a:xfrm>
          <a:prstGeom prst="roundRect">
            <a:avLst>
              <a:gd name="adj" fmla="val 2985"/>
            </a:avLst>
          </a:prstGeom>
          <a:solidFill>
            <a:srgbClr val="151D2C"/>
          </a:solidFill>
          <a:ln w="12700">
            <a:solidFill>
              <a:srgbClr val="232D42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49578" y="2377440"/>
            <a:ext cx="1344837" cy="109728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305495" y="3639312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100" b="1" dirty="0">
                <a:solidFill>
                  <a:srgbClr val="DD8C58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أي لوحة هذه؟</a:t>
            </a:r>
            <a:endParaRPr lang="en-US" sz="2100" dirty="0"/>
          </a:p>
        </p:txBody>
      </p:sp>
      <p:sp>
        <p:nvSpPr>
          <p:cNvPr id="7" name="Text 4"/>
          <p:cNvSpPr/>
          <p:nvPr/>
        </p:nvSpPr>
        <p:spPr>
          <a:xfrm>
            <a:off x="8305495" y="4187952"/>
            <a:ext cx="2834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ts val="2300"/>
              </a:lnSpc>
              <a:buNone/>
            </a:pPr>
            <a:r>
              <a:rPr lang="en-US" sz="1400" dirty="0">
                <a:solidFill>
                  <a:srgbClr val="A2977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جدار واحد يحمل مئات اللوحات، ولكل واحدة قصتها وزمنها.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4236415" y="2103120"/>
            <a:ext cx="3566160" cy="3063240"/>
          </a:xfrm>
          <a:prstGeom prst="roundRect">
            <a:avLst>
              <a:gd name="adj" fmla="val 2985"/>
            </a:avLst>
          </a:prstGeom>
          <a:solidFill>
            <a:srgbClr val="151D2C"/>
          </a:solidFill>
          <a:ln w="12700">
            <a:solidFill>
              <a:srgbClr val="232D42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05528" y="2377440"/>
            <a:ext cx="1185567" cy="109728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4602175" y="3639312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100" b="1" dirty="0">
                <a:solidFill>
                  <a:srgbClr val="DD8C58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وبأي لغة؟</a:t>
            </a:r>
            <a:endParaRPr lang="en-US" sz="2100" dirty="0"/>
          </a:p>
        </p:txBody>
      </p:sp>
      <p:sp>
        <p:nvSpPr>
          <p:cNvPr id="11" name="Text 7"/>
          <p:cNvSpPr/>
          <p:nvPr/>
        </p:nvSpPr>
        <p:spPr>
          <a:xfrm>
            <a:off x="4602175" y="4187952"/>
            <a:ext cx="2834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ts val="2300"/>
              </a:lnSpc>
              <a:buNone/>
            </a:pPr>
            <a:r>
              <a:rPr lang="en-US" sz="1400" dirty="0">
                <a:solidFill>
                  <a:srgbClr val="A2977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زوار جبة من كل مكان، والقصة تصل حين يسمعها الزائر بلغته.</a:t>
            </a:r>
            <a:endParaRPr lang="en-US" sz="1400" dirty="0"/>
          </a:p>
        </p:txBody>
      </p:sp>
      <p:sp>
        <p:nvSpPr>
          <p:cNvPr id="12" name="Shape 8"/>
          <p:cNvSpPr/>
          <p:nvPr/>
        </p:nvSpPr>
        <p:spPr>
          <a:xfrm>
            <a:off x="533095" y="2103120"/>
            <a:ext cx="3566160" cy="3063240"/>
          </a:xfrm>
          <a:prstGeom prst="roundRect">
            <a:avLst>
              <a:gd name="adj" fmla="val 2985"/>
            </a:avLst>
          </a:prstGeom>
          <a:solidFill>
            <a:srgbClr val="151D2C"/>
          </a:solidFill>
          <a:ln w="12700">
            <a:solidFill>
              <a:srgbClr val="232D42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8926" y="2377440"/>
            <a:ext cx="938849" cy="1097280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898855" y="3639312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100" b="1" dirty="0">
                <a:solidFill>
                  <a:srgbClr val="DD8C58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وبلا شبكة</a:t>
            </a:r>
            <a:endParaRPr lang="en-US" sz="2100" dirty="0"/>
          </a:p>
        </p:txBody>
      </p:sp>
      <p:sp>
        <p:nvSpPr>
          <p:cNvPr id="15" name="Text 10"/>
          <p:cNvSpPr/>
          <p:nvPr/>
        </p:nvSpPr>
        <p:spPr>
          <a:xfrm>
            <a:off x="898855" y="4187952"/>
            <a:ext cx="2834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ts val="2300"/>
              </a:lnSpc>
              <a:buNone/>
            </a:pPr>
            <a:r>
              <a:rPr lang="en-US" sz="1400" dirty="0">
                <a:solidFill>
                  <a:srgbClr val="A2977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الموقع في الصحراء المفتوحة، فأي حل يعتمد على الإنترنت يتوقف.</a:t>
            </a:r>
            <a:endParaRPr lang="en-US" sz="1400" dirty="0"/>
          </a:p>
        </p:txBody>
      </p:sp>
      <p:sp>
        <p:nvSpPr>
          <p:cNvPr id="16" name="Text 11"/>
          <p:cNvSpPr/>
          <p:nvPr/>
        </p:nvSpPr>
        <p:spPr>
          <a:xfrm>
            <a:off x="685800" y="5486400"/>
            <a:ext cx="108200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i="1" dirty="0">
                <a:solidFill>
                  <a:srgbClr val="EFAE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أقرب جواب هو خادم في السحابة — وهو الجواب الذي لا يعمل هنا.</a:t>
            </a:r>
            <a:endParaRPr lang="en-US" sz="17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900">
        <p159:morph option="byObject"/>
      </p:transition>
    </mc:Choice>
    <mc:Fallback>
      <p:transition xmlns:p14="http://schemas.microsoft.com/office/powerpoint/2010/main" spd="slow" p14:dur="900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0F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title"/>
          <p:cNvSpPr/>
          <p:nvPr/>
        </p:nvSpPr>
        <p:spPr>
          <a:xfrm>
            <a:off x="685800" y="502920"/>
            <a:ext cx="108200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800" b="1" dirty="0">
                <a:solidFill>
                  <a:srgbClr val="E8DCC8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وجّه الكاميرا، واسمع القصة</a:t>
            </a:r>
            <a:endParaRPr lang="en-US" sz="3800" dirty="0"/>
          </a:p>
        </p:txBody>
      </p:sp>
      <p:sp>
        <p:nvSpPr>
          <p:cNvPr id="3" name="Shape 1"/>
          <p:cNvSpPr/>
          <p:nvPr/>
        </p:nvSpPr>
        <p:spPr>
          <a:xfrm>
            <a:off x="621792" y="1536192"/>
            <a:ext cx="2121195" cy="4288536"/>
          </a:xfrm>
          <a:prstGeom prst="roundRect">
            <a:avLst>
              <a:gd name="adj" fmla="val 5173"/>
            </a:avLst>
          </a:prstGeom>
          <a:solidFill>
            <a:srgbClr val="2A3244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279400" dist="76200" dir="5400000">
              <a:srgbClr val="000000">
                <a:alpha val="60000"/>
              </a:srgbClr>
            </a:outerShdw>
          </a:effectLst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600200"/>
            <a:ext cx="1993179" cy="416052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2999232" y="1536192"/>
            <a:ext cx="2121195" cy="4288536"/>
          </a:xfrm>
          <a:prstGeom prst="roundRect">
            <a:avLst>
              <a:gd name="adj" fmla="val 5173"/>
            </a:avLst>
          </a:prstGeom>
          <a:solidFill>
            <a:srgbClr val="2A3244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279400" dist="76200" dir="5400000">
              <a:srgbClr val="000000">
                <a:alpha val="60000"/>
              </a:srgbClr>
            </a:outerShdw>
          </a:effectLst>
        </p:spPr>
      </p:sp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63240" y="1600200"/>
            <a:ext cx="1993179" cy="416052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5760720" y="1645920"/>
            <a:ext cx="5760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200" b="1" dirty="0">
                <a:solidFill>
                  <a:srgbClr val="DD8C58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حرّك</a:t>
            </a:r>
            <a:endParaRPr lang="en-US" sz="2200" dirty="0"/>
          </a:p>
        </p:txBody>
      </p:sp>
      <p:sp>
        <p:nvSpPr>
          <p:cNvPr id="8" name="Text 4"/>
          <p:cNvSpPr/>
          <p:nvPr/>
        </p:nvSpPr>
        <p:spPr>
          <a:xfrm>
            <a:off x="5760720" y="2066544"/>
            <a:ext cx="5760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ts val="2100"/>
              </a:lnSpc>
              <a:buNone/>
            </a:pPr>
            <a:r>
              <a:rPr lang="en-US" sz="1350" dirty="0">
                <a:solidFill>
                  <a:srgbClr val="A2977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المسح مستمر وأنت تحرك يدك أمام النقش، فلا تحتاج لقطة مثالية.</a:t>
            </a:r>
            <a:endParaRPr lang="en-US" sz="1350" dirty="0"/>
          </a:p>
        </p:txBody>
      </p:sp>
      <p:sp>
        <p:nvSpPr>
          <p:cNvPr id="9" name="Text 5"/>
          <p:cNvSpPr/>
          <p:nvPr/>
        </p:nvSpPr>
        <p:spPr>
          <a:xfrm>
            <a:off x="5760720" y="2724912"/>
            <a:ext cx="5760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200" b="1" dirty="0">
                <a:solidFill>
                  <a:srgbClr val="DD8C58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يتعرّف</a:t>
            </a:r>
            <a:endParaRPr lang="en-US" sz="2200" dirty="0"/>
          </a:p>
        </p:txBody>
      </p:sp>
      <p:sp>
        <p:nvSpPr>
          <p:cNvPr id="10" name="Text 6"/>
          <p:cNvSpPr/>
          <p:nvPr/>
        </p:nvSpPr>
        <p:spPr>
          <a:xfrm>
            <a:off x="5760720" y="3145536"/>
            <a:ext cx="5760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ts val="2100"/>
              </a:lnSpc>
              <a:buNone/>
            </a:pPr>
            <a:r>
              <a:rPr lang="en-US" sz="1350" dirty="0">
                <a:solidFill>
                  <a:srgbClr val="A2977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يقول لك اسم اللوحة التي أمامك بعينها، لا أنها نقوش صخرية فقط.</a:t>
            </a:r>
            <a:endParaRPr lang="en-US" sz="1350" dirty="0"/>
          </a:p>
        </p:txBody>
      </p:sp>
      <p:sp>
        <p:nvSpPr>
          <p:cNvPr id="11" name="Text 7"/>
          <p:cNvSpPr/>
          <p:nvPr/>
        </p:nvSpPr>
        <p:spPr>
          <a:xfrm>
            <a:off x="5760720" y="3803904"/>
            <a:ext cx="5760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200" b="1" dirty="0">
                <a:solidFill>
                  <a:srgbClr val="DD8C58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اسمع</a:t>
            </a:r>
            <a:endParaRPr lang="en-US" sz="2200" dirty="0"/>
          </a:p>
        </p:txBody>
      </p:sp>
      <p:sp>
        <p:nvSpPr>
          <p:cNvPr id="12" name="Text 8"/>
          <p:cNvSpPr/>
          <p:nvPr/>
        </p:nvSpPr>
        <p:spPr>
          <a:xfrm>
            <a:off x="5760720" y="4224528"/>
            <a:ext cx="5760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ts val="2100"/>
              </a:lnSpc>
              <a:buNone/>
            </a:pPr>
            <a:r>
              <a:rPr lang="en-US" sz="1350" dirty="0">
                <a:solidFill>
                  <a:srgbClr val="A2977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تسمع قصتها بصوت، بلغتك أنت، ومعها تاريخ الموقع.</a:t>
            </a:r>
            <a:endParaRPr lang="en-US" sz="1350" dirty="0"/>
          </a:p>
        </p:txBody>
      </p:sp>
      <p:sp>
        <p:nvSpPr>
          <p:cNvPr id="13" name="Shape 9"/>
          <p:cNvSpPr/>
          <p:nvPr/>
        </p:nvSpPr>
        <p:spPr>
          <a:xfrm>
            <a:off x="5760720" y="4892040"/>
            <a:ext cx="5760720" cy="1143000"/>
          </a:xfrm>
          <a:prstGeom prst="roundRect">
            <a:avLst>
              <a:gd name="adj" fmla="val 8000"/>
            </a:avLst>
          </a:prstGeom>
          <a:solidFill>
            <a:srgbClr val="151D2C"/>
          </a:solidFill>
          <a:ln w="12700">
            <a:solidFill>
              <a:srgbClr val="232D42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10241280" y="5074920"/>
            <a:ext cx="1097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3800" b="1" dirty="0">
                <a:solidFill>
                  <a:srgbClr val="DD8C58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٢٩</a:t>
            </a:r>
            <a:endParaRPr lang="en-US" sz="3800" dirty="0"/>
          </a:p>
        </p:txBody>
      </p:sp>
      <p:sp>
        <p:nvSpPr>
          <p:cNvPr id="15" name="Text 11"/>
          <p:cNvSpPr/>
          <p:nvPr/>
        </p:nvSpPr>
        <p:spPr>
          <a:xfrm>
            <a:off x="9006840" y="5303520"/>
            <a:ext cx="1051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dirty="0">
                <a:solidFill>
                  <a:srgbClr val="A2977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لغة</a:t>
            </a:r>
            <a:endParaRPr lang="en-US" sz="1500" dirty="0"/>
          </a:p>
        </p:txBody>
      </p:sp>
      <p:sp>
        <p:nvSpPr>
          <p:cNvPr id="16" name="Text 12"/>
          <p:cNvSpPr/>
          <p:nvPr/>
        </p:nvSpPr>
        <p:spPr>
          <a:xfrm>
            <a:off x="7772400" y="5074920"/>
            <a:ext cx="1097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3800" b="1" dirty="0">
                <a:solidFill>
                  <a:srgbClr val="EFAE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١٠</a:t>
            </a:r>
            <a:endParaRPr lang="en-US" sz="3800" dirty="0"/>
          </a:p>
        </p:txBody>
      </p:sp>
      <p:sp>
        <p:nvSpPr>
          <p:cNvPr id="17" name="Text 13"/>
          <p:cNvSpPr/>
          <p:nvPr/>
        </p:nvSpPr>
        <p:spPr>
          <a:xfrm>
            <a:off x="6035040" y="5303520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A2977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لوحات موثقة</a:t>
            </a:r>
            <a:endParaRPr lang="en-US" sz="13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900">
        <p159:morph option="byObject"/>
      </p:transition>
    </mc:Choice>
    <mc:Fallback>
      <p:transition xmlns:p14="http://schemas.microsoft.com/office/powerpoint/2010/main" spd="slow" p14:dur="900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0F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title"/>
          <p:cNvSpPr/>
          <p:nvPr/>
        </p:nvSpPr>
        <p:spPr>
          <a:xfrm>
            <a:off x="685800" y="502920"/>
            <a:ext cx="108200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800" b="1" dirty="0">
                <a:solidFill>
                  <a:srgbClr val="E8DCC8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النموذج: DINOv3</a:t>
            </a:r>
            <a:endParaRPr lang="en-US" sz="3800" dirty="0"/>
          </a:p>
        </p:txBody>
      </p:sp>
      <p:sp>
        <p:nvSpPr>
          <p:cNvPr id="3" name="Shape 1"/>
          <p:cNvSpPr/>
          <p:nvPr/>
        </p:nvSpPr>
        <p:spPr>
          <a:xfrm>
            <a:off x="4160520" y="1554480"/>
            <a:ext cx="7360920" cy="4251960"/>
          </a:xfrm>
          <a:prstGeom prst="roundRect">
            <a:avLst>
              <a:gd name="adj" fmla="val 2151"/>
            </a:avLst>
          </a:prstGeom>
          <a:solidFill>
            <a:srgbClr val="151D2C"/>
          </a:solidFill>
          <a:ln w="12700">
            <a:solidFill>
              <a:srgbClr val="232D4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172200" y="1810512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DD8C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DINOv3  ViT-S/16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6172200" y="2395728"/>
            <a:ext cx="4983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b="1" dirty="0">
                <a:solidFill>
                  <a:srgbClr val="EFAE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ما هو؟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6172200" y="2779776"/>
            <a:ext cx="4983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ts val="2300"/>
              </a:lnSpc>
              <a:buNone/>
            </a:pPr>
            <a:r>
              <a:rPr lang="en-US" sz="1400" dirty="0">
                <a:solidFill>
                  <a:srgbClr val="A2977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نموذج رؤية مفتوح من Meta. نظر إلى ملايين الصور وتعلّم أشكال الأشياء بنفسه، دون أن يسمّيها له أحد.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172200" y="3511296"/>
            <a:ext cx="4983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b="1" dirty="0">
                <a:solidFill>
                  <a:srgbClr val="EFAE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ماذا يفعل؟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6172200" y="3895344"/>
            <a:ext cx="4983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ts val="2300"/>
              </a:lnSpc>
              <a:buNone/>
            </a:pPr>
            <a:r>
              <a:rPr lang="en-US" sz="1400" dirty="0">
                <a:solidFill>
                  <a:srgbClr val="A2977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يحوّل أي صورة إلى بصمة رقمية. والصورتان المتشابهتان تعطيان بصمتين متقاربتين.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172200" y="4626864"/>
            <a:ext cx="4983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b="1" dirty="0">
                <a:solidFill>
                  <a:srgbClr val="EFAE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كيف نستخدمه؟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6172200" y="5010912"/>
            <a:ext cx="4983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ts val="2300"/>
              </a:lnSpc>
              <a:buNone/>
            </a:pPr>
            <a:r>
              <a:rPr lang="en-US" sz="1400" dirty="0">
                <a:solidFill>
                  <a:srgbClr val="A2977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صوّرنا لوحات جبة وحفظنا بصماتها. وعند كل مسح نقارن بصمة الكاميرا بها ونختار الأقرب.</a:t>
            </a:r>
            <a:endParaRPr lang="en-US" sz="1400" dirty="0"/>
          </a:p>
        </p:txBody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79392" y="2999232"/>
            <a:ext cx="1737360" cy="1289304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4233672" y="4407408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300" i="1" dirty="0">
                <a:solidFill>
                  <a:srgbClr val="EFAE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يرى، فيتعرف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685800" y="1554480"/>
            <a:ext cx="3246120" cy="960120"/>
          </a:xfrm>
          <a:prstGeom prst="roundRect">
            <a:avLst>
              <a:gd name="adj" fmla="val 9524"/>
            </a:avLst>
          </a:prstGeom>
          <a:solidFill>
            <a:srgbClr val="232D42"/>
          </a:solidFill>
          <a:ln w="12700">
            <a:solidFill>
              <a:srgbClr val="232D42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941832" y="1673352"/>
            <a:ext cx="27340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EFAE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يميّز الشيء نفسه</a:t>
            </a:r>
            <a:endParaRPr lang="en-US" sz="1600" dirty="0"/>
          </a:p>
        </p:txBody>
      </p:sp>
      <p:sp>
        <p:nvSpPr>
          <p:cNvPr id="15" name="Text 12"/>
          <p:cNvSpPr/>
          <p:nvPr/>
        </p:nvSpPr>
        <p:spPr>
          <a:xfrm>
            <a:off x="941832" y="2075688"/>
            <a:ext cx="27340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A2977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هذه الصخرة بالذات، لا أي صخرة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685800" y="2651760"/>
            <a:ext cx="3246120" cy="960120"/>
          </a:xfrm>
          <a:prstGeom prst="roundRect">
            <a:avLst>
              <a:gd name="adj" fmla="val 9524"/>
            </a:avLst>
          </a:prstGeom>
          <a:solidFill>
            <a:srgbClr val="232D42"/>
          </a:solidFill>
          <a:ln w="12700">
            <a:solidFill>
              <a:srgbClr val="232D42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941832" y="2770632"/>
            <a:ext cx="27340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EFAE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تعلّم بلا معلّم</a:t>
            </a:r>
            <a:endParaRPr lang="en-US" sz="1600" dirty="0"/>
          </a:p>
        </p:txBody>
      </p:sp>
      <p:sp>
        <p:nvSpPr>
          <p:cNvPr id="18" name="Text 15"/>
          <p:cNvSpPr/>
          <p:nvPr/>
        </p:nvSpPr>
        <p:spPr>
          <a:xfrm>
            <a:off x="941832" y="3172968"/>
            <a:ext cx="27340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A2977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لم يخبره أحد ما في الصور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685800" y="3749040"/>
            <a:ext cx="3246120" cy="960120"/>
          </a:xfrm>
          <a:prstGeom prst="roundRect">
            <a:avLst>
              <a:gd name="adj" fmla="val 9524"/>
            </a:avLst>
          </a:prstGeom>
          <a:solidFill>
            <a:srgbClr val="232D42"/>
          </a:solidFill>
          <a:ln w="12700">
            <a:solidFill>
              <a:srgbClr val="232D42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941832" y="3867912"/>
            <a:ext cx="27340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EFAE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صغير</a:t>
            </a:r>
            <a:endParaRPr lang="en-US" sz="1600" dirty="0"/>
          </a:p>
        </p:txBody>
      </p:sp>
      <p:sp>
        <p:nvSpPr>
          <p:cNvPr id="21" name="Text 18"/>
          <p:cNvSpPr/>
          <p:nvPr/>
        </p:nvSpPr>
        <p:spPr>
          <a:xfrm>
            <a:off x="941832" y="4270248"/>
            <a:ext cx="27340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A2977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يسع جوالك: ٢٢ ميغابايت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685800" y="4846320"/>
            <a:ext cx="3246120" cy="960120"/>
          </a:xfrm>
          <a:prstGeom prst="roundRect">
            <a:avLst>
              <a:gd name="adj" fmla="val 9524"/>
            </a:avLst>
          </a:prstGeom>
          <a:solidFill>
            <a:srgbClr val="232D42"/>
          </a:solidFill>
          <a:ln w="12700">
            <a:solidFill>
              <a:srgbClr val="232D42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941832" y="4965192"/>
            <a:ext cx="27340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EFAE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بلا تدريب إضافي</a:t>
            </a:r>
            <a:endParaRPr lang="en-US" sz="1600" dirty="0"/>
          </a:p>
        </p:txBody>
      </p:sp>
      <p:sp>
        <p:nvSpPr>
          <p:cNvPr id="24" name="Text 21"/>
          <p:cNvSpPr/>
          <p:nvPr/>
        </p:nvSpPr>
        <p:spPr>
          <a:xfrm>
            <a:off x="941832" y="5367528"/>
            <a:ext cx="27340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A2977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لم ير جبة من قبل، ويعرف لوحاتها</a:t>
            </a:r>
            <a:endParaRPr lang="en-US" sz="12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900">
        <p159:morph option="byObject"/>
      </p:transition>
    </mc:Choice>
    <mc:Fallback>
      <p:transition xmlns:p14="http://schemas.microsoft.com/office/powerpoint/2010/main" spd="slow" p14:dur="900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0F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title"/>
          <p:cNvSpPr/>
          <p:nvPr/>
        </p:nvSpPr>
        <p:spPr>
          <a:xfrm>
            <a:off x="685800" y="502920"/>
            <a:ext cx="108200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800" b="1" dirty="0">
                <a:solidFill>
                  <a:srgbClr val="E8DCC8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كل شيء داخل جوالك</a:t>
            </a:r>
            <a:endParaRPr lang="en-US" sz="3800" dirty="0"/>
          </a:p>
        </p:txBody>
      </p:sp>
      <p:sp>
        <p:nvSpPr>
          <p:cNvPr id="3" name="Text 1"/>
          <p:cNvSpPr/>
          <p:nvPr/>
        </p:nvSpPr>
        <p:spPr>
          <a:xfrm>
            <a:off x="685800" y="1371600"/>
            <a:ext cx="108200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900" dirty="0">
                <a:solidFill>
                  <a:srgbClr val="A2977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خادم، ولا اشتراك، ولا إنترنت بعد أول تحميل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868680" y="2011680"/>
            <a:ext cx="2148840" cy="3931920"/>
          </a:xfrm>
          <a:prstGeom prst="roundRect">
            <a:avLst>
              <a:gd name="adj" fmla="val 12766"/>
            </a:avLst>
          </a:prstGeom>
          <a:solidFill>
            <a:srgbClr val="151D2C"/>
          </a:solidFill>
          <a:ln w="25400">
            <a:solidFill>
              <a:srgbClr val="C97A4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51560" y="2395728"/>
            <a:ext cx="1783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3000" b="1" dirty="0">
                <a:solidFill>
                  <a:srgbClr val="DD8C58"/>
                </a:solidFill>
                <a:latin typeface="Reem Kufi" pitchFamily="34" charset="0"/>
                <a:ea typeface="Reem Kufi" pitchFamily="34" charset="-122"/>
                <a:cs typeface="Reem Kufi" pitchFamily="34" charset="-120"/>
              </a:rPr>
              <a:t>أثر</a:t>
            </a:r>
            <a:endParaRPr lang="en-US" sz="30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8992" y="3246120"/>
            <a:ext cx="1737360" cy="1106424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051560" y="4709160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A2977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يعمل والجهاز</a:t>
            </a:r>
            <a:endParaRPr lang="en-US" sz="1200" dirty="0"/>
          </a:p>
          <a:p>
            <a:pPr rtl="1" algn="ctr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A2977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في وضع الطيران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7555687" y="2011680"/>
            <a:ext cx="3950208" cy="1737360"/>
          </a:xfrm>
          <a:prstGeom prst="roundRect">
            <a:avLst>
              <a:gd name="adj" fmla="val 5263"/>
            </a:avLst>
          </a:prstGeom>
          <a:solidFill>
            <a:srgbClr val="151D2C"/>
          </a:solidFill>
          <a:ln w="12700">
            <a:solidFill>
              <a:srgbClr val="232D42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555687" y="2267712"/>
            <a:ext cx="395020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4000" b="1" dirty="0">
                <a:solidFill>
                  <a:srgbClr val="DD8C58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٢٢</a:t>
            </a:r>
            <a:endParaRPr lang="en-US" sz="4000" dirty="0"/>
          </a:p>
        </p:txBody>
      </p:sp>
      <p:sp>
        <p:nvSpPr>
          <p:cNvPr id="10" name="Text 7"/>
          <p:cNvSpPr/>
          <p:nvPr/>
        </p:nvSpPr>
        <p:spPr>
          <a:xfrm>
            <a:off x="7875727" y="3127248"/>
            <a:ext cx="33101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300" dirty="0">
                <a:solidFill>
                  <a:srgbClr val="A2977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ميغابايت: حجم النموذج كاملا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3349447" y="2011680"/>
            <a:ext cx="3950208" cy="1737360"/>
          </a:xfrm>
          <a:prstGeom prst="roundRect">
            <a:avLst>
              <a:gd name="adj" fmla="val 5263"/>
            </a:avLst>
          </a:prstGeom>
          <a:solidFill>
            <a:srgbClr val="151D2C"/>
          </a:solidFill>
          <a:ln w="12700">
            <a:solidFill>
              <a:srgbClr val="232D42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3349447" y="2267712"/>
            <a:ext cx="395020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4000" b="1" dirty="0">
                <a:solidFill>
                  <a:srgbClr val="EFAE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١٠٠٪</a:t>
            </a:r>
            <a:endParaRPr lang="en-US" sz="4000" dirty="0"/>
          </a:p>
        </p:txBody>
      </p:sp>
      <p:sp>
        <p:nvSpPr>
          <p:cNvPr id="13" name="Text 10"/>
          <p:cNvSpPr/>
          <p:nvPr/>
        </p:nvSpPr>
        <p:spPr>
          <a:xfrm>
            <a:off x="3669487" y="3127248"/>
            <a:ext cx="33101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300" dirty="0">
                <a:solidFill>
                  <a:srgbClr val="A2977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يعمل بلا اتصال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7555687" y="4023360"/>
            <a:ext cx="3950208" cy="1737360"/>
          </a:xfrm>
          <a:prstGeom prst="roundRect">
            <a:avLst>
              <a:gd name="adj" fmla="val 5263"/>
            </a:avLst>
          </a:prstGeom>
          <a:solidFill>
            <a:srgbClr val="151D2C"/>
          </a:solidFill>
          <a:ln w="12700">
            <a:solidFill>
              <a:srgbClr val="232D42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7555687" y="4279392"/>
            <a:ext cx="395020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4000" b="1" dirty="0">
                <a:solidFill>
                  <a:srgbClr val="EFAE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صفر</a:t>
            </a:r>
            <a:endParaRPr lang="en-US" sz="4000" dirty="0"/>
          </a:p>
        </p:txBody>
      </p:sp>
      <p:sp>
        <p:nvSpPr>
          <p:cNvPr id="16" name="Text 13"/>
          <p:cNvSpPr/>
          <p:nvPr/>
        </p:nvSpPr>
        <p:spPr>
          <a:xfrm>
            <a:off x="7875727" y="5138928"/>
            <a:ext cx="33101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300" dirty="0">
                <a:solidFill>
                  <a:srgbClr val="A2977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خوادم نديرها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3349447" y="4023360"/>
            <a:ext cx="3950208" cy="1737360"/>
          </a:xfrm>
          <a:prstGeom prst="roundRect">
            <a:avLst>
              <a:gd name="adj" fmla="val 5263"/>
            </a:avLst>
          </a:prstGeom>
          <a:solidFill>
            <a:srgbClr val="151D2C"/>
          </a:solidFill>
          <a:ln w="12700">
            <a:solidFill>
              <a:srgbClr val="232D42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3349447" y="4279392"/>
            <a:ext cx="395020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4000" b="1" dirty="0">
                <a:solidFill>
                  <a:srgbClr val="DD8C58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صفر</a:t>
            </a:r>
            <a:endParaRPr lang="en-US" sz="4000" dirty="0"/>
          </a:p>
        </p:txBody>
      </p:sp>
      <p:sp>
        <p:nvSpPr>
          <p:cNvPr id="19" name="Text 16"/>
          <p:cNvSpPr/>
          <p:nvPr/>
        </p:nvSpPr>
        <p:spPr>
          <a:xfrm>
            <a:off x="3669487" y="5138928"/>
            <a:ext cx="33101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300" dirty="0">
                <a:solidFill>
                  <a:srgbClr val="A2977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تكلفة لكل زائر: واحد أو مليون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685800" y="6080760"/>
            <a:ext cx="1082009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i="1" dirty="0">
                <a:solidFill>
                  <a:srgbClr val="EFAE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أغلب المشاريع تتوقف إذا انقطعت الشبكة أو انتهى رصيد الخدمة المدفوعة. وهذا يعمل في وسط النفود.</a:t>
            </a:r>
            <a:endParaRPr lang="en-US" sz="16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900">
        <p159:morph option="byObject"/>
      </p:transition>
    </mc:Choice>
    <mc:Fallback>
      <p:transition xmlns:p14="http://schemas.microsoft.com/office/powerpoint/2010/main" spd="slow" p14:dur="900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0F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title"/>
          <p:cNvSpPr/>
          <p:nvPr/>
        </p:nvSpPr>
        <p:spPr>
          <a:xfrm>
            <a:off x="685800" y="502920"/>
            <a:ext cx="108200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800" b="1" dirty="0">
                <a:solidFill>
                  <a:srgbClr val="E8DCC8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ويتعلّم داخل جهازك</a:t>
            </a:r>
            <a:endParaRPr lang="en-US" sz="3800" dirty="0"/>
          </a:p>
        </p:txBody>
      </p:sp>
      <p:sp>
        <p:nvSpPr>
          <p:cNvPr id="3" name="Text 1"/>
          <p:cNvSpPr/>
          <p:nvPr/>
        </p:nvSpPr>
        <p:spPr>
          <a:xfrm>
            <a:off x="685800" y="1371600"/>
            <a:ext cx="108200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50" dirty="0">
                <a:solidFill>
                  <a:srgbClr val="A2977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كل تصحيح من الزائر مثال جديد يدخل النموذج، فيتغير قراره فورا.</a:t>
            </a:r>
            <a:endParaRPr lang="en-US" sz="1650" dirty="0"/>
          </a:p>
        </p:txBody>
      </p:sp>
      <p:sp>
        <p:nvSpPr>
          <p:cNvPr id="4" name="Shape 2"/>
          <p:cNvSpPr/>
          <p:nvPr/>
        </p:nvSpPr>
        <p:spPr>
          <a:xfrm>
            <a:off x="8973007" y="2011680"/>
            <a:ext cx="2532888" cy="1463040"/>
          </a:xfrm>
          <a:prstGeom prst="roundRect">
            <a:avLst>
              <a:gd name="adj" fmla="val 6250"/>
            </a:avLst>
          </a:prstGeom>
          <a:solidFill>
            <a:srgbClr val="151D2C"/>
          </a:solidFill>
          <a:ln w="12700">
            <a:solidFill>
              <a:srgbClr val="232D4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229039" y="2240280"/>
            <a:ext cx="20208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000" b="1" dirty="0">
                <a:solidFill>
                  <a:srgbClr val="DD8C58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يمسح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9229039" y="2743200"/>
            <a:ext cx="20208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A2977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فيسمي اللوحة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211519" y="2011680"/>
            <a:ext cx="2532888" cy="1463040"/>
          </a:xfrm>
          <a:prstGeom prst="roundRect">
            <a:avLst>
              <a:gd name="adj" fmla="val 6250"/>
            </a:avLst>
          </a:prstGeom>
          <a:solidFill>
            <a:srgbClr val="151D2C"/>
          </a:solidFill>
          <a:ln w="12700">
            <a:solidFill>
              <a:srgbClr val="232D4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67551" y="2240280"/>
            <a:ext cx="20208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000" b="1" dirty="0">
                <a:solidFill>
                  <a:srgbClr val="DD8C58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تصحّح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6467551" y="2743200"/>
            <a:ext cx="20208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A2977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تضغط: ليست هذه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3450031" y="2011680"/>
            <a:ext cx="2532888" cy="1463040"/>
          </a:xfrm>
          <a:prstGeom prst="roundRect">
            <a:avLst>
              <a:gd name="adj" fmla="val 6250"/>
            </a:avLst>
          </a:prstGeom>
          <a:solidFill>
            <a:srgbClr val="151D2C"/>
          </a:solidFill>
          <a:ln w="12700">
            <a:solidFill>
              <a:srgbClr val="232D4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706063" y="2240280"/>
            <a:ext cx="20208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000" b="1" dirty="0">
                <a:solidFill>
                  <a:srgbClr val="DD8C58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يتعلّم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706063" y="2743200"/>
            <a:ext cx="20208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A2977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يبقى في جوالك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88543" y="2011680"/>
            <a:ext cx="2532888" cy="1463040"/>
          </a:xfrm>
          <a:prstGeom prst="roundRect">
            <a:avLst>
              <a:gd name="adj" fmla="val 6250"/>
            </a:avLst>
          </a:prstGeom>
          <a:solidFill>
            <a:srgbClr val="151D2C"/>
          </a:solidFill>
          <a:ln w="12700">
            <a:solidFill>
              <a:srgbClr val="232D42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44575" y="2240280"/>
            <a:ext cx="20208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000" b="1" dirty="0">
                <a:solidFill>
                  <a:srgbClr val="DD8C58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يصيب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44575" y="2743200"/>
            <a:ext cx="20208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A2977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في المسح التالي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355080" y="3749040"/>
            <a:ext cx="5166360" cy="2103120"/>
          </a:xfrm>
          <a:prstGeom prst="roundRect">
            <a:avLst>
              <a:gd name="adj" fmla="val 4348"/>
            </a:avLst>
          </a:prstGeom>
          <a:solidFill>
            <a:srgbClr val="151D2C"/>
          </a:solidFill>
          <a:ln w="12700">
            <a:solidFill>
              <a:srgbClr val="232D42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675120" y="3977640"/>
            <a:ext cx="4526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900" b="1" dirty="0">
                <a:solidFill>
                  <a:srgbClr val="E8DCC8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لماذا يهم هذا</a:t>
            </a:r>
            <a:endParaRPr lang="en-US" sz="1900" dirty="0"/>
          </a:p>
        </p:txBody>
      </p:sp>
      <p:sp>
        <p:nvSpPr>
          <p:cNvPr id="18" name="Text 16"/>
          <p:cNvSpPr/>
          <p:nvPr/>
        </p:nvSpPr>
        <p:spPr>
          <a:xfrm>
            <a:off x="6675120" y="4480560"/>
            <a:ext cx="45262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ts val="2300"/>
              </a:lnSpc>
              <a:buNone/>
            </a:pPr>
            <a:r>
              <a:rPr lang="en-US" sz="1400" dirty="0">
                <a:solidFill>
                  <a:srgbClr val="A2977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كل صورنا المرجعية من زيارة واحدة: يوم واحد، وجوال واحد، وإضاءة واحدة. وتصحيح الزائر صورة من يوم آخر وجهاز آخر، وهذا بالضبط ما ينقص الفهرس.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685800" y="3749040"/>
            <a:ext cx="5166360" cy="2103120"/>
          </a:xfrm>
          <a:prstGeom prst="roundRect">
            <a:avLst>
              <a:gd name="adj" fmla="val 4348"/>
            </a:avLst>
          </a:prstGeom>
          <a:solidFill>
            <a:srgbClr val="232D42"/>
          </a:solidFill>
          <a:ln w="12700">
            <a:solidFill>
              <a:srgbClr val="232D42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005840" y="3977640"/>
            <a:ext cx="4526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900" b="1" dirty="0">
                <a:solidFill>
                  <a:srgbClr val="EFAE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ويتعلّم ما ليس نقشا</a:t>
            </a:r>
            <a:endParaRPr lang="en-US" sz="1900" dirty="0"/>
          </a:p>
        </p:txBody>
      </p:sp>
      <p:sp>
        <p:nvSpPr>
          <p:cNvPr id="21" name="Text 19"/>
          <p:cNvSpPr/>
          <p:nvPr/>
        </p:nvSpPr>
        <p:spPr>
          <a:xfrm>
            <a:off x="1005840" y="4480560"/>
            <a:ext cx="45262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ts val="2300"/>
              </a:lnSpc>
              <a:buNone/>
            </a:pPr>
            <a:r>
              <a:rPr lang="en-US" sz="1400" dirty="0">
                <a:solidFill>
                  <a:srgbClr val="A2977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صوّب الكاميرا على حاسوبك واضغط: ليست نقشا. فيصير الرفض جوابا تعلّمه منك، لا مجرد فشل في المطابقة.</a:t>
            </a:r>
            <a:endParaRPr lang="en-US" sz="14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900">
        <p159:morph option="byObject"/>
      </p:transition>
    </mc:Choice>
    <mc:Fallback>
      <p:transition xmlns:p14="http://schemas.microsoft.com/office/powerpoint/2010/main" spd="slow" p14:dur="900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0F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title"/>
          <p:cNvSpPr/>
          <p:nvPr/>
        </p:nvSpPr>
        <p:spPr>
          <a:xfrm>
            <a:off x="685800" y="502920"/>
            <a:ext cx="108200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800" b="1" dirty="0">
                <a:solidFill>
                  <a:srgbClr val="E8DCC8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كيف بنينا أثر</a:t>
            </a:r>
            <a:endParaRPr lang="en-US" sz="3800" dirty="0"/>
          </a:p>
        </p:txBody>
      </p:sp>
      <p:sp>
        <p:nvSpPr>
          <p:cNvPr id="3" name="Text 1"/>
          <p:cNvSpPr/>
          <p:nvPr/>
        </p:nvSpPr>
        <p:spPr>
          <a:xfrm>
            <a:off x="685800" y="1371600"/>
            <a:ext cx="108200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800" dirty="0">
                <a:solidFill>
                  <a:srgbClr val="A2977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من زيارة ميدانية إلى تطبيق يعمل في يد الزائر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621792" y="1993392"/>
            <a:ext cx="3419856" cy="2596896"/>
          </a:xfrm>
          <a:prstGeom prst="roundRect">
            <a:avLst>
              <a:gd name="adj" fmla="val 4225"/>
            </a:avLst>
          </a:prstGeom>
          <a:solidFill>
            <a:srgbClr val="2A3244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279400" dist="76200" dir="5400000">
              <a:srgbClr val="000000">
                <a:alpha val="6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2057400"/>
            <a:ext cx="3291840" cy="246888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85800" y="470916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dirty="0">
                <a:solidFill>
                  <a:srgbClr val="6E6757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جبة: من هنا جاءت كل صورة في الفهرس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3063240" y="5166360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DD8C58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٢٠١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685800" y="5193792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dirty="0">
                <a:solidFill>
                  <a:srgbClr val="A2977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صورة مرجعية من الموقع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3063240" y="5550408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DD8C58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٦٥٨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685800" y="557784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dirty="0">
                <a:solidFill>
                  <a:srgbClr val="A2977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اختبارا آليا يعمل مع كل تعديل</a:t>
            </a:r>
            <a:endParaRPr lang="en-US" sz="1250" dirty="0"/>
          </a:p>
        </p:txBody>
      </p:sp>
      <p:sp>
        <p:nvSpPr>
          <p:cNvPr id="11" name="Text 8"/>
          <p:cNvSpPr/>
          <p:nvPr/>
        </p:nvSpPr>
        <p:spPr>
          <a:xfrm>
            <a:off x="3063240" y="5934456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DD8C58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٢٩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685800" y="5961888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dirty="0">
                <a:solidFill>
                  <a:srgbClr val="A2977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لغة، وصوت لكل قصة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4343400" y="2057400"/>
            <a:ext cx="7159752" cy="841248"/>
          </a:xfrm>
          <a:prstGeom prst="roundRect">
            <a:avLst>
              <a:gd name="adj" fmla="val 10870"/>
            </a:avLst>
          </a:prstGeom>
          <a:solidFill>
            <a:srgbClr val="151D2C"/>
          </a:solidFill>
          <a:ln w="12700">
            <a:solidFill>
              <a:srgbClr val="232D42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9372600" y="2295144"/>
            <a:ext cx="1965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800" b="1" dirty="0">
                <a:solidFill>
                  <a:srgbClr val="DD8C58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الميدان</a:t>
            </a:r>
            <a:endParaRPr lang="en-US" sz="1800" dirty="0"/>
          </a:p>
        </p:txBody>
      </p:sp>
      <p:sp>
        <p:nvSpPr>
          <p:cNvPr id="15" name="Text 12"/>
          <p:cNvSpPr/>
          <p:nvPr/>
        </p:nvSpPr>
        <p:spPr>
          <a:xfrm>
            <a:off x="4553712" y="2322576"/>
            <a:ext cx="4617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50" dirty="0">
                <a:solidFill>
                  <a:srgbClr val="A2977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زرنا جبة، وصوّرنا لوحاتها، وسجّلنا قصصها بأصواتنا.</a:t>
            </a:r>
            <a:endParaRPr lang="en-US" sz="1350" dirty="0"/>
          </a:p>
        </p:txBody>
      </p:sp>
      <p:sp>
        <p:nvSpPr>
          <p:cNvPr id="16" name="Shape 13"/>
          <p:cNvSpPr/>
          <p:nvPr/>
        </p:nvSpPr>
        <p:spPr>
          <a:xfrm>
            <a:off x="4343400" y="3063240"/>
            <a:ext cx="7159752" cy="841248"/>
          </a:xfrm>
          <a:prstGeom prst="roundRect">
            <a:avLst>
              <a:gd name="adj" fmla="val 10870"/>
            </a:avLst>
          </a:prstGeom>
          <a:solidFill>
            <a:srgbClr val="151D2C"/>
          </a:solidFill>
          <a:ln w="12700">
            <a:solidFill>
              <a:srgbClr val="232D42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9372600" y="3300984"/>
            <a:ext cx="1965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800" b="1" dirty="0">
                <a:solidFill>
                  <a:srgbClr val="DD8C58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النموذج</a:t>
            </a:r>
            <a:endParaRPr lang="en-US" sz="1800" dirty="0"/>
          </a:p>
        </p:txBody>
      </p:sp>
      <p:sp>
        <p:nvSpPr>
          <p:cNvPr id="18" name="Text 15"/>
          <p:cNvSpPr/>
          <p:nvPr/>
        </p:nvSpPr>
        <p:spPr>
          <a:xfrm>
            <a:off x="4553712" y="3328416"/>
            <a:ext cx="4617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50" dirty="0">
                <a:solidFill>
                  <a:srgbClr val="A2977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شغّلنا التعرّف داخل المتصفح نفسه: لا خادم ولا إنترنت.</a:t>
            </a:r>
            <a:endParaRPr lang="en-US" sz="1350" dirty="0"/>
          </a:p>
        </p:txBody>
      </p:sp>
      <p:sp>
        <p:nvSpPr>
          <p:cNvPr id="19" name="Shape 16"/>
          <p:cNvSpPr/>
          <p:nvPr/>
        </p:nvSpPr>
        <p:spPr>
          <a:xfrm>
            <a:off x="4343400" y="4069080"/>
            <a:ext cx="7159752" cy="841248"/>
          </a:xfrm>
          <a:prstGeom prst="roundRect">
            <a:avLst>
              <a:gd name="adj" fmla="val 10870"/>
            </a:avLst>
          </a:prstGeom>
          <a:solidFill>
            <a:srgbClr val="151D2C"/>
          </a:solidFill>
          <a:ln w="12700">
            <a:solidFill>
              <a:srgbClr val="232D42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9372600" y="4306824"/>
            <a:ext cx="1965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800" b="1" dirty="0">
                <a:solidFill>
                  <a:srgbClr val="DD8C58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الميزان</a:t>
            </a:r>
            <a:endParaRPr lang="en-US" sz="1800" dirty="0"/>
          </a:p>
        </p:txBody>
      </p:sp>
      <p:sp>
        <p:nvSpPr>
          <p:cNvPr id="21" name="Text 18"/>
          <p:cNvSpPr/>
          <p:nvPr/>
        </p:nvSpPr>
        <p:spPr>
          <a:xfrm>
            <a:off x="4553712" y="4334256"/>
            <a:ext cx="4617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50" dirty="0">
                <a:solidFill>
                  <a:srgbClr val="A2977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بنينا اختبارا يقيس الدقة على صور جديدة، لا على صور التدريب.</a:t>
            </a:r>
            <a:endParaRPr lang="en-US" sz="1350" dirty="0"/>
          </a:p>
        </p:txBody>
      </p:sp>
      <p:sp>
        <p:nvSpPr>
          <p:cNvPr id="22" name="Shape 19"/>
          <p:cNvSpPr/>
          <p:nvPr/>
        </p:nvSpPr>
        <p:spPr>
          <a:xfrm>
            <a:off x="4343400" y="5074920"/>
            <a:ext cx="7159752" cy="841248"/>
          </a:xfrm>
          <a:prstGeom prst="roundRect">
            <a:avLst>
              <a:gd name="adj" fmla="val 10870"/>
            </a:avLst>
          </a:prstGeom>
          <a:solidFill>
            <a:srgbClr val="151D2C"/>
          </a:solidFill>
          <a:ln w="12700">
            <a:solidFill>
              <a:srgbClr val="232D42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9372600" y="5312664"/>
            <a:ext cx="1965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800" b="1" dirty="0">
                <a:solidFill>
                  <a:srgbClr val="DD8C58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التعلّم</a:t>
            </a:r>
            <a:endParaRPr lang="en-US" sz="1800" dirty="0"/>
          </a:p>
        </p:txBody>
      </p:sp>
      <p:sp>
        <p:nvSpPr>
          <p:cNvPr id="24" name="Text 21"/>
          <p:cNvSpPr/>
          <p:nvPr/>
        </p:nvSpPr>
        <p:spPr>
          <a:xfrm>
            <a:off x="4553712" y="5340096"/>
            <a:ext cx="4617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50" dirty="0">
                <a:solidFill>
                  <a:srgbClr val="A2977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أضفنا تصحيح الزائر، فصار يتحسن كلما استعمله أحد.</a:t>
            </a:r>
            <a:endParaRPr lang="en-US" sz="135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900">
        <p159:morph option="byObject"/>
      </p:transition>
    </mc:Choice>
    <mc:Fallback>
      <p:transition xmlns:p14="http://schemas.microsoft.com/office/powerpoint/2010/main" spd="slow" p14:dur="900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0F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wordmark"/>
          <p:cNvSpPr/>
          <p:nvPr/>
        </p:nvSpPr>
        <p:spPr>
          <a:xfrm>
            <a:off x="6400800" y="914400"/>
            <a:ext cx="5148072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200" b="1" dirty="0">
                <a:solidFill>
                  <a:srgbClr val="C97A4A"/>
                </a:solidFill>
                <a:latin typeface="Reem Kufi" pitchFamily="34" charset="0"/>
                <a:ea typeface="Reem Kufi" pitchFamily="34" charset="-122"/>
                <a:cs typeface="Reem Kufi" pitchFamily="34" charset="-120"/>
              </a:rPr>
              <a:t>أثر</a:t>
            </a:r>
            <a:endParaRPr lang="en-US" sz="9200" dirty="0"/>
          </a:p>
        </p:txBody>
      </p:sp>
      <p:sp>
        <p:nvSpPr>
          <p:cNvPr id="3" name="Text 1"/>
          <p:cNvSpPr/>
          <p:nvPr/>
        </p:nvSpPr>
        <p:spPr>
          <a:xfrm>
            <a:off x="4480560" y="2542032"/>
            <a:ext cx="70683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200" b="1" dirty="0">
                <a:solidFill>
                  <a:srgbClr val="E8DCC8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جرّبه على جوالك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480560" y="3200400"/>
            <a:ext cx="70683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DD8C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w-electro.github.io/athr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480560" y="3749040"/>
            <a:ext cx="70683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dirty="0">
                <a:solidFill>
                  <a:srgbClr val="A2977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افتحه مرة واحدة على الشبكة، ثم يعمل والجوال في وضع الطيران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9265615" y="4434840"/>
            <a:ext cx="2240280" cy="1234440"/>
          </a:xfrm>
          <a:prstGeom prst="roundRect">
            <a:avLst>
              <a:gd name="adj" fmla="val 7407"/>
            </a:avLst>
          </a:prstGeom>
          <a:solidFill>
            <a:srgbClr val="151D2C"/>
          </a:solidFill>
          <a:ln w="12700">
            <a:solidFill>
              <a:srgbClr val="232D4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466783" y="4617720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DD8C58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بدون إنترنت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9466783" y="5038344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A2977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النموذج داخل الجوال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851599" y="4434840"/>
            <a:ext cx="2240280" cy="1234440"/>
          </a:xfrm>
          <a:prstGeom prst="roundRect">
            <a:avLst>
              <a:gd name="adj" fmla="val 7407"/>
            </a:avLst>
          </a:prstGeom>
          <a:solidFill>
            <a:srgbClr val="151D2C"/>
          </a:solidFill>
          <a:ln w="12700">
            <a:solidFill>
              <a:srgbClr val="232D4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052767" y="4617720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DD8C58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٢٩ لغة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7052767" y="5038344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A2977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لكل زائر لغته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437583" y="4434840"/>
            <a:ext cx="2240280" cy="1234440"/>
          </a:xfrm>
          <a:prstGeom prst="roundRect">
            <a:avLst>
              <a:gd name="adj" fmla="val 7407"/>
            </a:avLst>
          </a:prstGeom>
          <a:solidFill>
            <a:srgbClr val="151D2C"/>
          </a:solidFill>
          <a:ln w="12700">
            <a:solidFill>
              <a:srgbClr val="232D4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38751" y="4617720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DD8C58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يتعلّم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4638751" y="5038344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A2977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يقوى بكل تصحيح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85800" y="1371600"/>
            <a:ext cx="3383280" cy="3383280"/>
          </a:xfrm>
          <a:prstGeom prst="roundRect">
            <a:avLst>
              <a:gd name="adj" fmla="val 2703"/>
            </a:avLst>
          </a:prstGeom>
          <a:solidFill>
            <a:srgbClr val="FFFFFF"/>
          </a:solidFill>
          <a:ln w="12700">
            <a:solidFill>
              <a:srgbClr val="232D42"/>
            </a:solidFill>
            <a:prstDash val="solid"/>
          </a:ln>
        </p:spPr>
      </p:sp>
      <p:pic>
        <p:nvPicPr>
          <p:cNvPr id="1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1691640"/>
            <a:ext cx="2743200" cy="2743200"/>
          </a:xfrm>
          <a:prstGeom prst="rect">
            <a:avLst/>
          </a:prstGeom>
        </p:spPr>
      </p:pic>
      <p:sp>
        <p:nvSpPr>
          <p:cNvPr id="17" name="Text 14"/>
          <p:cNvSpPr/>
          <p:nvPr/>
        </p:nvSpPr>
        <p:spPr>
          <a:xfrm>
            <a:off x="685800" y="484632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400" dirty="0">
                <a:solidFill>
                  <a:srgbClr val="A2977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امسح الرمز</a:t>
            </a:r>
            <a:endParaRPr lang="en-US" sz="14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900">
        <p159:morph option="byObject"/>
      </p:transition>
    </mc:Choice>
    <mc:Fallback>
      <p:transition xmlns:p14="http://schemas.microsoft.com/office/powerpoint/2010/main" spd="slow" p14:dur="900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أثر</dc:title>
  <dc:subject>PptxGenJS Presentation</dc:subject>
  <dc:creator>أثر</dc:creator>
  <cp:lastModifiedBy>أثر</cp:lastModifiedBy>
  <cp:revision>1</cp:revision>
  <dcterms:created xsi:type="dcterms:W3CDTF">2026-09-20T10:30:46Z</dcterms:created>
  <dcterms:modified xsi:type="dcterms:W3CDTF">2026-09-20T10:30:46Z</dcterms:modified>
</cp:coreProperties>
</file>