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بالمكان لا بالتقنية: جبة على بعد ساعة من حائل، وفيها نقوشٌ يبلغ عمر بعضها عشرة آلاف سنة.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ثبّت القيد مبكرًا: لا شبكة. عندها يبدو اختيار العمل بلا إنترنت ضرورةً لا استعراضًا.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هنا مباشرةً. امسح لوحةً أمامهم، ولا تشرح البنية أثناء العرض — دعهم يرونه يعمل.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 سُئلت: لم نُدرّب الشبكة ولم نضبطها. نستعمل تمثيلات نموذجٍ أساسيّ ونبحث فيها — وهو ما تفعله محرّكات البحث البصريّ.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هي نقطة التميّز. قُلها بوضوح وامضِ — لا تُطِل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اعرضه حيًّا: امسح، صحّح، امسح ثانيةً. عشر ثوانٍ يرون فيها التعلّم يقع أمامهم. وإن سُئلت: النموذج غير بارامتري (k-NN)، وأوزان الشبكة لا تتغيّر — الذي يتغيّر هو ما يعرفه عن لوحات جبة.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تكسب الثقة. أكثر الفرق تعرض الرقم الجميل وحده، وقولُ «قياسنا كذب وهكذا كشفناه» أثقل في الميزان.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تعطي أحد المحكّمين جوّالك، أو اتركهم يمسحون الرمز فيفتحوه على أجهزتهم.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132588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4754880" y="283464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دليلٌ تراثيّ يعمل حيث يقع التراث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0" y="3520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إنترنت · داخل الجوّال · بتسعٍ وعشرين لغة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754880" y="5760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هاكاثون أجا للذكاء الاصطناعي  ·  حائل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3749040" cy="4069080"/>
          </a:xfrm>
          <a:prstGeom prst="roundRect">
            <a:avLst>
              <a:gd name="adj" fmla="val 2927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28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🐐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3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عشرة آلاف سنة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النقوش الصخرية في جبة</a:t>
            </a:r>
            <a:endParaRPr lang="en-US" sz="1300" dirty="0"/>
          </a:p>
          <a:p>
            <a:pPr rtl="1"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موقع تراثٍ عالميّ — اليونسكو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زائرٌ يقف أمام نقش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شيء يقول له ما هو.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031175" y="2057400"/>
            <a:ext cx="3520440" cy="2697480"/>
          </a:xfrm>
          <a:prstGeom prst="roundRect">
            <a:avLst>
              <a:gd name="adj" fmla="val 4068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82935" y="2377440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82935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351215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لافتة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351215" y="36118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اللوحات بلا تعريف، والصخرة لا تشرح نفسها.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18711" y="2057400"/>
            <a:ext cx="3520440" cy="2697480"/>
          </a:xfrm>
          <a:prstGeom prst="roundRect">
            <a:avLst>
              <a:gd name="adj" fmla="val 4068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70471" y="2377440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70471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38751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مرشد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638751" y="36118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المرشدون قليل، ولا أحد منهم يتكلّم لغة كلّ زائر.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6247" y="2057400"/>
            <a:ext cx="3520440" cy="2697480"/>
          </a:xfrm>
          <a:prstGeom prst="roundRect">
            <a:avLst>
              <a:gd name="adj" fmla="val 4068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58007" y="2377440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58007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26287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شبكة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26287" y="36118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الموقع في الصحراء المفتوحة، فكلّ ما يعتمد على السحابة يسقط.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الحلّ السحابيّ هو الجواب البديهيّ — وهو الجواب الذي لا يعمل هنا.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وجّه الكاميرا. واسمع القصّة.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002975" y="1536192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002975" y="15361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808415" y="14630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وجّه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4160520" y="15087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الكاميرا تمسح باستمرار وأنت تحرّك يدك — لا تحتاج لقطةً واحدة مثالية.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11002975" y="2724912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002975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808415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يتعرّف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4160520" y="26974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يسمّي اللوحة التي أمامك بعينها، لا «نقوشًا صخرية» فحسب.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1002975" y="3913632"/>
            <a:ext cx="548640" cy="54864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002975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808415" y="38404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اسمع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416052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تُروى القصّة بلغتك، مسموعةً، ومعها تاريخ الموقع.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1417320"/>
            <a:ext cx="3200400" cy="3611880"/>
          </a:xfrm>
          <a:prstGeom prst="roundRect">
            <a:avLst>
              <a:gd name="adj" fmla="val 3429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7373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٢٩</a:t>
            </a:r>
            <a:endParaRPr lang="en-US" sz="6200" dirty="0"/>
          </a:p>
        </p:txBody>
      </p:sp>
      <p:sp>
        <p:nvSpPr>
          <p:cNvPr id="17" name="Text 15"/>
          <p:cNvSpPr/>
          <p:nvPr/>
        </p:nvSpPr>
        <p:spPr>
          <a:xfrm>
            <a:off x="640080" y="27249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لغة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32918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١٠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640080" y="4069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لوحات موثّقة</a:t>
            </a:r>
            <a:endParaRPr lang="en-US" sz="1300" dirty="0"/>
          </a:p>
          <a:p>
            <a:pPr rtl="1"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جبل أُمّ سِنمان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النموذج: DINOv3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40680" y="1371600"/>
            <a:ext cx="6080760" cy="3977640"/>
          </a:xfrm>
          <a:prstGeom prst="roundRect">
            <a:avLst>
              <a:gd name="adj" fmla="val 2759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806440" y="169164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00" b="1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DINOv3  ViT-S/16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06440" y="224028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محوّلٌ بصريّ من Meta، دُرّب تدريبًا ذاتيَّ الإشراف على مليارٍ وسبعمئة مليون صورة تقريبًا — بلا تسميةٍ بشرية واحدة.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806440" y="320040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ويحوّل أيّ صورة إلى ٣٨٤ رقمًا — بصمةٌ عددية تتقارب فيها المتشابهات.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06440" y="397764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ونحن نستعمل تمثيلاته كما هي: نخزّن بصمات ٢٠١ صورةٍ مرجعية من تصويرنا الميداني، ونبحث عن أقربها.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4572000" cy="896112"/>
          </a:xfrm>
          <a:prstGeom prst="roundRect">
            <a:avLst>
              <a:gd name="adj" fmla="val 1224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47218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يميّز الأمثلة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18470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الصخرة بعينها لا صخرةً ما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395728"/>
            <a:ext cx="4572000" cy="896112"/>
          </a:xfrm>
          <a:prstGeom prst="roundRect">
            <a:avLst>
              <a:gd name="adj" fmla="val 1224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4963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تسميات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287121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تعلّم الشكل والملمس دون معلّم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419856"/>
            <a:ext cx="4572000" cy="896112"/>
          </a:xfrm>
          <a:prstGeom prst="roundRect">
            <a:avLst>
              <a:gd name="adj" fmla="val 1224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204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٢١ مليون معامل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389534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و٢٢ ميغابايت بعد التكميم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43984"/>
            <a:ext cx="4572000" cy="896112"/>
          </a:xfrm>
          <a:prstGeom prst="roundRect">
            <a:avLst>
              <a:gd name="adj" fmla="val 12245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44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بلا ضبط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9194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 يرَ جبة قطّ، ويعرف لوحاتها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داخل الجوّال. كلّه.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خادم، ولا مفتاح واجهة، ولا إنترنت بعد أوّل تحميل.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899855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99855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٢٢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037015" y="31272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ميغابايت — النموذج كلّه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9223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9223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266383" y="31272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خوادم تُدار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58591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8591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495751" y="31272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تكلفة لكلّ زائر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7959" y="21031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7959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١٠٠٪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725119" y="31272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يعمل بلا اتّصال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10911535" cy="1325880"/>
          </a:xfrm>
          <a:prstGeom prst="roundRect">
            <a:avLst>
              <a:gd name="adj" fmla="val 8276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43484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المشاريع تتوقّف حين تتوقّف الشبكة، أو حين ينفد رصيد الواجهة. وهذا يعمل في وسط النفود — وتكلفته لزائرٍ واحد كتكلفته لمليون.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ويتعلّم — داخل الجهاز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تعلُّمٌ إشرافيّ بالأمثلة: كلّ تصحيحٍ مثالٌ مُعنون يدخل النموذج فيتغيّر قراره فورًا.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99855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74375" y="2084832"/>
            <a:ext cx="502920" cy="50292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74375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74175" y="21305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يمسح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74175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فيسمّي اللوحة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43823" y="25146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29223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03743" y="2084832"/>
            <a:ext cx="502920" cy="50292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3743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03543" y="21305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تصحّح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403543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تضغط «ليست هذه»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73191" y="25146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358591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33111" y="2084832"/>
            <a:ext cx="502920" cy="50292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33111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632911" y="21305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يتعلّم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632911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يُحفظ في جوّالك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2559" y="25146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87959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2479" y="2084832"/>
            <a:ext cx="502920" cy="502920"/>
          </a:xfrm>
          <a:prstGeom prst="ellipse">
            <a:avLst/>
          </a:prstGeom>
          <a:solidFill>
            <a:srgbClr val="C97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2479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62279" y="21305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يصيب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862279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المسح التالي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931920"/>
            <a:ext cx="5166360" cy="1600200"/>
          </a:xfrm>
          <a:prstGeom prst="roundRect">
            <a:avLst>
              <a:gd name="adj" fmla="val 6857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41330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يهمّ هذا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675120" y="45537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كلّ الصور المرجعية من زيارةٍ ميدانية واحدة: يومٌ واحد وجوّالٌ واحد وإضاءةٌ واحدة. وتصحيحُ الزائر صورةٌ من يومٍ آخر وجهازٍ آخر — وهو ما ينقص الفهرس.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931920"/>
            <a:ext cx="5166360" cy="1600200"/>
          </a:xfrm>
          <a:prstGeom prst="roundRect">
            <a:avLst>
              <a:gd name="adj" fmla="val 6857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41330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ويتعلّم السلبيّ أيضًا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60120" y="45537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صوّب على حاسوبك واضغط «ليست نقشًا أصلًا». فيصير الرفضُ جوابًا تعلّمه النظام من إنسان، لا عجزًا عن بلوغ عتبة.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قياسنا الأوّل كذب علينا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قال ٩٦٫٥٪، والصادق ٧٩٫٣٪ — وكشفُ السبب أثمنُ ما أنجزناه.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349240" y="1874520"/>
            <a:ext cx="6172200" cy="2834640"/>
          </a:xfrm>
          <a:prstGeom prst="roundRect">
            <a:avLst>
              <a:gd name="adj" fmla="val 3871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0" y="2103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قِيس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863840" y="2651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بترك واحدة — قياسٌ متساهل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0" y="2999232"/>
            <a:ext cx="5029200" cy="274320"/>
          </a:xfrm>
          <a:prstGeom prst="roundRect">
            <a:avLst>
              <a:gd name="adj" fmla="val 20000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45302" y="2999232"/>
            <a:ext cx="4853178" cy="274320"/>
          </a:xfrm>
          <a:prstGeom prst="roundRect">
            <a:avLst>
              <a:gd name="adj" fmla="val 20000"/>
            </a:avLst>
          </a:prstGeom>
          <a:solidFill>
            <a:srgbClr val="A297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2651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٩٦٫٥٪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0" y="354787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صورةٌ جديدة — قياسٌ أمين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0" y="3895344"/>
            <a:ext cx="5029200" cy="274320"/>
          </a:xfrm>
          <a:prstGeom prst="roundRect">
            <a:avLst>
              <a:gd name="adj" fmla="val 20000"/>
            </a:avLst>
          </a:prstGeom>
          <a:solidFill>
            <a:srgbClr val="232D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10324" y="3895344"/>
            <a:ext cx="3988156" cy="274320"/>
          </a:xfrm>
          <a:prstGeom prst="roundRect">
            <a:avLst>
              <a:gd name="adj" fmla="val 20000"/>
            </a:avLst>
          </a:prstGeom>
          <a:solidFill>
            <a:srgbClr val="DD8C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٧٩٫٣٪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187452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103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العلّة التي وجدناها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2560320"/>
            <a:ext cx="4023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الصور المرجعية كلّها من زيارةٍ واحدة، فالمتتابعتان شبه متطابقتين. فكان الاختبار يسأل: هل تطابق الصورةُ أختَها الملتقطة قبل ثانيتين؟</a:t>
            </a:r>
            <a:endParaRPr lang="en-US" sz="1300" dirty="0"/>
          </a:p>
          <a:p>
            <a:pPr rtl="1" algn="r" indent="0" marL="0">
              <a:lnSpc>
                <a:spcPts val="2000"/>
              </a:lnSpc>
              <a:buNone/>
            </a:pPr>
            <a:endParaRPr lang="en-US" sz="1300" dirty="0"/>
          </a:p>
          <a:p>
            <a:pPr rtl="1" algn="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وذاك تسرّبُ بيانات. فأعدنا بناء طبقة القرار على الرقم الصادق.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9834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EFA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صفر إجابة خاطئة على ٥٣ صورة رملٍ وسماء، و١٢٢ صورة مستقلّة لنقوشٍ أخرى في جبة.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0" y="1005840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200" b="1" dirty="0">
                <a:solidFill>
                  <a:srgbClr val="C9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</a:t>
            </a:r>
            <a:endParaRPr lang="en-US" sz="6200" dirty="0"/>
          </a:p>
        </p:txBody>
      </p:sp>
      <p:sp>
        <p:nvSpPr>
          <p:cNvPr id="3" name="Text 1"/>
          <p:cNvSpPr/>
          <p:nvPr/>
        </p:nvSpPr>
        <p:spPr>
          <a:xfrm>
            <a:off x="5486400" y="224028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E8D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جرّبه على جوّالك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0" y="2926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0" y="34564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افتحه مرّةً على الشبكة، ثم يعمل والجوّال في وضع الطيران.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899855" y="411480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28455" y="4279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إنترنت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28455" y="46817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النموذج داخل الجوّال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9223" y="411480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7823" y="4279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٢٩ لغة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357823" y="46817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لكلّ زائرٍ لسانه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358591" y="411480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87191" y="4279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DD8C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يتعلّم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587191" y="46817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يقوى بكلّ تصحيح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1234440"/>
            <a:ext cx="4114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618488"/>
            <a:ext cx="3346704" cy="334670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40080" y="5486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امسح الرمز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86400" y="58978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بُني لهاكاثون أجا للذكاء الاصطناعي  ·  حائل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هاكاثون أجا للذكاء الاصطناعي</dc:title>
  <dc:subject>PptxGenJS Presentation</dc:subject>
  <dc:creator>أثر</dc:creator>
  <cp:lastModifiedBy>أثر</cp:lastModifiedBy>
  <cp:revision>1</cp:revision>
  <dcterms:created xsi:type="dcterms:W3CDTF">2026-09-20T08:30:02Z</dcterms:created>
  <dcterms:modified xsi:type="dcterms:W3CDTF">2026-09-20T08:30:02Z</dcterms:modified>
</cp:coreProperties>
</file>