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ابدأ بالمكان لا بالتقنية: ما خلفي نقوش جبة، على بعد ساعة من حائل، وعمر بعضها عشرة آلاف سنة.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ثلاثة أسئلة يحملها الزائر، وثلاثتها تُجاب في الشريحة التالية: أي لوحة، وبأي لغة، وبلا شبكة.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 هنا مباشرة على جوالك. ولا تشرح البنية أثناء العرض — دعهم يرونه يعمل.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لو سُئلت: لم ندرّب الشبكة ولم نغيّر أوزانها. نستخدم تمثيلات نموذج جاهز ونبحث فيها — وهو ما تفعله محركات البحث بالصور.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نقطة التميز. قُلها بوضوح وامضِ — لا تُطِل فيها.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اعرضه حيا: امسح، صحّح، امسح مرة أخرى. عشر ثوان يرون فيها التعلم يقع. وإن سُئلت: النموذج غير بارامتري (k-NN)، وأوزان الشبكة لا تتغير — الذي يتغير هو ما يعرفه عن لوحات جبة.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هذه شريحة الرحلة. اذكر أن الترتيب مقصود: الميدان أولا، ثم النموذج، ثم مقياس أمين، ثم التعلم من الزائر. ولو سأل محكّم عن الأرقام الحقيقية للدقة، فالجواب جاهز عندك شفهيا.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اختم بأن تعطي أحد المحكّمين جوالك، أو اتركهم يمسحون الرمز فيفتحوه على أجهزتهم.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!!wor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394960" y="1737360"/>
            <a:ext cx="6126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13000" dirty="0"/>
          </a:p>
        </p:txBody>
      </p:sp>
      <p:sp>
        <p:nvSpPr>
          <p:cNvPr id="4" name="Text 1"/>
          <p:cNvSpPr/>
          <p:nvPr/>
        </p:nvSpPr>
        <p:spPr>
          <a:xfrm>
            <a:off x="4206240" y="38404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206240" y="4526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206240" y="59436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— حائل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زائر يقف أمام نقش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ويريد أن يعرف: ما هذا؟ وكم عمره؟ ولماذا يختلف عن جاره؟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793973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49578" y="2377440"/>
            <a:ext cx="1344837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30549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 لوحة هذه؟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830549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جدار واحد يحمل مئات اللوحات، ولكل واحدة قصتها وزمنها.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23641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5528" y="2377440"/>
            <a:ext cx="1185567" cy="10972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60217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وبأي لغة؟</a:t>
            </a:r>
            <a:endParaRPr lang="en-US" sz="2100" dirty="0"/>
          </a:p>
        </p:txBody>
      </p:sp>
      <p:sp>
        <p:nvSpPr>
          <p:cNvPr id="11" name="Text 7"/>
          <p:cNvSpPr/>
          <p:nvPr/>
        </p:nvSpPr>
        <p:spPr>
          <a:xfrm>
            <a:off x="460217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زوار جبة من كل مكان، والقصة تصل حين يسمعها الزائر بلغته.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33095" y="2103120"/>
            <a:ext cx="3566160" cy="3063240"/>
          </a:xfrm>
          <a:prstGeom prst="roundRect">
            <a:avLst>
              <a:gd name="adj" fmla="val 2985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8926" y="2377440"/>
            <a:ext cx="938849" cy="10972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98855" y="363931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1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وبلا شبكة</a:t>
            </a:r>
            <a:endParaRPr lang="en-US" sz="2100" dirty="0"/>
          </a:p>
        </p:txBody>
      </p:sp>
      <p:sp>
        <p:nvSpPr>
          <p:cNvPr id="15" name="Text 10"/>
          <p:cNvSpPr/>
          <p:nvPr/>
        </p:nvSpPr>
        <p:spPr>
          <a:xfrm>
            <a:off x="898855" y="418795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في الصحراء المفتوحة، فأي حل يعتمد على الإنترنت يتوقف.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685800" y="54864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جواب هو خادم في السحابة — وهو الجواب الذي لا يعمل هنا.</a:t>
            </a:r>
            <a:endParaRPr lang="en-US" sz="17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الكاميرا، واسمع القصة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2179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00200"/>
            <a:ext cx="1993179" cy="4160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999232" y="1536192"/>
            <a:ext cx="2121195" cy="4288536"/>
          </a:xfrm>
          <a:prstGeom prst="roundRect">
            <a:avLst>
              <a:gd name="adj" fmla="val 5173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1600200"/>
            <a:ext cx="1993179" cy="41605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60720" y="1645920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حرّك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5760720" y="2066544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المسح مستمر وأنت تحرك يدك أمام النقش، فلا تحتاج لقطة مثالية.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5760720" y="2724912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يتعرّف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5760720" y="3145536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يقول لك اسم اللوحة التي أمامك بعينها، لا أنها نقوش صخرية فقط.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60720" y="3803904"/>
            <a:ext cx="5760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اسمع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760720" y="4224528"/>
            <a:ext cx="5760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تسمع قصتها بصوت، بلغتك أنت، ومعها تاريخ الموقع.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5760720" y="4892040"/>
            <a:ext cx="5760720" cy="1143000"/>
          </a:xfrm>
          <a:prstGeom prst="roundRect">
            <a:avLst>
              <a:gd name="adj" fmla="val 800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024128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3800" dirty="0"/>
          </a:p>
        </p:txBody>
      </p:sp>
      <p:sp>
        <p:nvSpPr>
          <p:cNvPr id="15" name="Text 11"/>
          <p:cNvSpPr/>
          <p:nvPr/>
        </p:nvSpPr>
        <p:spPr>
          <a:xfrm>
            <a:off x="9006840" y="53035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772400" y="507492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8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</a:t>
            </a:r>
            <a:endParaRPr lang="en-US" sz="3800" dirty="0"/>
          </a:p>
        </p:txBody>
      </p:sp>
      <p:sp>
        <p:nvSpPr>
          <p:cNvPr id="17" name="Text 13"/>
          <p:cNvSpPr/>
          <p:nvPr/>
        </p:nvSpPr>
        <p:spPr>
          <a:xfrm>
            <a:off x="6035040" y="5303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لوحات موثقة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النموذج: DINOv3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4160520" y="1554480"/>
            <a:ext cx="7360920" cy="4251960"/>
          </a:xfrm>
          <a:prstGeom prst="roundRect">
            <a:avLst>
              <a:gd name="adj" fmla="val 2151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49240" y="1810512"/>
            <a:ext cx="580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DINOv3  ViT-S/16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349240" y="2395728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هو؟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349240" y="2779776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نموذج رؤية مفتوح من Meta. نظر إلى ملايين الصور وتعلّم أشكال الأشياء بنفسه، دون أن يسمّيها له أحد.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5349240" y="3511296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يفعل؟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349240" y="3895344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يحوّل أي صورة إلى بصمة رقمية. والصورتان المتشابهتان تعطيان بصمتين متقاربتين.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5349240" y="4626864"/>
            <a:ext cx="5806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نستخدمه؟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349240" y="5010912"/>
            <a:ext cx="5806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400"/>
              </a:lnSpc>
              <a:buNone/>
            </a:pPr>
            <a:r>
              <a:rPr lang="en-US" sz="14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صوّرنا لوحات جبة وحفظنا بصماتها. وعند كل مسح نقارن بصمة الكاميرا بها ونختار الأقرب.</a:t>
            </a:r>
            <a:endParaRPr lang="en-US" sz="14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2272" y="3246120"/>
            <a:ext cx="722376" cy="126187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85800" y="155448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41832" y="167335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يميّز الشيء نفسه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41832" y="207568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هذه الصخرة بالذات، لا أي صخرة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85800" y="265176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41832" y="277063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تعلّم بلا معلّم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941832" y="317296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يخبره أحد ما في الصور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85800" y="374904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1832" y="386791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صغير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41832" y="427024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يسع جوالك: ٢٢ ميغابايت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" y="4846320"/>
            <a:ext cx="3246120" cy="960120"/>
          </a:xfrm>
          <a:prstGeom prst="roundRect">
            <a:avLst>
              <a:gd name="adj" fmla="val 9524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41832" y="4965192"/>
            <a:ext cx="27340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بلا تدريب إضافي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941832" y="5367528"/>
            <a:ext cx="27340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 ير جبة من قبل، ويعرف لوحاتها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شيء داخل جوالك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خادم، ولا اشتراك، ولا إنترنت بعد أول تحميل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68680" y="2011680"/>
            <a:ext cx="2148840" cy="3931920"/>
          </a:xfrm>
          <a:prstGeom prst="roundRect">
            <a:avLst>
              <a:gd name="adj" fmla="val 12766"/>
            </a:avLst>
          </a:prstGeom>
          <a:solidFill>
            <a:srgbClr val="151D2C"/>
          </a:solidFill>
          <a:ln w="25400">
            <a:solidFill>
              <a:srgbClr val="C97A4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3957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3000" b="1" dirty="0">
                <a:solidFill>
                  <a:srgbClr val="DD8C58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30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3246120"/>
            <a:ext cx="1737360" cy="11064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51560" y="47091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والجهاز</a:t>
            </a:r>
            <a:endParaRPr lang="en-US" sz="1200" dirty="0"/>
          </a:p>
          <a:p>
            <a:pPr rtl="1" algn="ctr"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وضع الطيران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55568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5568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٢٢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87572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ميغابايت: حجم النموذج كاملا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3349447" y="201168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349447" y="226771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١٠٠٪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3669487" y="312724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بلا اتصال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55568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55568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787572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خوادم نديرها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3349447" y="4023360"/>
            <a:ext cx="3950208" cy="1737360"/>
          </a:xfrm>
          <a:prstGeom prst="roundRect">
            <a:avLst>
              <a:gd name="adj" fmla="val 5263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349447" y="4279392"/>
            <a:ext cx="39502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صفر</a:t>
            </a:r>
            <a:endParaRPr lang="en-US" sz="4000" dirty="0"/>
          </a:p>
        </p:txBody>
      </p:sp>
      <p:sp>
        <p:nvSpPr>
          <p:cNvPr id="19" name="Text 16"/>
          <p:cNvSpPr/>
          <p:nvPr/>
        </p:nvSpPr>
        <p:spPr>
          <a:xfrm>
            <a:off x="3669487" y="5138928"/>
            <a:ext cx="33101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تكلفة لكل زائر: واحد أو مليون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85800" y="6080760"/>
            <a:ext cx="108200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i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أغلب المشاريع تتوقف إذا انقطعت الشبكة أو انتهى رصيد الخدمة المدفوعة. وهذا يعمل في وسط النفود.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داخل جهازك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تصحيح من الزائر مثال جديد يدخل النموذج، فيتغير قراره فورا.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8973007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29039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يمسح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229039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فيسمي اللوحة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1519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67551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تصحّح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67551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تضغط: ليست هذه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450031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6063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706063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يبقى في جوالك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8543" y="2011680"/>
            <a:ext cx="2532888" cy="1463040"/>
          </a:xfrm>
          <a:prstGeom prst="roundRect">
            <a:avLst>
              <a:gd name="adj" fmla="val 625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44575" y="2240280"/>
            <a:ext cx="20208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يصيب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44575" y="2743200"/>
            <a:ext cx="20208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المسح التالي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35508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7512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يهم هذا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67512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صورنا المرجعية من زيارة واحدة: يوم واحد، وجوال واحد، وإضاءة واحدة. وتصحيح الزائر صورة من يوم آخر وجهاز آخر، وهذا بالضبط ما ينقص الفهرس.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85800" y="3749040"/>
            <a:ext cx="5166360" cy="2103120"/>
          </a:xfrm>
          <a:prstGeom prst="roundRect">
            <a:avLst>
              <a:gd name="adj" fmla="val 4348"/>
            </a:avLst>
          </a:prstGeom>
          <a:solidFill>
            <a:srgbClr val="232D42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39776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900" b="1" dirty="0">
                <a:solidFill>
                  <a:srgbClr val="EFAE6E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ويتعلّم ما ليس نقشا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1005840" y="448056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صوّب الكاميرا على حاسوبك واضغط: ليست نقشا. فيصير الرفض جوابا تعلّمه منك، لا مجرد فشل في المطابقة.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title"/>
          <p:cNvSpPr/>
          <p:nvPr/>
        </p:nvSpPr>
        <p:spPr>
          <a:xfrm>
            <a:off x="685800" y="502920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8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كيف بنينا أثر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85800" y="1371600"/>
            <a:ext cx="10820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زيارة ميدانية إلى تطبيق يعمل في يد الزائر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21792" y="1993392"/>
            <a:ext cx="3419856" cy="2596896"/>
          </a:xfrm>
          <a:prstGeom prst="roundRect">
            <a:avLst>
              <a:gd name="adj" fmla="val 4225"/>
            </a:avLst>
          </a:prstGeom>
          <a:solidFill>
            <a:srgbClr val="2A3244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279400" dist="76200" dir="5400000">
              <a:srgbClr val="000000">
                <a:alpha val="6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57400"/>
            <a:ext cx="3291840" cy="2468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جبة: من هنا جاءت كل صورة في الفهرس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3063240" y="51663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٢٠١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519379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صورة مرجعية من الموقع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3063240" y="5550408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٦٥٨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85800" y="55778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اختبارا آليا يعمل مع كل تعديل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063240" y="59344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85800" y="59618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لغة، وصوت لكل قصة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343400" y="205740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72600" y="229514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الميدان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4553712" y="232257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زرنا جبة، وصوّرنا لوحاتها، وسجّلنا قصصها بأصواتنا.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4343400" y="306324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372600" y="33009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553712" y="332841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شغّلنا التعرّف داخل المتصفح نفسه: لا خادم ولا إنترنت.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4343400" y="406908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72600" y="43068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الميزان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553712" y="433425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بنينا اختبارا يقيس الدقة على صور جديدة، لا على صور التدريب.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4343400" y="5074920"/>
            <a:ext cx="7159752" cy="841248"/>
          </a:xfrm>
          <a:prstGeom prst="roundRect">
            <a:avLst>
              <a:gd name="adj" fmla="val 10870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72600" y="531266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التعلّم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4553712" y="5340096"/>
            <a:ext cx="4617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أضفنا تصحيح الزائر، فصار يتحسن كلما استعمله أحد.</a:t>
            </a:r>
            <a:endParaRPr lang="en-US" sz="135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wordmark"/>
          <p:cNvSpPr/>
          <p:nvPr/>
        </p:nvSpPr>
        <p:spPr>
          <a:xfrm>
            <a:off x="6400800" y="914400"/>
            <a:ext cx="51480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4480560" y="2542032"/>
            <a:ext cx="7068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جرّبه على جوالك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480560" y="3200400"/>
            <a:ext cx="70683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dirty="0">
                <a:solidFill>
                  <a:srgbClr val="DD8C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480560" y="3749040"/>
            <a:ext cx="7068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افتحه مرة واحدة على الشبكة، ثم يعمل والجوال في وضع الطيران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265615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66783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بدون إنترنت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466783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النموذج داخل الجوال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1599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052767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٢٩ لغة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052767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لكل زائر لغته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7583" y="4434840"/>
            <a:ext cx="2240280" cy="1234440"/>
          </a:xfrm>
          <a:prstGeom prst="roundRect">
            <a:avLst>
              <a:gd name="adj" fmla="val 7407"/>
            </a:avLst>
          </a:prstGeom>
          <a:solidFill>
            <a:srgbClr val="151D2C"/>
          </a:solidFill>
          <a:ln w="12700">
            <a:solidFill>
              <a:srgbClr val="23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38751" y="4617720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يتعلّم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38751" y="503834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يقوى بكل تصحيح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1371600"/>
            <a:ext cx="3383280" cy="338328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232D4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691640"/>
            <a:ext cx="2743200" cy="2743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9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</dc:title>
  <dc:subject>PptxGenJS Presentation</dc:subject>
  <dc:creator>أثر</dc:creator>
  <cp:lastModifiedBy>أثر</cp:lastModifiedBy>
  <cp:revision>1</cp:revision>
  <dcterms:created xsi:type="dcterms:W3CDTF">2026-09-20T10:25:47Z</dcterms:created>
  <dcterms:modified xsi:type="dcterms:W3CDTF">2026-09-20T10:25:47Z</dcterms:modified>
</cp:coreProperties>
</file>