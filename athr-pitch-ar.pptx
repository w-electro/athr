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ابدأ بالمكان لا بالتقنية: ما خلفي نقوش جبة، على بعد ساعة من حائل، وعمر بعضها عشرة آلاف سنة.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ثلاثة أسئلة يحملها السائح، وثلاثتها تُجاب في الشريحة التالية: أي نقش، وبأي لغة، وبلا شبكة.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هنا مباشرة على جوالك. ولا تشرح البنية أثناء العرض — دعهم يرونه يعمل.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النموذج DINOv3 من Meta، مفتوح المصدر. وكن دقيقا لو سُئلت: لم نضبط أوزان الشبكة (no fine-tuning). ما بنيناه هو طبقة التعرّف فوقها: الفهرس الميداني، وسلّم القصّ الذي يعالج اختلاف الإطار، وطبقة العتبة والهامش المعايرة على ٥٣ صورة سالبة، وجمع أدلة اللقطات في المسح الحي، والتعلّم من تصحيح السائح. وهذا هو التعلّم الانتقالي بالأمثلة، وهو ما تفعله محركات البحث بالصور.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نقطة التميز. قُلها بوضوح وامضِ — لا تُطِل فيها.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اعرضه حيا: امسح، صحّح، امسح مرة أخرى. عشر ثوان يرون فيها التعلم يقع. وإن سُئلت: النموذج غير بارامتري (k-NN)، وأوزان الشبكة لا تتغير — الذي يتغير هو ما يعرفه عن نقوش جبة.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شريحة الرحلة، والترتيب مقصود: الميدان أولا ثم المحتوى ثم التقنية. والصوت مولّد لا مسجّل — بنماذج نطق مفتوحة: Supertonic لثماني عشرة لغة، وKokoro للصينية، وMMS-TTS لتسع. قُل ذلك صراحة إن سُئلت، فهو عمل ذكاء اصطناعي آخر لا عيب فيه. ولو سأل محكّم عن أرقام الدقة فالجواب جاهز عندك شفهيا.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اختم بأن تعطي أحد المحكّمين جوالك، أو اتركهم يمسحون الرمز فيفتحوه على أجهزتهم.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jpe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7"/>
        </a:solidFill>
      </p:bgPr>
    </p:bg>
    <p:spTree>
      <p:nvGrpSpPr>
        <p:cNvPr id="1" name=""/>
        <p:cNvGrpSpPr/>
        <p:nvPr/>
      </p:nvGrpSpPr>
      <p:grpSpPr>
        <a:xfrm>
          <a:off x="0" y="0"/>
          <a:ext cx="0" cy="0"/>
          <a:chOff x="0" y="0"/>
          <a:chExt cx="0" cy="0"/>
        </a:xfrm>
      </p:grpSpPr>
      <p:pic>
        <p:nvPicPr>
          <p:cNvPr id="2" name="!!wordmark"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394960" y="1737360"/>
            <a:ext cx="6126480" cy="2011680"/>
          </a:xfrm>
          <a:prstGeom prst="rect">
            <a:avLst/>
          </a:prstGeom>
          <a:noFill/>
          <a:ln/>
        </p:spPr>
        <p:txBody>
          <a:bodyPr wrap="square" lIns="0" tIns="0" rIns="0" bIns="0" rtlCol="0" anchor="ctr"/>
          <a:lstStyle/>
          <a:p>
            <a:pPr rtl="1" algn="r" indent="0" marL="0">
              <a:buNone/>
            </a:pPr>
            <a:r>
              <a:rPr lang="en-US" sz="13000" b="1" dirty="0">
                <a:solidFill>
                  <a:srgbClr val="DD8C58"/>
                </a:solidFill>
                <a:latin typeface="Reem Kufi" pitchFamily="34" charset="0"/>
                <a:ea typeface="Reem Kufi" pitchFamily="34" charset="-122"/>
                <a:cs typeface="Reem Kufi" pitchFamily="34" charset="-120"/>
              </a:rPr>
              <a:t>أثر</a:t>
            </a:r>
            <a:endParaRPr lang="en-US" sz="13000" dirty="0"/>
          </a:p>
        </p:txBody>
      </p:sp>
      <p:sp>
        <p:nvSpPr>
          <p:cNvPr id="4" name="Text 1"/>
          <p:cNvSpPr/>
          <p:nvPr/>
        </p:nvSpPr>
        <p:spPr>
          <a:xfrm>
            <a:off x="4206240" y="3840480"/>
            <a:ext cx="7315200" cy="640080"/>
          </a:xfrm>
          <a:prstGeom prst="rect">
            <a:avLst/>
          </a:prstGeom>
          <a:noFill/>
          <a:ln/>
        </p:spPr>
        <p:txBody>
          <a:bodyPr wrap="square" lIns="0" tIns="0" rIns="0" bIns="0" rtlCol="0" anchor="ctr"/>
          <a:lstStyle/>
          <a:p>
            <a:pPr rtl="1" algn="r" indent="0" marL="0">
              <a:buNone/>
            </a:pPr>
            <a:r>
              <a:rPr lang="en-US" sz="3000" b="1" dirty="0">
                <a:solidFill>
                  <a:srgbClr val="E8DCC8"/>
                </a:solidFill>
                <a:latin typeface="Tajawal" pitchFamily="34" charset="0"/>
                <a:ea typeface="Tajawal" pitchFamily="34" charset="-122"/>
                <a:cs typeface="Tajawal" pitchFamily="34" charset="-120"/>
              </a:rPr>
              <a:t>دليلك إلى نقوش حائل</a:t>
            </a:r>
            <a:endParaRPr lang="en-US" sz="3000" dirty="0"/>
          </a:p>
        </p:txBody>
      </p:sp>
      <p:sp>
        <p:nvSpPr>
          <p:cNvPr id="5" name="Text 2"/>
          <p:cNvSpPr/>
          <p:nvPr/>
        </p:nvSpPr>
        <p:spPr>
          <a:xfrm>
            <a:off x="4206240" y="4526280"/>
            <a:ext cx="7315200" cy="457200"/>
          </a:xfrm>
          <a:prstGeom prst="rect">
            <a:avLst/>
          </a:prstGeom>
          <a:noFill/>
          <a:ln/>
        </p:spPr>
        <p:txBody>
          <a:bodyPr wrap="square" lIns="0" tIns="0" rIns="0" bIns="0" rtlCol="0" anchor="ctr"/>
          <a:lstStyle/>
          <a:p>
            <a:pPr rtl="1" algn="r" indent="0" marL="0">
              <a:buNone/>
            </a:pPr>
            <a:r>
              <a:rPr lang="en-US" sz="1700" dirty="0">
                <a:solidFill>
                  <a:srgbClr val="A2977F"/>
                </a:solidFill>
                <a:latin typeface="Tajawal" pitchFamily="34" charset="0"/>
                <a:ea typeface="Tajawal" pitchFamily="34" charset="-122"/>
                <a:cs typeface="Tajawal" pitchFamily="34" charset="-120"/>
              </a:rPr>
              <a:t>يعمل بدون إنترنت، وبتسع وعشرين لغة</a:t>
            </a:r>
            <a:endParaRPr lang="en-US" sz="1700" dirty="0"/>
          </a:p>
        </p:txBody>
      </p:sp>
      <p:sp>
        <p:nvSpPr>
          <p:cNvPr id="6" name="Text 3"/>
          <p:cNvSpPr/>
          <p:nvPr/>
        </p:nvSpPr>
        <p:spPr>
          <a:xfrm>
            <a:off x="4206240" y="5943600"/>
            <a:ext cx="7315200" cy="320040"/>
          </a:xfrm>
          <a:prstGeom prst="rect">
            <a:avLst/>
          </a:prstGeom>
          <a:noFill/>
          <a:ln/>
        </p:spPr>
        <p:txBody>
          <a:bodyPr wrap="square" lIns="0" tIns="0" rIns="0" bIns="0" rtlCol="0" anchor="ctr"/>
          <a:lstStyle/>
          <a:p>
            <a:pPr rtl="1" algn="r" indent="0" marL="0">
              <a:buNone/>
            </a:pPr>
            <a:r>
              <a:rPr lang="en-US" sz="1200" dirty="0">
                <a:solidFill>
                  <a:srgbClr val="6E6757"/>
                </a:solidFill>
                <a:latin typeface="Tajawal" pitchFamily="34" charset="0"/>
                <a:ea typeface="Tajawal" pitchFamily="34" charset="-122"/>
                <a:cs typeface="Tajawal" pitchFamily="34" charset="-120"/>
              </a:rPr>
              <a:t>نقوش جبة — حائل</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xmlns:p14="http://schemas.microsoft.com/office/powerpoint/2010/main" spd="slow" p14:dur="90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F17"/>
        </a:solidFill>
      </p:bgPr>
    </p:bg>
    <p:spTree>
      <p:nvGrpSpPr>
        <p:cNvPr id="1" name=""/>
        <p:cNvGrpSpPr/>
        <p:nvPr/>
      </p:nvGrpSpPr>
      <p:grpSpPr>
        <a:xfrm>
          <a:off x="0" y="0"/>
          <a:ext cx="0" cy="0"/>
          <a:chOff x="0" y="0"/>
          <a:chExt cx="0" cy="0"/>
        </a:xfrm>
      </p:grpSpPr>
      <p:sp>
        <p:nvSpPr>
          <p:cNvPr id="2" name="!!title"/>
          <p:cNvSpPr/>
          <p:nvPr/>
        </p:nvSpPr>
        <p:spPr>
          <a:xfrm>
            <a:off x="685800" y="502920"/>
            <a:ext cx="10820095" cy="868680"/>
          </a:xfrm>
          <a:prstGeom prst="rect">
            <a:avLst/>
          </a:prstGeom>
          <a:noFill/>
          <a:ln/>
        </p:spPr>
        <p:txBody>
          <a:bodyPr wrap="square" lIns="0" tIns="0" rIns="0" bIns="0" rtlCol="0" anchor="ctr"/>
          <a:lstStyle/>
          <a:p>
            <a:pPr rtl="1" algn="r" indent="0" marL="0">
              <a:buNone/>
            </a:pPr>
            <a:r>
              <a:rPr lang="en-US" sz="3800" b="1" dirty="0">
                <a:solidFill>
                  <a:srgbClr val="E8DCC8"/>
                </a:solidFill>
                <a:latin typeface="Tajawal" pitchFamily="34" charset="0"/>
                <a:ea typeface="Tajawal" pitchFamily="34" charset="-122"/>
                <a:cs typeface="Tajawal" pitchFamily="34" charset="-120"/>
              </a:rPr>
              <a:t>سائح يقف أمام نقش</a:t>
            </a:r>
            <a:endParaRPr lang="en-US" sz="3800" dirty="0"/>
          </a:p>
        </p:txBody>
      </p:sp>
      <p:sp>
        <p:nvSpPr>
          <p:cNvPr id="3" name="Text 1"/>
          <p:cNvSpPr/>
          <p:nvPr/>
        </p:nvSpPr>
        <p:spPr>
          <a:xfrm>
            <a:off x="685800" y="1371600"/>
            <a:ext cx="10820095" cy="457200"/>
          </a:xfrm>
          <a:prstGeom prst="rect">
            <a:avLst/>
          </a:prstGeom>
          <a:noFill/>
          <a:ln/>
        </p:spPr>
        <p:txBody>
          <a:bodyPr wrap="square" lIns="0" tIns="0" rIns="0" bIns="0" rtlCol="0" anchor="ctr"/>
          <a:lstStyle/>
          <a:p>
            <a:pPr rtl="1" algn="r" indent="0" marL="0">
              <a:buNone/>
            </a:pPr>
            <a:r>
              <a:rPr lang="en-US" sz="1900" dirty="0">
                <a:solidFill>
                  <a:srgbClr val="A2977F"/>
                </a:solidFill>
                <a:latin typeface="Tajawal" pitchFamily="34" charset="0"/>
                <a:ea typeface="Tajawal" pitchFamily="34" charset="-122"/>
                <a:cs typeface="Tajawal" pitchFamily="34" charset="-120"/>
              </a:rPr>
              <a:t>ويريد أن يعرف: ما هذا؟ وكم عمره؟ ولماذا يختلف عن جاره؟</a:t>
            </a:r>
            <a:endParaRPr lang="en-US" sz="1900" dirty="0"/>
          </a:p>
        </p:txBody>
      </p:sp>
      <p:sp>
        <p:nvSpPr>
          <p:cNvPr id="4" name="Shape 2"/>
          <p:cNvSpPr/>
          <p:nvPr/>
        </p:nvSpPr>
        <p:spPr>
          <a:xfrm>
            <a:off x="7939735" y="2103120"/>
            <a:ext cx="3566160" cy="3063240"/>
          </a:xfrm>
          <a:prstGeom prst="roundRect">
            <a:avLst>
              <a:gd name="adj" fmla="val 2985"/>
            </a:avLst>
          </a:prstGeom>
          <a:solidFill>
            <a:srgbClr val="151D2C"/>
          </a:solidFill>
          <a:ln w="12700">
            <a:solidFill>
              <a:srgbClr val="232D42"/>
            </a:solidFill>
            <a:prstDash val="solid"/>
          </a:ln>
        </p:spPr>
      </p:sp>
      <p:pic>
        <p:nvPicPr>
          <p:cNvPr id="5" name="Image 0" descr="preencoded.png">    </p:cNvPr>
          <p:cNvPicPr>
            <a:picLocks noChangeAspect="1"/>
          </p:cNvPicPr>
          <p:nvPr/>
        </p:nvPicPr>
        <p:blipFill>
          <a:blip r:embed="rId1"/>
          <a:stretch>
            <a:fillRect/>
          </a:stretch>
        </p:blipFill>
        <p:spPr>
          <a:xfrm>
            <a:off x="9749578" y="2377440"/>
            <a:ext cx="1344837" cy="1097280"/>
          </a:xfrm>
          <a:prstGeom prst="rect">
            <a:avLst/>
          </a:prstGeom>
        </p:spPr>
      </p:pic>
      <p:sp>
        <p:nvSpPr>
          <p:cNvPr id="6" name="Text 3"/>
          <p:cNvSpPr/>
          <p:nvPr/>
        </p:nvSpPr>
        <p:spPr>
          <a:xfrm>
            <a:off x="8305495" y="3639312"/>
            <a:ext cx="2834640" cy="457200"/>
          </a:xfrm>
          <a:prstGeom prst="rect">
            <a:avLst/>
          </a:prstGeom>
          <a:noFill/>
          <a:ln/>
        </p:spPr>
        <p:txBody>
          <a:bodyPr wrap="square" lIns="0" tIns="0" rIns="0" bIns="0" rtlCol="0" anchor="ctr"/>
          <a:lstStyle/>
          <a:p>
            <a:pPr rtl="1" algn="r" indent="0" marL="0">
              <a:buNone/>
            </a:pPr>
            <a:r>
              <a:rPr lang="en-US" sz="2100" b="1" dirty="0">
                <a:solidFill>
                  <a:srgbClr val="DD8C58"/>
                </a:solidFill>
                <a:latin typeface="Tajawal" pitchFamily="34" charset="0"/>
                <a:ea typeface="Tajawal" pitchFamily="34" charset="-122"/>
                <a:cs typeface="Tajawal" pitchFamily="34" charset="-120"/>
              </a:rPr>
              <a:t>أي نقش هذا؟</a:t>
            </a:r>
            <a:endParaRPr lang="en-US" sz="2100" dirty="0"/>
          </a:p>
        </p:txBody>
      </p:sp>
      <p:sp>
        <p:nvSpPr>
          <p:cNvPr id="7" name="Text 4"/>
          <p:cNvSpPr/>
          <p:nvPr/>
        </p:nvSpPr>
        <p:spPr>
          <a:xfrm>
            <a:off x="8305495" y="4187952"/>
            <a:ext cx="2834640" cy="868680"/>
          </a:xfrm>
          <a:prstGeom prst="rect">
            <a:avLst/>
          </a:prstGeom>
          <a:noFill/>
          <a:ln/>
        </p:spPr>
        <p:txBody>
          <a:bodyPr wrap="square" lIns="0" tIns="0" rIns="0" bIns="0" rtlCol="0" anchor="ctr"/>
          <a:lstStyle/>
          <a:p>
            <a:pPr rtl="1" algn="r" indent="0" marL="0">
              <a:lnSpc>
                <a:spcPts val="2300"/>
              </a:lnSpc>
              <a:buNone/>
            </a:pPr>
            <a:r>
              <a:rPr lang="en-US" sz="1400" dirty="0">
                <a:solidFill>
                  <a:srgbClr val="A2977F"/>
                </a:solidFill>
                <a:latin typeface="Tajawal" pitchFamily="34" charset="0"/>
                <a:ea typeface="Tajawal" pitchFamily="34" charset="-122"/>
                <a:cs typeface="Tajawal" pitchFamily="34" charset="-120"/>
              </a:rPr>
              <a:t>جدار واحد يحمل مئات النقوش، ولكل واحد منها قصته وزمنه.</a:t>
            </a:r>
            <a:endParaRPr lang="en-US" sz="1400" dirty="0"/>
          </a:p>
        </p:txBody>
      </p:sp>
      <p:sp>
        <p:nvSpPr>
          <p:cNvPr id="8" name="Shape 5"/>
          <p:cNvSpPr/>
          <p:nvPr/>
        </p:nvSpPr>
        <p:spPr>
          <a:xfrm>
            <a:off x="4236415" y="2103120"/>
            <a:ext cx="3566160" cy="3063240"/>
          </a:xfrm>
          <a:prstGeom prst="roundRect">
            <a:avLst>
              <a:gd name="adj" fmla="val 2985"/>
            </a:avLst>
          </a:prstGeom>
          <a:solidFill>
            <a:srgbClr val="151D2C"/>
          </a:solidFill>
          <a:ln w="12700">
            <a:solidFill>
              <a:srgbClr val="232D42"/>
            </a:solidFill>
            <a:prstDash val="solid"/>
          </a:ln>
        </p:spPr>
      </p:sp>
      <p:pic>
        <p:nvPicPr>
          <p:cNvPr id="9" name="Image 1" descr="preencoded.png">    </p:cNvPr>
          <p:cNvPicPr>
            <a:picLocks noChangeAspect="1"/>
          </p:cNvPicPr>
          <p:nvPr/>
        </p:nvPicPr>
        <p:blipFill>
          <a:blip r:embed="rId2"/>
          <a:stretch>
            <a:fillRect/>
          </a:stretch>
        </p:blipFill>
        <p:spPr>
          <a:xfrm>
            <a:off x="6205528" y="2377440"/>
            <a:ext cx="1185567" cy="1097280"/>
          </a:xfrm>
          <a:prstGeom prst="rect">
            <a:avLst/>
          </a:prstGeom>
        </p:spPr>
      </p:pic>
      <p:sp>
        <p:nvSpPr>
          <p:cNvPr id="10" name="Text 6"/>
          <p:cNvSpPr/>
          <p:nvPr/>
        </p:nvSpPr>
        <p:spPr>
          <a:xfrm>
            <a:off x="4602175" y="3639312"/>
            <a:ext cx="2834640" cy="457200"/>
          </a:xfrm>
          <a:prstGeom prst="rect">
            <a:avLst/>
          </a:prstGeom>
          <a:noFill/>
          <a:ln/>
        </p:spPr>
        <p:txBody>
          <a:bodyPr wrap="square" lIns="0" tIns="0" rIns="0" bIns="0" rtlCol="0" anchor="ctr"/>
          <a:lstStyle/>
          <a:p>
            <a:pPr rtl="1" algn="r" indent="0" marL="0">
              <a:buNone/>
            </a:pPr>
            <a:r>
              <a:rPr lang="en-US" sz="2100" b="1" dirty="0">
                <a:solidFill>
                  <a:srgbClr val="DD8C58"/>
                </a:solidFill>
                <a:latin typeface="Tajawal" pitchFamily="34" charset="0"/>
                <a:ea typeface="Tajawal" pitchFamily="34" charset="-122"/>
                <a:cs typeface="Tajawal" pitchFamily="34" charset="-120"/>
              </a:rPr>
              <a:t>وبأي لغة؟</a:t>
            </a:r>
            <a:endParaRPr lang="en-US" sz="2100" dirty="0"/>
          </a:p>
        </p:txBody>
      </p:sp>
      <p:sp>
        <p:nvSpPr>
          <p:cNvPr id="11" name="Text 7"/>
          <p:cNvSpPr/>
          <p:nvPr/>
        </p:nvSpPr>
        <p:spPr>
          <a:xfrm>
            <a:off x="4602175" y="4187952"/>
            <a:ext cx="2834640" cy="868680"/>
          </a:xfrm>
          <a:prstGeom prst="rect">
            <a:avLst/>
          </a:prstGeom>
          <a:noFill/>
          <a:ln/>
        </p:spPr>
        <p:txBody>
          <a:bodyPr wrap="square" lIns="0" tIns="0" rIns="0" bIns="0" rtlCol="0" anchor="ctr"/>
          <a:lstStyle/>
          <a:p>
            <a:pPr rtl="1" algn="r" indent="0" marL="0">
              <a:lnSpc>
                <a:spcPts val="2300"/>
              </a:lnSpc>
              <a:buNone/>
            </a:pPr>
            <a:r>
              <a:rPr lang="en-US" sz="1400" dirty="0">
                <a:solidFill>
                  <a:srgbClr val="A2977F"/>
                </a:solidFill>
                <a:latin typeface="Tajawal" pitchFamily="34" charset="0"/>
                <a:ea typeface="Tajawal" pitchFamily="34" charset="-122"/>
                <a:cs typeface="Tajawal" pitchFamily="34" charset="-120"/>
              </a:rPr>
              <a:t>سياح جبة من كل مكان، والقصة تصل حين يسمعها السائح بلغته.</a:t>
            </a:r>
            <a:endParaRPr lang="en-US" sz="1400" dirty="0"/>
          </a:p>
        </p:txBody>
      </p:sp>
      <p:sp>
        <p:nvSpPr>
          <p:cNvPr id="12" name="Shape 8"/>
          <p:cNvSpPr/>
          <p:nvPr/>
        </p:nvSpPr>
        <p:spPr>
          <a:xfrm>
            <a:off x="533095" y="2103120"/>
            <a:ext cx="3566160" cy="3063240"/>
          </a:xfrm>
          <a:prstGeom prst="roundRect">
            <a:avLst>
              <a:gd name="adj" fmla="val 2985"/>
            </a:avLst>
          </a:prstGeom>
          <a:solidFill>
            <a:srgbClr val="151D2C"/>
          </a:solidFill>
          <a:ln w="12700">
            <a:solidFill>
              <a:srgbClr val="232D42"/>
            </a:solidFill>
            <a:prstDash val="solid"/>
          </a:ln>
        </p:spPr>
      </p:sp>
      <p:pic>
        <p:nvPicPr>
          <p:cNvPr id="13" name="Image 2" descr="preencoded.png">    </p:cNvPr>
          <p:cNvPicPr>
            <a:picLocks noChangeAspect="1"/>
          </p:cNvPicPr>
          <p:nvPr/>
        </p:nvPicPr>
        <p:blipFill>
          <a:blip r:embed="rId3"/>
          <a:stretch>
            <a:fillRect/>
          </a:stretch>
        </p:blipFill>
        <p:spPr>
          <a:xfrm>
            <a:off x="2748926" y="2377440"/>
            <a:ext cx="938849" cy="1097280"/>
          </a:xfrm>
          <a:prstGeom prst="rect">
            <a:avLst/>
          </a:prstGeom>
        </p:spPr>
      </p:pic>
      <p:sp>
        <p:nvSpPr>
          <p:cNvPr id="14" name="Text 9"/>
          <p:cNvSpPr/>
          <p:nvPr/>
        </p:nvSpPr>
        <p:spPr>
          <a:xfrm>
            <a:off x="898855" y="3639312"/>
            <a:ext cx="2834640" cy="457200"/>
          </a:xfrm>
          <a:prstGeom prst="rect">
            <a:avLst/>
          </a:prstGeom>
          <a:noFill/>
          <a:ln/>
        </p:spPr>
        <p:txBody>
          <a:bodyPr wrap="square" lIns="0" tIns="0" rIns="0" bIns="0" rtlCol="0" anchor="ctr"/>
          <a:lstStyle/>
          <a:p>
            <a:pPr rtl="1" algn="r" indent="0" marL="0">
              <a:buNone/>
            </a:pPr>
            <a:r>
              <a:rPr lang="en-US" sz="2100" b="1" dirty="0">
                <a:solidFill>
                  <a:srgbClr val="DD8C58"/>
                </a:solidFill>
                <a:latin typeface="Tajawal" pitchFamily="34" charset="0"/>
                <a:ea typeface="Tajawal" pitchFamily="34" charset="-122"/>
                <a:cs typeface="Tajawal" pitchFamily="34" charset="-120"/>
              </a:rPr>
              <a:t>وبلا شبكة</a:t>
            </a:r>
            <a:endParaRPr lang="en-US" sz="2100" dirty="0"/>
          </a:p>
        </p:txBody>
      </p:sp>
      <p:sp>
        <p:nvSpPr>
          <p:cNvPr id="15" name="Text 10"/>
          <p:cNvSpPr/>
          <p:nvPr/>
        </p:nvSpPr>
        <p:spPr>
          <a:xfrm>
            <a:off x="898855" y="4187952"/>
            <a:ext cx="2834640" cy="868680"/>
          </a:xfrm>
          <a:prstGeom prst="rect">
            <a:avLst/>
          </a:prstGeom>
          <a:noFill/>
          <a:ln/>
        </p:spPr>
        <p:txBody>
          <a:bodyPr wrap="square" lIns="0" tIns="0" rIns="0" bIns="0" rtlCol="0" anchor="ctr"/>
          <a:lstStyle/>
          <a:p>
            <a:pPr rtl="1" algn="r" indent="0" marL="0">
              <a:lnSpc>
                <a:spcPts val="2300"/>
              </a:lnSpc>
              <a:buNone/>
            </a:pPr>
            <a:r>
              <a:rPr lang="en-US" sz="1400" dirty="0">
                <a:solidFill>
                  <a:srgbClr val="A2977F"/>
                </a:solidFill>
                <a:latin typeface="Tajawal" pitchFamily="34" charset="0"/>
                <a:ea typeface="Tajawal" pitchFamily="34" charset="-122"/>
                <a:cs typeface="Tajawal" pitchFamily="34" charset="-120"/>
              </a:rPr>
              <a:t>الموقع في الصحراء المفتوحة، فأي حل يعتمد على الإنترنت يتوقف.</a:t>
            </a:r>
            <a:endParaRPr lang="en-US" sz="1400" dirty="0"/>
          </a:p>
        </p:txBody>
      </p:sp>
      <p:sp>
        <p:nvSpPr>
          <p:cNvPr id="16" name="Text 11"/>
          <p:cNvSpPr/>
          <p:nvPr/>
        </p:nvSpPr>
        <p:spPr>
          <a:xfrm>
            <a:off x="685800" y="5486400"/>
            <a:ext cx="10820095" cy="457200"/>
          </a:xfrm>
          <a:prstGeom prst="rect">
            <a:avLst/>
          </a:prstGeom>
          <a:noFill/>
          <a:ln/>
        </p:spPr>
        <p:txBody>
          <a:bodyPr wrap="square" lIns="0" tIns="0" rIns="0" bIns="0" rtlCol="0" anchor="ctr"/>
          <a:lstStyle/>
          <a:p>
            <a:pPr rtl="1" algn="r" indent="0" marL="0">
              <a:buNone/>
            </a:pPr>
            <a:r>
              <a:rPr lang="en-US" sz="1700" i="1" dirty="0">
                <a:solidFill>
                  <a:srgbClr val="EFAE6E"/>
                </a:solidFill>
                <a:latin typeface="Tajawal" pitchFamily="34" charset="0"/>
                <a:ea typeface="Tajawal" pitchFamily="34" charset="-122"/>
                <a:cs typeface="Tajawal" pitchFamily="34" charset="-120"/>
              </a:rPr>
              <a:t>أقرب جواب هو خادم في السحابة — وهو الجواب الذي لا يعمل هنا.</a:t>
            </a:r>
            <a:endParaRPr lang="en-US" sz="17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xmlns:p14="http://schemas.microsoft.com/office/powerpoint/2010/main" spd="slow" p14:dur="90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F17"/>
        </a:solidFill>
      </p:bgPr>
    </p:bg>
    <p:spTree>
      <p:nvGrpSpPr>
        <p:cNvPr id="1" name=""/>
        <p:cNvGrpSpPr/>
        <p:nvPr/>
      </p:nvGrpSpPr>
      <p:grpSpPr>
        <a:xfrm>
          <a:off x="0" y="0"/>
          <a:ext cx="0" cy="0"/>
          <a:chOff x="0" y="0"/>
          <a:chExt cx="0" cy="0"/>
        </a:xfrm>
      </p:grpSpPr>
      <p:sp>
        <p:nvSpPr>
          <p:cNvPr id="2" name="!!title"/>
          <p:cNvSpPr/>
          <p:nvPr/>
        </p:nvSpPr>
        <p:spPr>
          <a:xfrm>
            <a:off x="685800" y="502920"/>
            <a:ext cx="10820095" cy="868680"/>
          </a:xfrm>
          <a:prstGeom prst="rect">
            <a:avLst/>
          </a:prstGeom>
          <a:noFill/>
          <a:ln/>
        </p:spPr>
        <p:txBody>
          <a:bodyPr wrap="square" lIns="0" tIns="0" rIns="0" bIns="0" rtlCol="0" anchor="ctr"/>
          <a:lstStyle/>
          <a:p>
            <a:pPr rtl="1" algn="r" indent="0" marL="0">
              <a:buNone/>
            </a:pPr>
            <a:r>
              <a:rPr lang="en-US" sz="3800" b="1" dirty="0">
                <a:solidFill>
                  <a:srgbClr val="E8DCC8"/>
                </a:solidFill>
                <a:latin typeface="Tajawal" pitchFamily="34" charset="0"/>
                <a:ea typeface="Tajawal" pitchFamily="34" charset="-122"/>
                <a:cs typeface="Tajawal" pitchFamily="34" charset="-120"/>
              </a:rPr>
              <a:t>وجّه الكاميرا، واسمع القصة</a:t>
            </a:r>
            <a:endParaRPr lang="en-US" sz="3800" dirty="0"/>
          </a:p>
        </p:txBody>
      </p:sp>
      <p:sp>
        <p:nvSpPr>
          <p:cNvPr id="3" name="Shape 1"/>
          <p:cNvSpPr/>
          <p:nvPr/>
        </p:nvSpPr>
        <p:spPr>
          <a:xfrm>
            <a:off x="621792" y="1536192"/>
            <a:ext cx="2121195" cy="4288536"/>
          </a:xfrm>
          <a:prstGeom prst="roundRect">
            <a:avLst>
              <a:gd name="adj" fmla="val 5173"/>
            </a:avLst>
          </a:prstGeom>
          <a:solidFill>
            <a:srgbClr val="2A3244"/>
          </a:solidFill>
          <a:ln w="12700">
            <a:solidFill>
              <a:srgbClr val="333333"/>
            </a:solidFill>
            <a:prstDash val="solid"/>
          </a:ln>
          <a:effectLst>
            <a:outerShdw sx="100000" sy="100000" kx="0" ky="0" algn="bl" rotWithShape="0" blurRad="279400" dist="76200" dir="5400000">
              <a:srgbClr val="000000">
                <a:alpha val="60000"/>
              </a:srgbClr>
            </a:outerShdw>
          </a:effectLst>
        </p:spPr>
      </p:sp>
      <p:pic>
        <p:nvPicPr>
          <p:cNvPr id="4" name="Image 0" descr="preencoded.png">    </p:cNvPr>
          <p:cNvPicPr>
            <a:picLocks noChangeAspect="1"/>
          </p:cNvPicPr>
          <p:nvPr/>
        </p:nvPicPr>
        <p:blipFill>
          <a:blip r:embed="rId1"/>
          <a:stretch>
            <a:fillRect/>
          </a:stretch>
        </p:blipFill>
        <p:spPr>
          <a:xfrm>
            <a:off x="685800" y="1600200"/>
            <a:ext cx="1993179" cy="4160520"/>
          </a:xfrm>
          <a:prstGeom prst="rect">
            <a:avLst/>
          </a:prstGeom>
        </p:spPr>
      </p:pic>
      <p:sp>
        <p:nvSpPr>
          <p:cNvPr id="5" name="Shape 2"/>
          <p:cNvSpPr/>
          <p:nvPr/>
        </p:nvSpPr>
        <p:spPr>
          <a:xfrm>
            <a:off x="2999232" y="1536192"/>
            <a:ext cx="2121195" cy="4288536"/>
          </a:xfrm>
          <a:prstGeom prst="roundRect">
            <a:avLst>
              <a:gd name="adj" fmla="val 5173"/>
            </a:avLst>
          </a:prstGeom>
          <a:solidFill>
            <a:srgbClr val="2A3244"/>
          </a:solidFill>
          <a:ln w="12700">
            <a:solidFill>
              <a:srgbClr val="333333"/>
            </a:solidFill>
            <a:prstDash val="solid"/>
          </a:ln>
          <a:effectLst>
            <a:outerShdw sx="100000" sy="100000" kx="0" ky="0" algn="bl" rotWithShape="0" blurRad="279400" dist="76200" dir="5400000">
              <a:srgbClr val="000000">
                <a:alpha val="60000"/>
              </a:srgbClr>
            </a:outerShdw>
          </a:effectLst>
        </p:spPr>
      </p:sp>
      <p:pic>
        <p:nvPicPr>
          <p:cNvPr id="6" name="Image 1" descr="preencoded.png">    </p:cNvPr>
          <p:cNvPicPr>
            <a:picLocks noChangeAspect="1"/>
          </p:cNvPicPr>
          <p:nvPr/>
        </p:nvPicPr>
        <p:blipFill>
          <a:blip r:embed="rId2"/>
          <a:stretch>
            <a:fillRect/>
          </a:stretch>
        </p:blipFill>
        <p:spPr>
          <a:xfrm>
            <a:off x="3063240" y="1600200"/>
            <a:ext cx="1993179" cy="4160520"/>
          </a:xfrm>
          <a:prstGeom prst="rect">
            <a:avLst/>
          </a:prstGeom>
        </p:spPr>
      </p:pic>
      <p:sp>
        <p:nvSpPr>
          <p:cNvPr id="7" name="Text 3"/>
          <p:cNvSpPr/>
          <p:nvPr/>
        </p:nvSpPr>
        <p:spPr>
          <a:xfrm>
            <a:off x="5760720" y="1645920"/>
            <a:ext cx="5760720" cy="384048"/>
          </a:xfrm>
          <a:prstGeom prst="rect">
            <a:avLst/>
          </a:prstGeom>
          <a:noFill/>
          <a:ln/>
        </p:spPr>
        <p:txBody>
          <a:bodyPr wrap="square" lIns="0" tIns="0" rIns="0" bIns="0" rtlCol="0" anchor="ctr"/>
          <a:lstStyle/>
          <a:p>
            <a:pPr rtl="1" algn="r" indent="0" marL="0">
              <a:buNone/>
            </a:pPr>
            <a:r>
              <a:rPr lang="en-US" sz="2200" b="1" dirty="0">
                <a:solidFill>
                  <a:srgbClr val="DD8C58"/>
                </a:solidFill>
                <a:latin typeface="Tajawal" pitchFamily="34" charset="0"/>
                <a:ea typeface="Tajawal" pitchFamily="34" charset="-122"/>
                <a:cs typeface="Tajawal" pitchFamily="34" charset="-120"/>
              </a:rPr>
              <a:t>حرّك</a:t>
            </a:r>
            <a:endParaRPr lang="en-US" sz="2200" dirty="0"/>
          </a:p>
        </p:txBody>
      </p:sp>
      <p:sp>
        <p:nvSpPr>
          <p:cNvPr id="8" name="Text 4"/>
          <p:cNvSpPr/>
          <p:nvPr/>
        </p:nvSpPr>
        <p:spPr>
          <a:xfrm>
            <a:off x="5760720" y="2066544"/>
            <a:ext cx="5760720" cy="594360"/>
          </a:xfrm>
          <a:prstGeom prst="rect">
            <a:avLst/>
          </a:prstGeom>
          <a:noFill/>
          <a:ln/>
        </p:spPr>
        <p:txBody>
          <a:bodyPr wrap="square" lIns="0" tIns="0" rIns="0" bIns="0" rtlCol="0" anchor="ctr"/>
          <a:lstStyle/>
          <a:p>
            <a:pPr rtl="1" algn="r" indent="0" marL="0">
              <a:lnSpc>
                <a:spcPts val="2100"/>
              </a:lnSpc>
              <a:buNone/>
            </a:pPr>
            <a:r>
              <a:rPr lang="en-US" sz="1350" dirty="0">
                <a:solidFill>
                  <a:srgbClr val="A2977F"/>
                </a:solidFill>
                <a:latin typeface="Tajawal" pitchFamily="34" charset="0"/>
                <a:ea typeface="Tajawal" pitchFamily="34" charset="-122"/>
                <a:cs typeface="Tajawal" pitchFamily="34" charset="-120"/>
              </a:rPr>
              <a:t>المسح مستمر وأنت تحرك يدك أمام النقش، فلا تحتاج لقطة مثالية.</a:t>
            </a:r>
            <a:endParaRPr lang="en-US" sz="1350" dirty="0"/>
          </a:p>
        </p:txBody>
      </p:sp>
      <p:sp>
        <p:nvSpPr>
          <p:cNvPr id="9" name="Text 5"/>
          <p:cNvSpPr/>
          <p:nvPr/>
        </p:nvSpPr>
        <p:spPr>
          <a:xfrm>
            <a:off x="5760720" y="2724912"/>
            <a:ext cx="5760720" cy="384048"/>
          </a:xfrm>
          <a:prstGeom prst="rect">
            <a:avLst/>
          </a:prstGeom>
          <a:noFill/>
          <a:ln/>
        </p:spPr>
        <p:txBody>
          <a:bodyPr wrap="square" lIns="0" tIns="0" rIns="0" bIns="0" rtlCol="0" anchor="ctr"/>
          <a:lstStyle/>
          <a:p>
            <a:pPr rtl="1" algn="r" indent="0" marL="0">
              <a:buNone/>
            </a:pPr>
            <a:r>
              <a:rPr lang="en-US" sz="2200" b="1" dirty="0">
                <a:solidFill>
                  <a:srgbClr val="DD8C58"/>
                </a:solidFill>
                <a:latin typeface="Tajawal" pitchFamily="34" charset="0"/>
                <a:ea typeface="Tajawal" pitchFamily="34" charset="-122"/>
                <a:cs typeface="Tajawal" pitchFamily="34" charset="-120"/>
              </a:rPr>
              <a:t>يتعرّف</a:t>
            </a:r>
            <a:endParaRPr lang="en-US" sz="2200" dirty="0"/>
          </a:p>
        </p:txBody>
      </p:sp>
      <p:sp>
        <p:nvSpPr>
          <p:cNvPr id="10" name="Text 6"/>
          <p:cNvSpPr/>
          <p:nvPr/>
        </p:nvSpPr>
        <p:spPr>
          <a:xfrm>
            <a:off x="5760720" y="3145536"/>
            <a:ext cx="5760720" cy="594360"/>
          </a:xfrm>
          <a:prstGeom prst="rect">
            <a:avLst/>
          </a:prstGeom>
          <a:noFill/>
          <a:ln/>
        </p:spPr>
        <p:txBody>
          <a:bodyPr wrap="square" lIns="0" tIns="0" rIns="0" bIns="0" rtlCol="0" anchor="ctr"/>
          <a:lstStyle/>
          <a:p>
            <a:pPr rtl="1" algn="r" indent="0" marL="0">
              <a:lnSpc>
                <a:spcPts val="2100"/>
              </a:lnSpc>
              <a:buNone/>
            </a:pPr>
            <a:r>
              <a:rPr lang="en-US" sz="1350" dirty="0">
                <a:solidFill>
                  <a:srgbClr val="A2977F"/>
                </a:solidFill>
                <a:latin typeface="Tajawal" pitchFamily="34" charset="0"/>
                <a:ea typeface="Tajawal" pitchFamily="34" charset="-122"/>
                <a:cs typeface="Tajawal" pitchFamily="34" charset="-120"/>
              </a:rPr>
              <a:t>يقول لك اسم النقش الذي أمامك بعينه، لا أنه نقش صخري فحسب.</a:t>
            </a:r>
            <a:endParaRPr lang="en-US" sz="1350" dirty="0"/>
          </a:p>
        </p:txBody>
      </p:sp>
      <p:sp>
        <p:nvSpPr>
          <p:cNvPr id="11" name="Text 7"/>
          <p:cNvSpPr/>
          <p:nvPr/>
        </p:nvSpPr>
        <p:spPr>
          <a:xfrm>
            <a:off x="5760720" y="3803904"/>
            <a:ext cx="5760720" cy="384048"/>
          </a:xfrm>
          <a:prstGeom prst="rect">
            <a:avLst/>
          </a:prstGeom>
          <a:noFill/>
          <a:ln/>
        </p:spPr>
        <p:txBody>
          <a:bodyPr wrap="square" lIns="0" tIns="0" rIns="0" bIns="0" rtlCol="0" anchor="ctr"/>
          <a:lstStyle/>
          <a:p>
            <a:pPr rtl="1" algn="r" indent="0" marL="0">
              <a:buNone/>
            </a:pPr>
            <a:r>
              <a:rPr lang="en-US" sz="2200" b="1" dirty="0">
                <a:solidFill>
                  <a:srgbClr val="DD8C58"/>
                </a:solidFill>
                <a:latin typeface="Tajawal" pitchFamily="34" charset="0"/>
                <a:ea typeface="Tajawal" pitchFamily="34" charset="-122"/>
                <a:cs typeface="Tajawal" pitchFamily="34" charset="-120"/>
              </a:rPr>
              <a:t>اسمع</a:t>
            </a:r>
            <a:endParaRPr lang="en-US" sz="2200" dirty="0"/>
          </a:p>
        </p:txBody>
      </p:sp>
      <p:sp>
        <p:nvSpPr>
          <p:cNvPr id="12" name="Text 8"/>
          <p:cNvSpPr/>
          <p:nvPr/>
        </p:nvSpPr>
        <p:spPr>
          <a:xfrm>
            <a:off x="5760720" y="4224528"/>
            <a:ext cx="5760720" cy="594360"/>
          </a:xfrm>
          <a:prstGeom prst="rect">
            <a:avLst/>
          </a:prstGeom>
          <a:noFill/>
          <a:ln/>
        </p:spPr>
        <p:txBody>
          <a:bodyPr wrap="square" lIns="0" tIns="0" rIns="0" bIns="0" rtlCol="0" anchor="ctr"/>
          <a:lstStyle/>
          <a:p>
            <a:pPr rtl="1" algn="r" indent="0" marL="0">
              <a:lnSpc>
                <a:spcPts val="2100"/>
              </a:lnSpc>
              <a:buNone/>
            </a:pPr>
            <a:r>
              <a:rPr lang="en-US" sz="1350" dirty="0">
                <a:solidFill>
                  <a:srgbClr val="A2977F"/>
                </a:solidFill>
                <a:latin typeface="Tajawal" pitchFamily="34" charset="0"/>
                <a:ea typeface="Tajawal" pitchFamily="34" charset="-122"/>
                <a:cs typeface="Tajawal" pitchFamily="34" charset="-120"/>
              </a:rPr>
              <a:t>تسمع قصتها بصوت، بلغتك أنت، ومعها تاريخ الموقع.</a:t>
            </a:r>
            <a:endParaRPr lang="en-US" sz="1350" dirty="0"/>
          </a:p>
        </p:txBody>
      </p:sp>
      <p:sp>
        <p:nvSpPr>
          <p:cNvPr id="13" name="Shape 9"/>
          <p:cNvSpPr/>
          <p:nvPr/>
        </p:nvSpPr>
        <p:spPr>
          <a:xfrm>
            <a:off x="5760720" y="4892040"/>
            <a:ext cx="5760720" cy="1143000"/>
          </a:xfrm>
          <a:prstGeom prst="roundRect">
            <a:avLst>
              <a:gd name="adj" fmla="val 8000"/>
            </a:avLst>
          </a:prstGeom>
          <a:solidFill>
            <a:srgbClr val="151D2C"/>
          </a:solidFill>
          <a:ln w="12700">
            <a:solidFill>
              <a:srgbClr val="232D42"/>
            </a:solidFill>
            <a:prstDash val="solid"/>
          </a:ln>
        </p:spPr>
      </p:sp>
      <p:sp>
        <p:nvSpPr>
          <p:cNvPr id="14" name="Text 10"/>
          <p:cNvSpPr/>
          <p:nvPr/>
        </p:nvSpPr>
        <p:spPr>
          <a:xfrm>
            <a:off x="10241280" y="5074920"/>
            <a:ext cx="1097280" cy="777240"/>
          </a:xfrm>
          <a:prstGeom prst="rect">
            <a:avLst/>
          </a:prstGeom>
          <a:noFill/>
          <a:ln/>
        </p:spPr>
        <p:txBody>
          <a:bodyPr wrap="square" lIns="0" tIns="0" rIns="0" bIns="0" rtlCol="0" anchor="ctr"/>
          <a:lstStyle/>
          <a:p>
            <a:pPr rtl="1" algn="ctr" indent="0" marL="0">
              <a:buNone/>
            </a:pPr>
            <a:r>
              <a:rPr lang="en-US" sz="3800" b="1" dirty="0">
                <a:solidFill>
                  <a:srgbClr val="DD8C58"/>
                </a:solidFill>
                <a:latin typeface="Tajawal" pitchFamily="34" charset="0"/>
                <a:ea typeface="Tajawal" pitchFamily="34" charset="-122"/>
                <a:cs typeface="Tajawal" pitchFamily="34" charset="-120"/>
              </a:rPr>
              <a:t>٢٩</a:t>
            </a:r>
            <a:endParaRPr lang="en-US" sz="3800" dirty="0"/>
          </a:p>
        </p:txBody>
      </p:sp>
      <p:sp>
        <p:nvSpPr>
          <p:cNvPr id="15" name="Text 11"/>
          <p:cNvSpPr/>
          <p:nvPr/>
        </p:nvSpPr>
        <p:spPr>
          <a:xfrm>
            <a:off x="9006840" y="5303520"/>
            <a:ext cx="1051560" cy="365760"/>
          </a:xfrm>
          <a:prstGeom prst="rect">
            <a:avLst/>
          </a:prstGeom>
          <a:noFill/>
          <a:ln/>
        </p:spPr>
        <p:txBody>
          <a:bodyPr wrap="square" lIns="0" tIns="0" rIns="0" bIns="0" rtlCol="0" anchor="ctr"/>
          <a:lstStyle/>
          <a:p>
            <a:pPr rtl="1" algn="r" indent="0" marL="0">
              <a:buNone/>
            </a:pPr>
            <a:r>
              <a:rPr lang="en-US" sz="1500" dirty="0">
                <a:solidFill>
                  <a:srgbClr val="A2977F"/>
                </a:solidFill>
                <a:latin typeface="Tajawal" pitchFamily="34" charset="0"/>
                <a:ea typeface="Tajawal" pitchFamily="34" charset="-122"/>
                <a:cs typeface="Tajawal" pitchFamily="34" charset="-120"/>
              </a:rPr>
              <a:t>لغة</a:t>
            </a:r>
            <a:endParaRPr lang="en-US" sz="1500" dirty="0"/>
          </a:p>
        </p:txBody>
      </p:sp>
      <p:sp>
        <p:nvSpPr>
          <p:cNvPr id="16" name="Text 12"/>
          <p:cNvSpPr/>
          <p:nvPr/>
        </p:nvSpPr>
        <p:spPr>
          <a:xfrm>
            <a:off x="7772400" y="5074920"/>
            <a:ext cx="1097280" cy="777240"/>
          </a:xfrm>
          <a:prstGeom prst="rect">
            <a:avLst/>
          </a:prstGeom>
          <a:noFill/>
          <a:ln/>
        </p:spPr>
        <p:txBody>
          <a:bodyPr wrap="square" lIns="0" tIns="0" rIns="0" bIns="0" rtlCol="0" anchor="ctr"/>
          <a:lstStyle/>
          <a:p>
            <a:pPr rtl="1" algn="ctr" indent="0" marL="0">
              <a:buNone/>
            </a:pPr>
            <a:r>
              <a:rPr lang="en-US" sz="3800" b="1" dirty="0">
                <a:solidFill>
                  <a:srgbClr val="EFAE6E"/>
                </a:solidFill>
                <a:latin typeface="Tajawal" pitchFamily="34" charset="0"/>
                <a:ea typeface="Tajawal" pitchFamily="34" charset="-122"/>
                <a:cs typeface="Tajawal" pitchFamily="34" charset="-120"/>
              </a:rPr>
              <a:t>١٠</a:t>
            </a:r>
            <a:endParaRPr lang="en-US" sz="3800" dirty="0"/>
          </a:p>
        </p:txBody>
      </p:sp>
      <p:sp>
        <p:nvSpPr>
          <p:cNvPr id="17" name="Text 13"/>
          <p:cNvSpPr/>
          <p:nvPr/>
        </p:nvSpPr>
        <p:spPr>
          <a:xfrm>
            <a:off x="6035040" y="5303520"/>
            <a:ext cx="1600200" cy="365760"/>
          </a:xfrm>
          <a:prstGeom prst="rect">
            <a:avLst/>
          </a:prstGeom>
          <a:noFill/>
          <a:ln/>
        </p:spPr>
        <p:txBody>
          <a:bodyPr wrap="square" lIns="0" tIns="0" rIns="0" bIns="0" rtlCol="0" anchor="ctr"/>
          <a:lstStyle/>
          <a:p>
            <a:pPr rtl="1" algn="r" indent="0" marL="0">
              <a:buNone/>
            </a:pPr>
            <a:r>
              <a:rPr lang="en-US" sz="1300" dirty="0">
                <a:solidFill>
                  <a:srgbClr val="A2977F"/>
                </a:solidFill>
                <a:latin typeface="Tajawal" pitchFamily="34" charset="0"/>
                <a:ea typeface="Tajawal" pitchFamily="34" charset="-122"/>
                <a:cs typeface="Tajawal" pitchFamily="34" charset="-120"/>
              </a:rPr>
              <a:t>نقوش موثقة</a:t>
            </a:r>
            <a:endParaRPr lang="en-US" sz="13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xmlns:p14="http://schemas.microsoft.com/office/powerpoint/2010/main" spd="slow" p14:dur="90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17"/>
        </a:solidFill>
      </p:bgPr>
    </p:bg>
    <p:spTree>
      <p:nvGrpSpPr>
        <p:cNvPr id="1" name=""/>
        <p:cNvGrpSpPr/>
        <p:nvPr/>
      </p:nvGrpSpPr>
      <p:grpSpPr>
        <a:xfrm>
          <a:off x="0" y="0"/>
          <a:ext cx="0" cy="0"/>
          <a:chOff x="0" y="0"/>
          <a:chExt cx="0" cy="0"/>
        </a:xfrm>
      </p:grpSpPr>
      <p:sp>
        <p:nvSpPr>
          <p:cNvPr id="2" name="!!title"/>
          <p:cNvSpPr/>
          <p:nvPr/>
        </p:nvSpPr>
        <p:spPr>
          <a:xfrm>
            <a:off x="685800" y="502920"/>
            <a:ext cx="10820095" cy="868680"/>
          </a:xfrm>
          <a:prstGeom prst="rect">
            <a:avLst/>
          </a:prstGeom>
          <a:noFill/>
          <a:ln/>
        </p:spPr>
        <p:txBody>
          <a:bodyPr wrap="square" lIns="0" tIns="0" rIns="0" bIns="0" rtlCol="0" anchor="ctr"/>
          <a:lstStyle/>
          <a:p>
            <a:pPr rtl="1" algn="r" indent="0" marL="0">
              <a:buNone/>
            </a:pPr>
            <a:r>
              <a:rPr lang="en-US" sz="3800" b="1" dirty="0">
                <a:solidFill>
                  <a:srgbClr val="E8DCC8"/>
                </a:solidFill>
                <a:latin typeface="Tajawal" pitchFamily="34" charset="0"/>
                <a:ea typeface="Tajawal" pitchFamily="34" charset="-122"/>
                <a:cs typeface="Tajawal" pitchFamily="34" charset="-120"/>
              </a:rPr>
              <a:t>كيف طوّعنا DINOv3 لنقوش جبة</a:t>
            </a:r>
            <a:endParaRPr lang="en-US" sz="3800" dirty="0"/>
          </a:p>
        </p:txBody>
      </p:sp>
      <p:sp>
        <p:nvSpPr>
          <p:cNvPr id="3" name="Shape 1"/>
          <p:cNvSpPr/>
          <p:nvPr/>
        </p:nvSpPr>
        <p:spPr>
          <a:xfrm>
            <a:off x="4160520" y="1554480"/>
            <a:ext cx="7360920" cy="4251960"/>
          </a:xfrm>
          <a:prstGeom prst="roundRect">
            <a:avLst>
              <a:gd name="adj" fmla="val 2151"/>
            </a:avLst>
          </a:prstGeom>
          <a:solidFill>
            <a:srgbClr val="151D2C"/>
          </a:solidFill>
          <a:ln w="12700">
            <a:solidFill>
              <a:srgbClr val="232D42"/>
            </a:solidFill>
            <a:prstDash val="solid"/>
          </a:ln>
        </p:spPr>
      </p:sp>
      <p:sp>
        <p:nvSpPr>
          <p:cNvPr id="4" name="Text 2"/>
          <p:cNvSpPr/>
          <p:nvPr/>
        </p:nvSpPr>
        <p:spPr>
          <a:xfrm>
            <a:off x="6172200" y="1810512"/>
            <a:ext cx="4983480" cy="457200"/>
          </a:xfrm>
          <a:prstGeom prst="rect">
            <a:avLst/>
          </a:prstGeom>
          <a:noFill/>
          <a:ln/>
        </p:spPr>
        <p:txBody>
          <a:bodyPr wrap="square" lIns="0" tIns="0" rIns="0" bIns="0" rtlCol="0" anchor="ctr"/>
          <a:lstStyle/>
          <a:p>
            <a:pPr algn="r" indent="0" marL="0">
              <a:buNone/>
            </a:pPr>
            <a:r>
              <a:rPr lang="en-US" sz="2400" b="1" dirty="0">
                <a:solidFill>
                  <a:srgbClr val="DD8C58"/>
                </a:solidFill>
                <a:latin typeface="Calibri" pitchFamily="34" charset="0"/>
                <a:ea typeface="Calibri" pitchFamily="34" charset="-122"/>
                <a:cs typeface="Calibri" pitchFamily="34" charset="-120"/>
              </a:rPr>
              <a:t>DINOv3  ViT-S/16</a:t>
            </a:r>
            <a:endParaRPr lang="en-US" sz="2400" dirty="0"/>
          </a:p>
        </p:txBody>
      </p:sp>
      <p:sp>
        <p:nvSpPr>
          <p:cNvPr id="5" name="Text 3"/>
          <p:cNvSpPr/>
          <p:nvPr/>
        </p:nvSpPr>
        <p:spPr>
          <a:xfrm>
            <a:off x="6172200" y="2395728"/>
            <a:ext cx="4983480" cy="347472"/>
          </a:xfrm>
          <a:prstGeom prst="rect">
            <a:avLst/>
          </a:prstGeom>
          <a:noFill/>
          <a:ln/>
        </p:spPr>
        <p:txBody>
          <a:bodyPr wrap="square" lIns="0" tIns="0" rIns="0" bIns="0" rtlCol="0" anchor="ctr"/>
          <a:lstStyle/>
          <a:p>
            <a:pPr rtl="1" algn="r" indent="0" marL="0">
              <a:buNone/>
            </a:pPr>
            <a:r>
              <a:rPr lang="en-US" sz="1700" b="1" dirty="0">
                <a:solidFill>
                  <a:srgbClr val="EFAE6E"/>
                </a:solidFill>
                <a:latin typeface="Tajawal" pitchFamily="34" charset="0"/>
                <a:ea typeface="Tajawal" pitchFamily="34" charset="-122"/>
                <a:cs typeface="Tajawal" pitchFamily="34" charset="-120"/>
              </a:rPr>
              <a:t>الأساس</a:t>
            </a:r>
            <a:endParaRPr lang="en-US" sz="1700" dirty="0"/>
          </a:p>
        </p:txBody>
      </p:sp>
      <p:sp>
        <p:nvSpPr>
          <p:cNvPr id="6" name="Text 4"/>
          <p:cNvSpPr/>
          <p:nvPr/>
        </p:nvSpPr>
        <p:spPr>
          <a:xfrm>
            <a:off x="6172200" y="2779776"/>
            <a:ext cx="4983480" cy="658368"/>
          </a:xfrm>
          <a:prstGeom prst="rect">
            <a:avLst/>
          </a:prstGeom>
          <a:noFill/>
          <a:ln/>
        </p:spPr>
        <p:txBody>
          <a:bodyPr wrap="square" lIns="0" tIns="0" rIns="0" bIns="0" rtlCol="0" anchor="ctr"/>
          <a:lstStyle/>
          <a:p>
            <a:pPr rtl="1" algn="r" indent="0" marL="0">
              <a:lnSpc>
                <a:spcPts val="2300"/>
              </a:lnSpc>
              <a:buNone/>
            </a:pPr>
            <a:r>
              <a:rPr lang="en-US" sz="1400" dirty="0">
                <a:solidFill>
                  <a:srgbClr val="A2977F"/>
                </a:solidFill>
                <a:latin typeface="Tajawal" pitchFamily="34" charset="0"/>
                <a:ea typeface="Tajawal" pitchFamily="34" charset="-122"/>
                <a:cs typeface="Tajawal" pitchFamily="34" charset="-120"/>
              </a:rPr>
              <a:t>شبكة رؤية مفتوحة تعلّمت الأشكال والملمس من ملايين الصور دون وسوم بشرية — تعلّم ذاتي الإشراف.</a:t>
            </a:r>
            <a:endParaRPr lang="en-US" sz="1400" dirty="0"/>
          </a:p>
        </p:txBody>
      </p:sp>
      <p:sp>
        <p:nvSpPr>
          <p:cNvPr id="7" name="Text 5"/>
          <p:cNvSpPr/>
          <p:nvPr/>
        </p:nvSpPr>
        <p:spPr>
          <a:xfrm>
            <a:off x="6172200" y="3511296"/>
            <a:ext cx="4983480" cy="347472"/>
          </a:xfrm>
          <a:prstGeom prst="rect">
            <a:avLst/>
          </a:prstGeom>
          <a:noFill/>
          <a:ln/>
        </p:spPr>
        <p:txBody>
          <a:bodyPr wrap="square" lIns="0" tIns="0" rIns="0" bIns="0" rtlCol="0" anchor="ctr"/>
          <a:lstStyle/>
          <a:p>
            <a:pPr rtl="1" algn="r" indent="0" marL="0">
              <a:buNone/>
            </a:pPr>
            <a:r>
              <a:rPr lang="en-US" sz="1700" b="1" dirty="0">
                <a:solidFill>
                  <a:srgbClr val="EFAE6E"/>
                </a:solidFill>
                <a:latin typeface="Tajawal" pitchFamily="34" charset="0"/>
                <a:ea typeface="Tajawal" pitchFamily="34" charset="-122"/>
                <a:cs typeface="Tajawal" pitchFamily="34" charset="-120"/>
              </a:rPr>
              <a:t>ما بنيناه فوقه</a:t>
            </a:r>
            <a:endParaRPr lang="en-US" sz="1700" dirty="0"/>
          </a:p>
        </p:txBody>
      </p:sp>
      <p:sp>
        <p:nvSpPr>
          <p:cNvPr id="8" name="Text 6"/>
          <p:cNvSpPr/>
          <p:nvPr/>
        </p:nvSpPr>
        <p:spPr>
          <a:xfrm>
            <a:off x="6172200" y="3895344"/>
            <a:ext cx="4983480" cy="658368"/>
          </a:xfrm>
          <a:prstGeom prst="rect">
            <a:avLst/>
          </a:prstGeom>
          <a:noFill/>
          <a:ln/>
        </p:spPr>
        <p:txBody>
          <a:bodyPr wrap="square" lIns="0" tIns="0" rIns="0" bIns="0" rtlCol="0" anchor="ctr"/>
          <a:lstStyle/>
          <a:p>
            <a:pPr rtl="1" algn="r" indent="0" marL="0">
              <a:lnSpc>
                <a:spcPts val="2300"/>
              </a:lnSpc>
              <a:buNone/>
            </a:pPr>
            <a:r>
              <a:rPr lang="en-US" sz="1400" dirty="0">
                <a:solidFill>
                  <a:srgbClr val="A2977F"/>
                </a:solidFill>
                <a:latin typeface="Tajawal" pitchFamily="34" charset="0"/>
                <a:ea typeface="Tajawal" pitchFamily="34" charset="-122"/>
                <a:cs typeface="Tajawal" pitchFamily="34" charset="-120"/>
              </a:rPr>
              <a:t>فهرس بصمات من تصويرنا الميداني، وعليه طبقة قرار تقارن وتحكم — تعلّم انتقالي بالأمثلة.</a:t>
            </a:r>
            <a:endParaRPr lang="en-US" sz="1400" dirty="0"/>
          </a:p>
        </p:txBody>
      </p:sp>
      <p:sp>
        <p:nvSpPr>
          <p:cNvPr id="9" name="Text 7"/>
          <p:cNvSpPr/>
          <p:nvPr/>
        </p:nvSpPr>
        <p:spPr>
          <a:xfrm>
            <a:off x="6172200" y="4626864"/>
            <a:ext cx="4983480" cy="347472"/>
          </a:xfrm>
          <a:prstGeom prst="rect">
            <a:avLst/>
          </a:prstGeom>
          <a:noFill/>
          <a:ln/>
        </p:spPr>
        <p:txBody>
          <a:bodyPr wrap="square" lIns="0" tIns="0" rIns="0" bIns="0" rtlCol="0" anchor="ctr"/>
          <a:lstStyle/>
          <a:p>
            <a:pPr rtl="1" algn="r" indent="0" marL="0">
              <a:buNone/>
            </a:pPr>
            <a:r>
              <a:rPr lang="en-US" sz="1700" b="1" dirty="0">
                <a:solidFill>
                  <a:srgbClr val="EFAE6E"/>
                </a:solidFill>
                <a:latin typeface="Tajawal" pitchFamily="34" charset="0"/>
                <a:ea typeface="Tajawal" pitchFamily="34" charset="-122"/>
                <a:cs typeface="Tajawal" pitchFamily="34" charset="-120"/>
              </a:rPr>
              <a:t>والفرق</a:t>
            </a:r>
            <a:endParaRPr lang="en-US" sz="1700" dirty="0"/>
          </a:p>
        </p:txBody>
      </p:sp>
      <p:sp>
        <p:nvSpPr>
          <p:cNvPr id="10" name="Text 8"/>
          <p:cNvSpPr/>
          <p:nvPr/>
        </p:nvSpPr>
        <p:spPr>
          <a:xfrm>
            <a:off x="6172200" y="5010912"/>
            <a:ext cx="4983480" cy="658368"/>
          </a:xfrm>
          <a:prstGeom prst="rect">
            <a:avLst/>
          </a:prstGeom>
          <a:noFill/>
          <a:ln/>
        </p:spPr>
        <p:txBody>
          <a:bodyPr wrap="square" lIns="0" tIns="0" rIns="0" bIns="0" rtlCol="0" anchor="ctr"/>
          <a:lstStyle/>
          <a:p>
            <a:pPr rtl="1" algn="r" indent="0" marL="0">
              <a:lnSpc>
                <a:spcPts val="2300"/>
              </a:lnSpc>
              <a:buNone/>
            </a:pPr>
            <a:r>
              <a:rPr lang="en-US" sz="1400" dirty="0">
                <a:solidFill>
                  <a:srgbClr val="A2977F"/>
                </a:solidFill>
                <a:latin typeface="Tajawal" pitchFamily="34" charset="0"/>
                <a:ea typeface="Tajawal" pitchFamily="34" charset="-122"/>
                <a:cs typeface="Tajawal" pitchFamily="34" charset="-120"/>
              </a:rPr>
              <a:t>لم نغيّر أوزان الشبكة، بل غيّرنا ما تعرفه. فصار النموذج العام خبيرا بنقوش جبة.</a:t>
            </a:r>
            <a:endParaRPr lang="en-US" sz="1400" dirty="0"/>
          </a:p>
        </p:txBody>
      </p:sp>
      <p:sp>
        <p:nvSpPr>
          <p:cNvPr id="11" name="Shape 9"/>
          <p:cNvSpPr/>
          <p:nvPr/>
        </p:nvSpPr>
        <p:spPr>
          <a:xfrm>
            <a:off x="4494276" y="1737360"/>
            <a:ext cx="1325880" cy="1014984"/>
          </a:xfrm>
          <a:prstGeom prst="roundRect">
            <a:avLst>
              <a:gd name="adj" fmla="val 7207"/>
            </a:avLst>
          </a:prstGeom>
          <a:solidFill>
            <a:srgbClr val="2A3244"/>
          </a:solidFill>
          <a:ln w="12700">
            <a:solidFill>
              <a:srgbClr val="333333"/>
            </a:solidFill>
            <a:prstDash val="solid"/>
          </a:ln>
        </p:spPr>
      </p:sp>
      <p:pic>
        <p:nvPicPr>
          <p:cNvPr id="12" name="Image 0" descr="preencoded.png">    </p:cNvPr>
          <p:cNvPicPr>
            <a:picLocks noChangeAspect="1"/>
          </p:cNvPicPr>
          <p:nvPr/>
        </p:nvPicPr>
        <p:blipFill>
          <a:blip r:embed="rId1"/>
          <a:stretch>
            <a:fillRect/>
          </a:stretch>
        </p:blipFill>
        <p:spPr>
          <a:xfrm>
            <a:off x="4539996" y="1783080"/>
            <a:ext cx="1234440" cy="923544"/>
          </a:xfrm>
          <a:prstGeom prst="rect">
            <a:avLst/>
          </a:prstGeom>
        </p:spPr>
      </p:pic>
      <p:sp>
        <p:nvSpPr>
          <p:cNvPr id="13" name="Text 10"/>
          <p:cNvSpPr/>
          <p:nvPr/>
        </p:nvSpPr>
        <p:spPr>
          <a:xfrm>
            <a:off x="4224528" y="2743200"/>
            <a:ext cx="1865376" cy="219456"/>
          </a:xfrm>
          <a:prstGeom prst="rect">
            <a:avLst/>
          </a:prstGeom>
          <a:noFill/>
          <a:ln/>
        </p:spPr>
        <p:txBody>
          <a:bodyPr wrap="square" lIns="0" tIns="0" rIns="0" bIns="0" rtlCol="0" anchor="ctr"/>
          <a:lstStyle/>
          <a:p>
            <a:pPr rtl="1" algn="ctr" indent="0" marL="0">
              <a:buNone/>
            </a:pPr>
            <a:r>
              <a:rPr lang="en-US" sz="950" dirty="0">
                <a:solidFill>
                  <a:srgbClr val="6E6757"/>
                </a:solidFill>
                <a:latin typeface="Tajawal" pitchFamily="34" charset="0"/>
                <a:ea typeface="Tajawal" pitchFamily="34" charset="-122"/>
                <a:cs typeface="Tajawal" pitchFamily="34" charset="-120"/>
              </a:rPr>
              <a:t>السائح يصور النقش</a:t>
            </a:r>
            <a:endParaRPr lang="en-US" sz="950" dirty="0"/>
          </a:p>
        </p:txBody>
      </p:sp>
      <p:sp>
        <p:nvSpPr>
          <p:cNvPr id="14" name="Text 11"/>
          <p:cNvSpPr/>
          <p:nvPr/>
        </p:nvSpPr>
        <p:spPr>
          <a:xfrm>
            <a:off x="4279392" y="2980944"/>
            <a:ext cx="1755648" cy="201168"/>
          </a:xfrm>
          <a:prstGeom prst="rect">
            <a:avLst/>
          </a:prstGeom>
          <a:noFill/>
          <a:ln/>
        </p:spPr>
        <p:txBody>
          <a:bodyPr wrap="square" lIns="0" tIns="0" rIns="0" bIns="0" rtlCol="0" anchor="ctr"/>
          <a:lstStyle/>
          <a:p>
            <a:pPr algn="ctr" indent="0" marL="0">
              <a:buNone/>
            </a:pPr>
            <a:r>
              <a:rPr lang="en-US" sz="1100" dirty="0">
                <a:solidFill>
                  <a:srgbClr val="C97A4A"/>
                </a:solidFill>
                <a:latin typeface="Calibri" pitchFamily="34" charset="0"/>
                <a:ea typeface="Calibri" pitchFamily="34" charset="-122"/>
                <a:cs typeface="Calibri" pitchFamily="34" charset="-120"/>
              </a:rPr>
              <a:t>▼</a:t>
            </a:r>
            <a:endParaRPr lang="en-US" sz="1100" dirty="0"/>
          </a:p>
        </p:txBody>
      </p:sp>
      <p:sp>
        <p:nvSpPr>
          <p:cNvPr id="15" name="Shape 12"/>
          <p:cNvSpPr/>
          <p:nvPr/>
        </p:nvSpPr>
        <p:spPr>
          <a:xfrm>
            <a:off x="4494276" y="3218688"/>
            <a:ext cx="1325880" cy="658368"/>
          </a:xfrm>
          <a:prstGeom prst="roundRect">
            <a:avLst>
              <a:gd name="adj" fmla="val 11111"/>
            </a:avLst>
          </a:prstGeom>
          <a:solidFill>
            <a:srgbClr val="232D42"/>
          </a:solidFill>
          <a:ln w="12700">
            <a:solidFill>
              <a:srgbClr val="333333"/>
            </a:solidFill>
            <a:prstDash val="solid"/>
          </a:ln>
        </p:spPr>
      </p:sp>
      <p:sp>
        <p:nvSpPr>
          <p:cNvPr id="16" name="Text 13"/>
          <p:cNvSpPr/>
          <p:nvPr/>
        </p:nvSpPr>
        <p:spPr>
          <a:xfrm>
            <a:off x="4539996" y="3291840"/>
            <a:ext cx="1234440" cy="530352"/>
          </a:xfrm>
          <a:prstGeom prst="rect">
            <a:avLst/>
          </a:prstGeom>
          <a:noFill/>
          <a:ln/>
        </p:spPr>
        <p:txBody>
          <a:bodyPr wrap="square" lIns="0" tIns="0" rIns="0" bIns="0" rtlCol="0" anchor="ctr"/>
          <a:lstStyle/>
          <a:p>
            <a:pPr algn="ctr" indent="0" marL="0">
              <a:lnSpc>
                <a:spcPts val="1200"/>
              </a:lnSpc>
              <a:buNone/>
            </a:pPr>
            <a:r>
              <a:rPr lang="en-US" sz="950" dirty="0">
                <a:solidFill>
                  <a:srgbClr val="EFAE6E"/>
                </a:solidFill>
                <a:latin typeface="Courier New" pitchFamily="34" charset="0"/>
                <a:ea typeface="Courier New" pitchFamily="34" charset="-122"/>
                <a:cs typeface="Courier New" pitchFamily="34" charset="-120"/>
              </a:rPr>
              <a:t>0.417  0.902</a:t>
            </a:r>
            <a:endParaRPr lang="en-US" sz="950" dirty="0"/>
          </a:p>
          <a:p>
            <a:pPr algn="ctr" indent="0" marL="0">
              <a:lnSpc>
                <a:spcPts val="1200"/>
              </a:lnSpc>
              <a:buNone/>
            </a:pPr>
            <a:r>
              <a:rPr lang="en-US" sz="950" dirty="0">
                <a:solidFill>
                  <a:srgbClr val="EFAE6E"/>
                </a:solidFill>
                <a:latin typeface="Courier New" pitchFamily="34" charset="0"/>
                <a:ea typeface="Courier New" pitchFamily="34" charset="-122"/>
                <a:cs typeface="Courier New" pitchFamily="34" charset="-120"/>
              </a:rPr>
              <a:t>0.773  0.264</a:t>
            </a:r>
            <a:endParaRPr lang="en-US" sz="950" dirty="0"/>
          </a:p>
          <a:p>
            <a:pPr algn="ctr" indent="0" marL="0">
              <a:lnSpc>
                <a:spcPts val="1200"/>
              </a:lnSpc>
              <a:buNone/>
            </a:pPr>
            <a:r>
              <a:rPr lang="en-US" sz="950" dirty="0">
                <a:solidFill>
                  <a:srgbClr val="EFAE6E"/>
                </a:solidFill>
                <a:latin typeface="Courier New" pitchFamily="34" charset="0"/>
                <a:ea typeface="Courier New" pitchFamily="34" charset="-122"/>
                <a:cs typeface="Courier New" pitchFamily="34" charset="-120"/>
              </a:rPr>
              <a:t>0.115  0.658</a:t>
            </a:r>
            <a:endParaRPr lang="en-US" sz="950" dirty="0"/>
          </a:p>
        </p:txBody>
      </p:sp>
      <p:sp>
        <p:nvSpPr>
          <p:cNvPr id="17" name="Text 14"/>
          <p:cNvSpPr/>
          <p:nvPr/>
        </p:nvSpPr>
        <p:spPr>
          <a:xfrm>
            <a:off x="4224528" y="3913632"/>
            <a:ext cx="1865376" cy="219456"/>
          </a:xfrm>
          <a:prstGeom prst="rect">
            <a:avLst/>
          </a:prstGeom>
          <a:noFill/>
          <a:ln/>
        </p:spPr>
        <p:txBody>
          <a:bodyPr wrap="square" lIns="0" tIns="0" rIns="0" bIns="0" rtlCol="0" anchor="ctr"/>
          <a:lstStyle/>
          <a:p>
            <a:pPr rtl="1" algn="ctr" indent="0" marL="0">
              <a:buNone/>
            </a:pPr>
            <a:r>
              <a:rPr lang="en-US" sz="950" dirty="0">
                <a:solidFill>
                  <a:srgbClr val="6E6757"/>
                </a:solidFill>
                <a:latin typeface="Tajawal" pitchFamily="34" charset="0"/>
                <a:ea typeface="Tajawal" pitchFamily="34" charset="-122"/>
                <a:cs typeface="Tajawal" pitchFamily="34" charset="-120"/>
              </a:rPr>
              <a:t>النموذج يلخص شكله في أرقام</a:t>
            </a:r>
            <a:endParaRPr lang="en-US" sz="950" dirty="0"/>
          </a:p>
        </p:txBody>
      </p:sp>
      <p:sp>
        <p:nvSpPr>
          <p:cNvPr id="18" name="Text 15"/>
          <p:cNvSpPr/>
          <p:nvPr/>
        </p:nvSpPr>
        <p:spPr>
          <a:xfrm>
            <a:off x="4279392" y="4151376"/>
            <a:ext cx="1755648" cy="201168"/>
          </a:xfrm>
          <a:prstGeom prst="rect">
            <a:avLst/>
          </a:prstGeom>
          <a:noFill/>
          <a:ln/>
        </p:spPr>
        <p:txBody>
          <a:bodyPr wrap="square" lIns="0" tIns="0" rIns="0" bIns="0" rtlCol="0" anchor="ctr"/>
          <a:lstStyle/>
          <a:p>
            <a:pPr algn="ctr" indent="0" marL="0">
              <a:buNone/>
            </a:pPr>
            <a:r>
              <a:rPr lang="en-US" sz="1100" dirty="0">
                <a:solidFill>
                  <a:srgbClr val="C97A4A"/>
                </a:solidFill>
                <a:latin typeface="Calibri" pitchFamily="34" charset="0"/>
                <a:ea typeface="Calibri" pitchFamily="34" charset="-122"/>
                <a:cs typeface="Calibri" pitchFamily="34" charset="-120"/>
              </a:rPr>
              <a:t>▼</a:t>
            </a:r>
            <a:endParaRPr lang="en-US" sz="1100" dirty="0"/>
          </a:p>
        </p:txBody>
      </p:sp>
      <p:sp>
        <p:nvSpPr>
          <p:cNvPr id="19" name="Shape 16"/>
          <p:cNvSpPr/>
          <p:nvPr/>
        </p:nvSpPr>
        <p:spPr>
          <a:xfrm>
            <a:off x="4494276" y="4361688"/>
            <a:ext cx="1325880" cy="1014984"/>
          </a:xfrm>
          <a:prstGeom prst="roundRect">
            <a:avLst>
              <a:gd name="adj" fmla="val 7207"/>
            </a:avLst>
          </a:prstGeom>
          <a:solidFill>
            <a:srgbClr val="C97A4A"/>
          </a:solidFill>
          <a:ln w="12700">
            <a:solidFill>
              <a:srgbClr val="333333"/>
            </a:solidFill>
            <a:prstDash val="solid"/>
          </a:ln>
        </p:spPr>
      </p:sp>
      <p:pic>
        <p:nvPicPr>
          <p:cNvPr id="20" name="Image 1" descr="preencoded.png">    </p:cNvPr>
          <p:cNvPicPr>
            <a:picLocks noChangeAspect="1"/>
          </p:cNvPicPr>
          <p:nvPr/>
        </p:nvPicPr>
        <p:blipFill>
          <a:blip r:embed="rId2"/>
          <a:stretch>
            <a:fillRect/>
          </a:stretch>
        </p:blipFill>
        <p:spPr>
          <a:xfrm>
            <a:off x="4539996" y="4407408"/>
            <a:ext cx="1234440" cy="923544"/>
          </a:xfrm>
          <a:prstGeom prst="rect">
            <a:avLst/>
          </a:prstGeom>
        </p:spPr>
      </p:pic>
      <p:sp>
        <p:nvSpPr>
          <p:cNvPr id="21" name="Text 17"/>
          <p:cNvSpPr/>
          <p:nvPr/>
        </p:nvSpPr>
        <p:spPr>
          <a:xfrm>
            <a:off x="4224528" y="5367528"/>
            <a:ext cx="1865376" cy="219456"/>
          </a:xfrm>
          <a:prstGeom prst="rect">
            <a:avLst/>
          </a:prstGeom>
          <a:noFill/>
          <a:ln/>
        </p:spPr>
        <p:txBody>
          <a:bodyPr wrap="square" lIns="0" tIns="0" rIns="0" bIns="0" rtlCol="0" anchor="ctr"/>
          <a:lstStyle/>
          <a:p>
            <a:pPr rtl="1" algn="ctr" indent="0" marL="0">
              <a:buNone/>
            </a:pPr>
            <a:r>
              <a:rPr lang="en-US" sz="950" dirty="0">
                <a:solidFill>
                  <a:srgbClr val="6E6757"/>
                </a:solidFill>
                <a:latin typeface="Tajawal" pitchFamily="34" charset="0"/>
                <a:ea typeface="Tajawal" pitchFamily="34" charset="-122"/>
                <a:cs typeface="Tajawal" pitchFamily="34" charset="-120"/>
              </a:rPr>
              <a:t>يطابقها بنقوش جبة فيعرف اسمه</a:t>
            </a:r>
            <a:endParaRPr lang="en-US" sz="950" dirty="0"/>
          </a:p>
        </p:txBody>
      </p:sp>
      <p:sp>
        <p:nvSpPr>
          <p:cNvPr id="22" name="Shape 18"/>
          <p:cNvSpPr/>
          <p:nvPr/>
        </p:nvSpPr>
        <p:spPr>
          <a:xfrm>
            <a:off x="685800" y="1554480"/>
            <a:ext cx="3246120" cy="960120"/>
          </a:xfrm>
          <a:prstGeom prst="roundRect">
            <a:avLst>
              <a:gd name="adj" fmla="val 9524"/>
            </a:avLst>
          </a:prstGeom>
          <a:solidFill>
            <a:srgbClr val="232D42"/>
          </a:solidFill>
          <a:ln w="12700">
            <a:solidFill>
              <a:srgbClr val="232D42"/>
            </a:solidFill>
            <a:prstDash val="solid"/>
          </a:ln>
        </p:spPr>
      </p:sp>
      <p:sp>
        <p:nvSpPr>
          <p:cNvPr id="23" name="Text 19"/>
          <p:cNvSpPr/>
          <p:nvPr/>
        </p:nvSpPr>
        <p:spPr>
          <a:xfrm>
            <a:off x="941832" y="1673352"/>
            <a:ext cx="2734056" cy="365760"/>
          </a:xfrm>
          <a:prstGeom prst="rect">
            <a:avLst/>
          </a:prstGeom>
          <a:noFill/>
          <a:ln/>
        </p:spPr>
        <p:txBody>
          <a:bodyPr wrap="square" lIns="0" tIns="0" rIns="0" bIns="0" rtlCol="0" anchor="ctr"/>
          <a:lstStyle/>
          <a:p>
            <a:pPr rtl="1" algn="r" indent="0" marL="0">
              <a:buNone/>
            </a:pPr>
            <a:r>
              <a:rPr lang="en-US" sz="1600" b="1" dirty="0">
                <a:solidFill>
                  <a:srgbClr val="EFAE6E"/>
                </a:solidFill>
                <a:latin typeface="Tajawal" pitchFamily="34" charset="0"/>
                <a:ea typeface="Tajawal" pitchFamily="34" charset="-122"/>
                <a:cs typeface="Tajawal" pitchFamily="34" charset="-120"/>
              </a:rPr>
              <a:t>فهرس من الميدان</a:t>
            </a:r>
            <a:endParaRPr lang="en-US" sz="1600" dirty="0"/>
          </a:p>
        </p:txBody>
      </p:sp>
      <p:sp>
        <p:nvSpPr>
          <p:cNvPr id="24" name="Text 20"/>
          <p:cNvSpPr/>
          <p:nvPr/>
        </p:nvSpPr>
        <p:spPr>
          <a:xfrm>
            <a:off x="941832" y="2075688"/>
            <a:ext cx="2734056" cy="347472"/>
          </a:xfrm>
          <a:prstGeom prst="rect">
            <a:avLst/>
          </a:prstGeom>
          <a:noFill/>
          <a:ln/>
        </p:spPr>
        <p:txBody>
          <a:bodyPr wrap="square" lIns="0" tIns="0" rIns="0" bIns="0" rtlCol="0" anchor="ctr"/>
          <a:lstStyle/>
          <a:p>
            <a:pPr rtl="1" algn="r" indent="0" marL="0">
              <a:buNone/>
            </a:pPr>
            <a:r>
              <a:rPr lang="en-US" sz="1200" dirty="0">
                <a:solidFill>
                  <a:srgbClr val="A2977F"/>
                </a:solidFill>
                <a:latin typeface="Tajawal" pitchFamily="34" charset="0"/>
                <a:ea typeface="Tajawal" pitchFamily="34" charset="-122"/>
                <a:cs typeface="Tajawal" pitchFamily="34" charset="-120"/>
              </a:rPr>
              <a:t>٢٠١ صورة من جبة، صارت بصمات</a:t>
            </a:r>
            <a:endParaRPr lang="en-US" sz="1200" dirty="0"/>
          </a:p>
        </p:txBody>
      </p:sp>
      <p:sp>
        <p:nvSpPr>
          <p:cNvPr id="25" name="Shape 21"/>
          <p:cNvSpPr/>
          <p:nvPr/>
        </p:nvSpPr>
        <p:spPr>
          <a:xfrm>
            <a:off x="685800" y="2651760"/>
            <a:ext cx="3246120" cy="960120"/>
          </a:xfrm>
          <a:prstGeom prst="roundRect">
            <a:avLst>
              <a:gd name="adj" fmla="val 9524"/>
            </a:avLst>
          </a:prstGeom>
          <a:solidFill>
            <a:srgbClr val="232D42"/>
          </a:solidFill>
          <a:ln w="12700">
            <a:solidFill>
              <a:srgbClr val="232D42"/>
            </a:solidFill>
            <a:prstDash val="solid"/>
          </a:ln>
        </p:spPr>
      </p:sp>
      <p:sp>
        <p:nvSpPr>
          <p:cNvPr id="26" name="Text 22"/>
          <p:cNvSpPr/>
          <p:nvPr/>
        </p:nvSpPr>
        <p:spPr>
          <a:xfrm>
            <a:off x="941832" y="2770632"/>
            <a:ext cx="2734056" cy="365760"/>
          </a:xfrm>
          <a:prstGeom prst="rect">
            <a:avLst/>
          </a:prstGeom>
          <a:noFill/>
          <a:ln/>
        </p:spPr>
        <p:txBody>
          <a:bodyPr wrap="square" lIns="0" tIns="0" rIns="0" bIns="0" rtlCol="0" anchor="ctr"/>
          <a:lstStyle/>
          <a:p>
            <a:pPr rtl="1" algn="r" indent="0" marL="0">
              <a:buNone/>
            </a:pPr>
            <a:r>
              <a:rPr lang="en-US" sz="1600" b="1" dirty="0">
                <a:solidFill>
                  <a:srgbClr val="EFAE6E"/>
                </a:solidFill>
                <a:latin typeface="Tajawal" pitchFamily="34" charset="0"/>
                <a:ea typeface="Tajawal" pitchFamily="34" charset="-122"/>
                <a:cs typeface="Tajawal" pitchFamily="34" charset="-120"/>
              </a:rPr>
              <a:t>سلّم القصّ</a:t>
            </a:r>
            <a:endParaRPr lang="en-US" sz="1600" dirty="0"/>
          </a:p>
        </p:txBody>
      </p:sp>
      <p:sp>
        <p:nvSpPr>
          <p:cNvPr id="27" name="Text 23"/>
          <p:cNvSpPr/>
          <p:nvPr/>
        </p:nvSpPr>
        <p:spPr>
          <a:xfrm>
            <a:off x="941832" y="3172968"/>
            <a:ext cx="2734056" cy="347472"/>
          </a:xfrm>
          <a:prstGeom prst="rect">
            <a:avLst/>
          </a:prstGeom>
          <a:noFill/>
          <a:ln/>
        </p:spPr>
        <p:txBody>
          <a:bodyPr wrap="square" lIns="0" tIns="0" rIns="0" bIns="0" rtlCol="0" anchor="ctr"/>
          <a:lstStyle/>
          <a:p>
            <a:pPr rtl="1" algn="r" indent="0" marL="0">
              <a:buNone/>
            </a:pPr>
            <a:r>
              <a:rPr lang="en-US" sz="1200" dirty="0">
                <a:solidFill>
                  <a:srgbClr val="A2977F"/>
                </a:solidFill>
                <a:latin typeface="Tajawal" pitchFamily="34" charset="0"/>
                <a:ea typeface="Tajawal" pitchFamily="34" charset="-122"/>
                <a:cs typeface="Tajawal" pitchFamily="34" charset="-120"/>
              </a:rPr>
              <a:t>نجرّب كل لقطة بثلاثة مقاسات</a:t>
            </a:r>
            <a:endParaRPr lang="en-US" sz="1200" dirty="0"/>
          </a:p>
        </p:txBody>
      </p:sp>
      <p:sp>
        <p:nvSpPr>
          <p:cNvPr id="28" name="Shape 24"/>
          <p:cNvSpPr/>
          <p:nvPr/>
        </p:nvSpPr>
        <p:spPr>
          <a:xfrm>
            <a:off x="685800" y="3749040"/>
            <a:ext cx="3246120" cy="960120"/>
          </a:xfrm>
          <a:prstGeom prst="roundRect">
            <a:avLst>
              <a:gd name="adj" fmla="val 9524"/>
            </a:avLst>
          </a:prstGeom>
          <a:solidFill>
            <a:srgbClr val="232D42"/>
          </a:solidFill>
          <a:ln w="12700">
            <a:solidFill>
              <a:srgbClr val="232D42"/>
            </a:solidFill>
            <a:prstDash val="solid"/>
          </a:ln>
        </p:spPr>
      </p:sp>
      <p:sp>
        <p:nvSpPr>
          <p:cNvPr id="29" name="Text 25"/>
          <p:cNvSpPr/>
          <p:nvPr/>
        </p:nvSpPr>
        <p:spPr>
          <a:xfrm>
            <a:off x="941832" y="3867912"/>
            <a:ext cx="2734056" cy="365760"/>
          </a:xfrm>
          <a:prstGeom prst="rect">
            <a:avLst/>
          </a:prstGeom>
          <a:noFill/>
          <a:ln/>
        </p:spPr>
        <p:txBody>
          <a:bodyPr wrap="square" lIns="0" tIns="0" rIns="0" bIns="0" rtlCol="0" anchor="ctr"/>
          <a:lstStyle/>
          <a:p>
            <a:pPr rtl="1" algn="r" indent="0" marL="0">
              <a:buNone/>
            </a:pPr>
            <a:r>
              <a:rPr lang="en-US" sz="1600" b="1" dirty="0">
                <a:solidFill>
                  <a:srgbClr val="EFAE6E"/>
                </a:solidFill>
                <a:latin typeface="Tajawal" pitchFamily="34" charset="0"/>
                <a:ea typeface="Tajawal" pitchFamily="34" charset="-122"/>
                <a:cs typeface="Tajawal" pitchFamily="34" charset="-120"/>
              </a:rPr>
              <a:t>طبقة القرار</a:t>
            </a:r>
            <a:endParaRPr lang="en-US" sz="1600" dirty="0"/>
          </a:p>
        </p:txBody>
      </p:sp>
      <p:sp>
        <p:nvSpPr>
          <p:cNvPr id="30" name="Text 26"/>
          <p:cNvSpPr/>
          <p:nvPr/>
        </p:nvSpPr>
        <p:spPr>
          <a:xfrm>
            <a:off x="941832" y="4270248"/>
            <a:ext cx="2734056" cy="347472"/>
          </a:xfrm>
          <a:prstGeom prst="rect">
            <a:avLst/>
          </a:prstGeom>
          <a:noFill/>
          <a:ln/>
        </p:spPr>
        <p:txBody>
          <a:bodyPr wrap="square" lIns="0" tIns="0" rIns="0" bIns="0" rtlCol="0" anchor="ctr"/>
          <a:lstStyle/>
          <a:p>
            <a:pPr rtl="1" algn="r" indent="0" marL="0">
              <a:buNone/>
            </a:pPr>
            <a:r>
              <a:rPr lang="en-US" sz="1200" dirty="0">
                <a:solidFill>
                  <a:srgbClr val="A2977F"/>
                </a:solidFill>
                <a:latin typeface="Tajawal" pitchFamily="34" charset="0"/>
                <a:ea typeface="Tajawal" pitchFamily="34" charset="-122"/>
                <a:cs typeface="Tajawal" pitchFamily="34" charset="-120"/>
              </a:rPr>
              <a:t>يقول: لا أعرف، بدل أن يخمّن</a:t>
            </a:r>
            <a:endParaRPr lang="en-US" sz="1200" dirty="0"/>
          </a:p>
        </p:txBody>
      </p:sp>
      <p:sp>
        <p:nvSpPr>
          <p:cNvPr id="31" name="Shape 27"/>
          <p:cNvSpPr/>
          <p:nvPr/>
        </p:nvSpPr>
        <p:spPr>
          <a:xfrm>
            <a:off x="685800" y="4846320"/>
            <a:ext cx="3246120" cy="960120"/>
          </a:xfrm>
          <a:prstGeom prst="roundRect">
            <a:avLst>
              <a:gd name="adj" fmla="val 9524"/>
            </a:avLst>
          </a:prstGeom>
          <a:solidFill>
            <a:srgbClr val="232D42"/>
          </a:solidFill>
          <a:ln w="12700">
            <a:solidFill>
              <a:srgbClr val="232D42"/>
            </a:solidFill>
            <a:prstDash val="solid"/>
          </a:ln>
        </p:spPr>
      </p:sp>
      <p:sp>
        <p:nvSpPr>
          <p:cNvPr id="32" name="Text 28"/>
          <p:cNvSpPr/>
          <p:nvPr/>
        </p:nvSpPr>
        <p:spPr>
          <a:xfrm>
            <a:off x="941832" y="4965192"/>
            <a:ext cx="2734056" cy="365760"/>
          </a:xfrm>
          <a:prstGeom prst="rect">
            <a:avLst/>
          </a:prstGeom>
          <a:noFill/>
          <a:ln/>
        </p:spPr>
        <p:txBody>
          <a:bodyPr wrap="square" lIns="0" tIns="0" rIns="0" bIns="0" rtlCol="0" anchor="ctr"/>
          <a:lstStyle/>
          <a:p>
            <a:pPr rtl="1" algn="r" indent="0" marL="0">
              <a:buNone/>
            </a:pPr>
            <a:r>
              <a:rPr lang="en-US" sz="1600" b="1" dirty="0">
                <a:solidFill>
                  <a:srgbClr val="EFAE6E"/>
                </a:solidFill>
                <a:latin typeface="Tajawal" pitchFamily="34" charset="0"/>
                <a:ea typeface="Tajawal" pitchFamily="34" charset="-122"/>
                <a:cs typeface="Tajawal" pitchFamily="34" charset="-120"/>
              </a:rPr>
              <a:t>مسح حيّ</a:t>
            </a:r>
            <a:endParaRPr lang="en-US" sz="1600" dirty="0"/>
          </a:p>
        </p:txBody>
      </p:sp>
      <p:sp>
        <p:nvSpPr>
          <p:cNvPr id="33" name="Text 29"/>
          <p:cNvSpPr/>
          <p:nvPr/>
        </p:nvSpPr>
        <p:spPr>
          <a:xfrm>
            <a:off x="941832" y="5367528"/>
            <a:ext cx="2734056" cy="347472"/>
          </a:xfrm>
          <a:prstGeom prst="rect">
            <a:avLst/>
          </a:prstGeom>
          <a:noFill/>
          <a:ln/>
        </p:spPr>
        <p:txBody>
          <a:bodyPr wrap="square" lIns="0" tIns="0" rIns="0" bIns="0" rtlCol="0" anchor="ctr"/>
          <a:lstStyle/>
          <a:p>
            <a:pPr rtl="1" algn="r" indent="0" marL="0">
              <a:buNone/>
            </a:pPr>
            <a:r>
              <a:rPr lang="en-US" sz="1200" dirty="0">
                <a:solidFill>
                  <a:srgbClr val="A2977F"/>
                </a:solidFill>
                <a:latin typeface="Tajawal" pitchFamily="34" charset="0"/>
                <a:ea typeface="Tajawal" pitchFamily="34" charset="-122"/>
                <a:cs typeface="Tajawal" pitchFamily="34" charset="-120"/>
              </a:rPr>
              <a:t>يجمع أدلة من عدة لقطات قبل الحكم</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xmlns:p14="http://schemas.microsoft.com/office/powerpoint/2010/main" spd="slow" p14:dur="90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F17"/>
        </a:solidFill>
      </p:bgPr>
    </p:bg>
    <p:spTree>
      <p:nvGrpSpPr>
        <p:cNvPr id="1" name=""/>
        <p:cNvGrpSpPr/>
        <p:nvPr/>
      </p:nvGrpSpPr>
      <p:grpSpPr>
        <a:xfrm>
          <a:off x="0" y="0"/>
          <a:ext cx="0" cy="0"/>
          <a:chOff x="0" y="0"/>
          <a:chExt cx="0" cy="0"/>
        </a:xfrm>
      </p:grpSpPr>
      <p:sp>
        <p:nvSpPr>
          <p:cNvPr id="2" name="!!title"/>
          <p:cNvSpPr/>
          <p:nvPr/>
        </p:nvSpPr>
        <p:spPr>
          <a:xfrm>
            <a:off x="685800" y="502920"/>
            <a:ext cx="10820095" cy="868680"/>
          </a:xfrm>
          <a:prstGeom prst="rect">
            <a:avLst/>
          </a:prstGeom>
          <a:noFill/>
          <a:ln/>
        </p:spPr>
        <p:txBody>
          <a:bodyPr wrap="square" lIns="0" tIns="0" rIns="0" bIns="0" rtlCol="0" anchor="ctr"/>
          <a:lstStyle/>
          <a:p>
            <a:pPr rtl="1" algn="r" indent="0" marL="0">
              <a:buNone/>
            </a:pPr>
            <a:r>
              <a:rPr lang="en-US" sz="3800" b="1" dirty="0">
                <a:solidFill>
                  <a:srgbClr val="E8DCC8"/>
                </a:solidFill>
                <a:latin typeface="Tajawal" pitchFamily="34" charset="0"/>
                <a:ea typeface="Tajawal" pitchFamily="34" charset="-122"/>
                <a:cs typeface="Tajawal" pitchFamily="34" charset="-120"/>
              </a:rPr>
              <a:t>كل شيء داخل جوالك</a:t>
            </a:r>
            <a:endParaRPr lang="en-US" sz="3800" dirty="0"/>
          </a:p>
        </p:txBody>
      </p:sp>
      <p:sp>
        <p:nvSpPr>
          <p:cNvPr id="3" name="Text 1"/>
          <p:cNvSpPr/>
          <p:nvPr/>
        </p:nvSpPr>
        <p:spPr>
          <a:xfrm>
            <a:off x="685800" y="1371600"/>
            <a:ext cx="10820095" cy="457200"/>
          </a:xfrm>
          <a:prstGeom prst="rect">
            <a:avLst/>
          </a:prstGeom>
          <a:noFill/>
          <a:ln/>
        </p:spPr>
        <p:txBody>
          <a:bodyPr wrap="square" lIns="0" tIns="0" rIns="0" bIns="0" rtlCol="0" anchor="ctr"/>
          <a:lstStyle/>
          <a:p>
            <a:pPr rtl="1" algn="r" indent="0" marL="0">
              <a:buNone/>
            </a:pPr>
            <a:r>
              <a:rPr lang="en-US" sz="1900" dirty="0">
                <a:solidFill>
                  <a:srgbClr val="A2977F"/>
                </a:solidFill>
                <a:latin typeface="Tajawal" pitchFamily="34" charset="0"/>
                <a:ea typeface="Tajawal" pitchFamily="34" charset="-122"/>
                <a:cs typeface="Tajawal" pitchFamily="34" charset="-120"/>
              </a:rPr>
              <a:t>لا خادم، ولا اشتراك، ولا إنترنت بعد أول تحميل</a:t>
            </a:r>
            <a:endParaRPr lang="en-US" sz="1900" dirty="0"/>
          </a:p>
        </p:txBody>
      </p:sp>
      <p:sp>
        <p:nvSpPr>
          <p:cNvPr id="4" name="Shape 2"/>
          <p:cNvSpPr/>
          <p:nvPr/>
        </p:nvSpPr>
        <p:spPr>
          <a:xfrm>
            <a:off x="868680" y="2011680"/>
            <a:ext cx="2148840" cy="3931920"/>
          </a:xfrm>
          <a:prstGeom prst="roundRect">
            <a:avLst>
              <a:gd name="adj" fmla="val 12766"/>
            </a:avLst>
          </a:prstGeom>
          <a:solidFill>
            <a:srgbClr val="151D2C"/>
          </a:solidFill>
          <a:ln w="25400">
            <a:solidFill>
              <a:srgbClr val="C97A4A"/>
            </a:solidFill>
            <a:prstDash val="solid"/>
          </a:ln>
        </p:spPr>
      </p:sp>
      <p:sp>
        <p:nvSpPr>
          <p:cNvPr id="5" name="Text 3"/>
          <p:cNvSpPr/>
          <p:nvPr/>
        </p:nvSpPr>
        <p:spPr>
          <a:xfrm>
            <a:off x="1051560" y="2395728"/>
            <a:ext cx="1783080" cy="566928"/>
          </a:xfrm>
          <a:prstGeom prst="rect">
            <a:avLst/>
          </a:prstGeom>
          <a:noFill/>
          <a:ln/>
        </p:spPr>
        <p:txBody>
          <a:bodyPr wrap="square" lIns="0" tIns="0" rIns="0" bIns="0" rtlCol="0" anchor="ctr"/>
          <a:lstStyle/>
          <a:p>
            <a:pPr rtl="1" algn="ctr" indent="0" marL="0">
              <a:buNone/>
            </a:pPr>
            <a:r>
              <a:rPr lang="en-US" sz="3000" b="1" dirty="0">
                <a:solidFill>
                  <a:srgbClr val="DD8C58"/>
                </a:solidFill>
                <a:latin typeface="Reem Kufi" pitchFamily="34" charset="0"/>
                <a:ea typeface="Reem Kufi" pitchFamily="34" charset="-122"/>
                <a:cs typeface="Reem Kufi" pitchFamily="34" charset="-120"/>
              </a:rPr>
              <a:t>أثر</a:t>
            </a:r>
            <a:endParaRPr lang="en-US" sz="3000" dirty="0"/>
          </a:p>
        </p:txBody>
      </p:sp>
      <p:pic>
        <p:nvPicPr>
          <p:cNvPr id="6" name="Image 0" descr="preencoded.png">    </p:cNvPr>
          <p:cNvPicPr>
            <a:picLocks noChangeAspect="1"/>
          </p:cNvPicPr>
          <p:nvPr/>
        </p:nvPicPr>
        <p:blipFill>
          <a:blip r:embed="rId1"/>
          <a:stretch>
            <a:fillRect/>
          </a:stretch>
        </p:blipFill>
        <p:spPr>
          <a:xfrm>
            <a:off x="1078992" y="3246120"/>
            <a:ext cx="1737360" cy="1106424"/>
          </a:xfrm>
          <a:prstGeom prst="rect">
            <a:avLst/>
          </a:prstGeom>
        </p:spPr>
      </p:pic>
      <p:sp>
        <p:nvSpPr>
          <p:cNvPr id="7" name="Text 4"/>
          <p:cNvSpPr/>
          <p:nvPr/>
        </p:nvSpPr>
        <p:spPr>
          <a:xfrm>
            <a:off x="1051560" y="4709160"/>
            <a:ext cx="1783080" cy="731520"/>
          </a:xfrm>
          <a:prstGeom prst="rect">
            <a:avLst/>
          </a:prstGeom>
          <a:noFill/>
          <a:ln/>
        </p:spPr>
        <p:txBody>
          <a:bodyPr wrap="square" lIns="0" tIns="0" rIns="0" bIns="0" rtlCol="0" anchor="ctr"/>
          <a:lstStyle/>
          <a:p>
            <a:pPr rtl="1" algn="ctr" indent="0" marL="0">
              <a:lnSpc>
                <a:spcPts val="1800"/>
              </a:lnSpc>
              <a:buNone/>
            </a:pPr>
            <a:r>
              <a:rPr lang="en-US" sz="1200" dirty="0">
                <a:solidFill>
                  <a:srgbClr val="A2977F"/>
                </a:solidFill>
                <a:latin typeface="Tajawal" pitchFamily="34" charset="0"/>
                <a:ea typeface="Tajawal" pitchFamily="34" charset="-122"/>
                <a:cs typeface="Tajawal" pitchFamily="34" charset="-120"/>
              </a:rPr>
              <a:t>يعمل والجهاز</a:t>
            </a:r>
            <a:endParaRPr lang="en-US" sz="1200" dirty="0"/>
          </a:p>
          <a:p>
            <a:pPr rtl="1" algn="ctr" indent="0" marL="0">
              <a:lnSpc>
                <a:spcPts val="1800"/>
              </a:lnSpc>
              <a:buNone/>
            </a:pPr>
            <a:r>
              <a:rPr lang="en-US" sz="1200" dirty="0">
                <a:solidFill>
                  <a:srgbClr val="A2977F"/>
                </a:solidFill>
                <a:latin typeface="Tajawal" pitchFamily="34" charset="0"/>
                <a:ea typeface="Tajawal" pitchFamily="34" charset="-122"/>
                <a:cs typeface="Tajawal" pitchFamily="34" charset="-120"/>
              </a:rPr>
              <a:t>في وضع الطيران</a:t>
            </a:r>
            <a:endParaRPr lang="en-US" sz="1200" dirty="0"/>
          </a:p>
        </p:txBody>
      </p:sp>
      <p:sp>
        <p:nvSpPr>
          <p:cNvPr id="8" name="Shape 5"/>
          <p:cNvSpPr/>
          <p:nvPr/>
        </p:nvSpPr>
        <p:spPr>
          <a:xfrm>
            <a:off x="7555687" y="2011680"/>
            <a:ext cx="3950208" cy="1737360"/>
          </a:xfrm>
          <a:prstGeom prst="roundRect">
            <a:avLst>
              <a:gd name="adj" fmla="val 5263"/>
            </a:avLst>
          </a:prstGeom>
          <a:solidFill>
            <a:srgbClr val="151D2C"/>
          </a:solidFill>
          <a:ln w="12700">
            <a:solidFill>
              <a:srgbClr val="232D42"/>
            </a:solidFill>
            <a:prstDash val="solid"/>
          </a:ln>
        </p:spPr>
      </p:sp>
      <p:sp>
        <p:nvSpPr>
          <p:cNvPr id="9" name="Text 6"/>
          <p:cNvSpPr/>
          <p:nvPr/>
        </p:nvSpPr>
        <p:spPr>
          <a:xfrm>
            <a:off x="7555687" y="2267712"/>
            <a:ext cx="3950208" cy="777240"/>
          </a:xfrm>
          <a:prstGeom prst="rect">
            <a:avLst/>
          </a:prstGeom>
          <a:noFill/>
          <a:ln/>
        </p:spPr>
        <p:txBody>
          <a:bodyPr wrap="square" lIns="0" tIns="0" rIns="0" bIns="0" rtlCol="0" anchor="ctr"/>
          <a:lstStyle/>
          <a:p>
            <a:pPr rtl="1" algn="ctr" indent="0" marL="0">
              <a:buNone/>
            </a:pPr>
            <a:r>
              <a:rPr lang="en-US" sz="4000" b="1" dirty="0">
                <a:solidFill>
                  <a:srgbClr val="DD8C58"/>
                </a:solidFill>
                <a:latin typeface="Tajawal" pitchFamily="34" charset="0"/>
                <a:ea typeface="Tajawal" pitchFamily="34" charset="-122"/>
                <a:cs typeface="Tajawal" pitchFamily="34" charset="-120"/>
              </a:rPr>
              <a:t>٢٢</a:t>
            </a:r>
            <a:endParaRPr lang="en-US" sz="4000" dirty="0"/>
          </a:p>
        </p:txBody>
      </p:sp>
      <p:sp>
        <p:nvSpPr>
          <p:cNvPr id="10" name="Text 7"/>
          <p:cNvSpPr/>
          <p:nvPr/>
        </p:nvSpPr>
        <p:spPr>
          <a:xfrm>
            <a:off x="7875727" y="3127248"/>
            <a:ext cx="3310128" cy="411480"/>
          </a:xfrm>
          <a:prstGeom prst="rect">
            <a:avLst/>
          </a:prstGeom>
          <a:noFill/>
          <a:ln/>
        </p:spPr>
        <p:txBody>
          <a:bodyPr wrap="square" lIns="0" tIns="0" rIns="0" bIns="0" rtlCol="0" anchor="ctr"/>
          <a:lstStyle/>
          <a:p>
            <a:pPr rtl="1" algn="ctr" indent="0" marL="0">
              <a:buNone/>
            </a:pPr>
            <a:r>
              <a:rPr lang="en-US" sz="1300" dirty="0">
                <a:solidFill>
                  <a:srgbClr val="A2977F"/>
                </a:solidFill>
                <a:latin typeface="Tajawal" pitchFamily="34" charset="0"/>
                <a:ea typeface="Tajawal" pitchFamily="34" charset="-122"/>
                <a:cs typeface="Tajawal" pitchFamily="34" charset="-120"/>
              </a:rPr>
              <a:t>ميغابايت: حجم النموذج كاملا</a:t>
            </a:r>
            <a:endParaRPr lang="en-US" sz="1300" dirty="0"/>
          </a:p>
        </p:txBody>
      </p:sp>
      <p:sp>
        <p:nvSpPr>
          <p:cNvPr id="11" name="Shape 8"/>
          <p:cNvSpPr/>
          <p:nvPr/>
        </p:nvSpPr>
        <p:spPr>
          <a:xfrm>
            <a:off x="3349447" y="2011680"/>
            <a:ext cx="3950208" cy="1737360"/>
          </a:xfrm>
          <a:prstGeom prst="roundRect">
            <a:avLst>
              <a:gd name="adj" fmla="val 5263"/>
            </a:avLst>
          </a:prstGeom>
          <a:solidFill>
            <a:srgbClr val="151D2C"/>
          </a:solidFill>
          <a:ln w="12700">
            <a:solidFill>
              <a:srgbClr val="232D42"/>
            </a:solidFill>
            <a:prstDash val="solid"/>
          </a:ln>
        </p:spPr>
      </p:sp>
      <p:sp>
        <p:nvSpPr>
          <p:cNvPr id="12" name="Text 9"/>
          <p:cNvSpPr/>
          <p:nvPr/>
        </p:nvSpPr>
        <p:spPr>
          <a:xfrm>
            <a:off x="3349447" y="2267712"/>
            <a:ext cx="3950208" cy="777240"/>
          </a:xfrm>
          <a:prstGeom prst="rect">
            <a:avLst/>
          </a:prstGeom>
          <a:noFill/>
          <a:ln/>
        </p:spPr>
        <p:txBody>
          <a:bodyPr wrap="square" lIns="0" tIns="0" rIns="0" bIns="0" rtlCol="0" anchor="ctr"/>
          <a:lstStyle/>
          <a:p>
            <a:pPr rtl="1" algn="ctr" indent="0" marL="0">
              <a:buNone/>
            </a:pPr>
            <a:r>
              <a:rPr lang="en-US" sz="4000" b="1" dirty="0">
                <a:solidFill>
                  <a:srgbClr val="EFAE6E"/>
                </a:solidFill>
                <a:latin typeface="Tajawal" pitchFamily="34" charset="0"/>
                <a:ea typeface="Tajawal" pitchFamily="34" charset="-122"/>
                <a:cs typeface="Tajawal" pitchFamily="34" charset="-120"/>
              </a:rPr>
              <a:t>١٠٠٪</a:t>
            </a:r>
            <a:endParaRPr lang="en-US" sz="4000" dirty="0"/>
          </a:p>
        </p:txBody>
      </p:sp>
      <p:sp>
        <p:nvSpPr>
          <p:cNvPr id="13" name="Text 10"/>
          <p:cNvSpPr/>
          <p:nvPr/>
        </p:nvSpPr>
        <p:spPr>
          <a:xfrm>
            <a:off x="3669487" y="3127248"/>
            <a:ext cx="3310128" cy="411480"/>
          </a:xfrm>
          <a:prstGeom prst="rect">
            <a:avLst/>
          </a:prstGeom>
          <a:noFill/>
          <a:ln/>
        </p:spPr>
        <p:txBody>
          <a:bodyPr wrap="square" lIns="0" tIns="0" rIns="0" bIns="0" rtlCol="0" anchor="ctr"/>
          <a:lstStyle/>
          <a:p>
            <a:pPr rtl="1" algn="ctr" indent="0" marL="0">
              <a:buNone/>
            </a:pPr>
            <a:r>
              <a:rPr lang="en-US" sz="1300" dirty="0">
                <a:solidFill>
                  <a:srgbClr val="A2977F"/>
                </a:solidFill>
                <a:latin typeface="Tajawal" pitchFamily="34" charset="0"/>
                <a:ea typeface="Tajawal" pitchFamily="34" charset="-122"/>
                <a:cs typeface="Tajawal" pitchFamily="34" charset="-120"/>
              </a:rPr>
              <a:t>يعمل بلا اتصال</a:t>
            </a:r>
            <a:endParaRPr lang="en-US" sz="1300" dirty="0"/>
          </a:p>
        </p:txBody>
      </p:sp>
      <p:sp>
        <p:nvSpPr>
          <p:cNvPr id="14" name="Shape 11"/>
          <p:cNvSpPr/>
          <p:nvPr/>
        </p:nvSpPr>
        <p:spPr>
          <a:xfrm>
            <a:off x="7555687" y="4023360"/>
            <a:ext cx="3950208" cy="1737360"/>
          </a:xfrm>
          <a:prstGeom prst="roundRect">
            <a:avLst>
              <a:gd name="adj" fmla="val 5263"/>
            </a:avLst>
          </a:prstGeom>
          <a:solidFill>
            <a:srgbClr val="151D2C"/>
          </a:solidFill>
          <a:ln w="12700">
            <a:solidFill>
              <a:srgbClr val="232D42"/>
            </a:solidFill>
            <a:prstDash val="solid"/>
          </a:ln>
        </p:spPr>
      </p:sp>
      <p:sp>
        <p:nvSpPr>
          <p:cNvPr id="15" name="Text 12"/>
          <p:cNvSpPr/>
          <p:nvPr/>
        </p:nvSpPr>
        <p:spPr>
          <a:xfrm>
            <a:off x="7555687" y="4279392"/>
            <a:ext cx="3950208" cy="777240"/>
          </a:xfrm>
          <a:prstGeom prst="rect">
            <a:avLst/>
          </a:prstGeom>
          <a:noFill/>
          <a:ln/>
        </p:spPr>
        <p:txBody>
          <a:bodyPr wrap="square" lIns="0" tIns="0" rIns="0" bIns="0" rtlCol="0" anchor="ctr"/>
          <a:lstStyle/>
          <a:p>
            <a:pPr rtl="1" algn="ctr" indent="0" marL="0">
              <a:buNone/>
            </a:pPr>
            <a:r>
              <a:rPr lang="en-US" sz="4000" b="1" dirty="0">
                <a:solidFill>
                  <a:srgbClr val="EFAE6E"/>
                </a:solidFill>
                <a:latin typeface="Tajawal" pitchFamily="34" charset="0"/>
                <a:ea typeface="Tajawal" pitchFamily="34" charset="-122"/>
                <a:cs typeface="Tajawal" pitchFamily="34" charset="-120"/>
              </a:rPr>
              <a:t>صفر</a:t>
            </a:r>
            <a:endParaRPr lang="en-US" sz="4000" dirty="0"/>
          </a:p>
        </p:txBody>
      </p:sp>
      <p:sp>
        <p:nvSpPr>
          <p:cNvPr id="16" name="Text 13"/>
          <p:cNvSpPr/>
          <p:nvPr/>
        </p:nvSpPr>
        <p:spPr>
          <a:xfrm>
            <a:off x="7875727" y="5138928"/>
            <a:ext cx="3310128" cy="411480"/>
          </a:xfrm>
          <a:prstGeom prst="rect">
            <a:avLst/>
          </a:prstGeom>
          <a:noFill/>
          <a:ln/>
        </p:spPr>
        <p:txBody>
          <a:bodyPr wrap="square" lIns="0" tIns="0" rIns="0" bIns="0" rtlCol="0" anchor="ctr"/>
          <a:lstStyle/>
          <a:p>
            <a:pPr rtl="1" algn="ctr" indent="0" marL="0">
              <a:buNone/>
            </a:pPr>
            <a:r>
              <a:rPr lang="en-US" sz="1300" dirty="0">
                <a:solidFill>
                  <a:srgbClr val="A2977F"/>
                </a:solidFill>
                <a:latin typeface="Tajawal" pitchFamily="34" charset="0"/>
                <a:ea typeface="Tajawal" pitchFamily="34" charset="-122"/>
                <a:cs typeface="Tajawal" pitchFamily="34" charset="-120"/>
              </a:rPr>
              <a:t>خوادم نديرها</a:t>
            </a:r>
            <a:endParaRPr lang="en-US" sz="1300" dirty="0"/>
          </a:p>
        </p:txBody>
      </p:sp>
      <p:sp>
        <p:nvSpPr>
          <p:cNvPr id="17" name="Shape 14"/>
          <p:cNvSpPr/>
          <p:nvPr/>
        </p:nvSpPr>
        <p:spPr>
          <a:xfrm>
            <a:off x="3349447" y="4023360"/>
            <a:ext cx="3950208" cy="1737360"/>
          </a:xfrm>
          <a:prstGeom prst="roundRect">
            <a:avLst>
              <a:gd name="adj" fmla="val 5263"/>
            </a:avLst>
          </a:prstGeom>
          <a:solidFill>
            <a:srgbClr val="151D2C"/>
          </a:solidFill>
          <a:ln w="12700">
            <a:solidFill>
              <a:srgbClr val="232D42"/>
            </a:solidFill>
            <a:prstDash val="solid"/>
          </a:ln>
        </p:spPr>
      </p:sp>
      <p:sp>
        <p:nvSpPr>
          <p:cNvPr id="18" name="Text 15"/>
          <p:cNvSpPr/>
          <p:nvPr/>
        </p:nvSpPr>
        <p:spPr>
          <a:xfrm>
            <a:off x="3349447" y="4279392"/>
            <a:ext cx="3950208" cy="777240"/>
          </a:xfrm>
          <a:prstGeom prst="rect">
            <a:avLst/>
          </a:prstGeom>
          <a:noFill/>
          <a:ln/>
        </p:spPr>
        <p:txBody>
          <a:bodyPr wrap="square" lIns="0" tIns="0" rIns="0" bIns="0" rtlCol="0" anchor="ctr"/>
          <a:lstStyle/>
          <a:p>
            <a:pPr rtl="1" algn="ctr" indent="0" marL="0">
              <a:buNone/>
            </a:pPr>
            <a:r>
              <a:rPr lang="en-US" sz="4000" b="1" dirty="0">
                <a:solidFill>
                  <a:srgbClr val="DD8C58"/>
                </a:solidFill>
                <a:latin typeface="Tajawal" pitchFamily="34" charset="0"/>
                <a:ea typeface="Tajawal" pitchFamily="34" charset="-122"/>
                <a:cs typeface="Tajawal" pitchFamily="34" charset="-120"/>
              </a:rPr>
              <a:t>صفر</a:t>
            </a:r>
            <a:endParaRPr lang="en-US" sz="4000" dirty="0"/>
          </a:p>
        </p:txBody>
      </p:sp>
      <p:sp>
        <p:nvSpPr>
          <p:cNvPr id="19" name="Text 16"/>
          <p:cNvSpPr/>
          <p:nvPr/>
        </p:nvSpPr>
        <p:spPr>
          <a:xfrm>
            <a:off x="3669487" y="5138928"/>
            <a:ext cx="3310128" cy="411480"/>
          </a:xfrm>
          <a:prstGeom prst="rect">
            <a:avLst/>
          </a:prstGeom>
          <a:noFill/>
          <a:ln/>
        </p:spPr>
        <p:txBody>
          <a:bodyPr wrap="square" lIns="0" tIns="0" rIns="0" bIns="0" rtlCol="0" anchor="ctr"/>
          <a:lstStyle/>
          <a:p>
            <a:pPr rtl="1" algn="ctr" indent="0" marL="0">
              <a:buNone/>
            </a:pPr>
            <a:r>
              <a:rPr lang="en-US" sz="1300" dirty="0">
                <a:solidFill>
                  <a:srgbClr val="A2977F"/>
                </a:solidFill>
                <a:latin typeface="Tajawal" pitchFamily="34" charset="0"/>
                <a:ea typeface="Tajawal" pitchFamily="34" charset="-122"/>
                <a:cs typeface="Tajawal" pitchFamily="34" charset="-120"/>
              </a:rPr>
              <a:t>تكلفة لكل سائح: واحد أو مليون</a:t>
            </a:r>
            <a:endParaRPr lang="en-US" sz="1300" dirty="0"/>
          </a:p>
        </p:txBody>
      </p:sp>
      <p:sp>
        <p:nvSpPr>
          <p:cNvPr id="20" name="Text 17"/>
          <p:cNvSpPr/>
          <p:nvPr/>
        </p:nvSpPr>
        <p:spPr>
          <a:xfrm>
            <a:off x="685800" y="6080760"/>
            <a:ext cx="10820095" cy="411480"/>
          </a:xfrm>
          <a:prstGeom prst="rect">
            <a:avLst/>
          </a:prstGeom>
          <a:noFill/>
          <a:ln/>
        </p:spPr>
        <p:txBody>
          <a:bodyPr wrap="square" lIns="0" tIns="0" rIns="0" bIns="0" rtlCol="0" anchor="ctr"/>
          <a:lstStyle/>
          <a:p>
            <a:pPr rtl="1" algn="r" indent="0" marL="0">
              <a:buNone/>
            </a:pPr>
            <a:r>
              <a:rPr lang="en-US" sz="1600" i="1" dirty="0">
                <a:solidFill>
                  <a:srgbClr val="EFAE6E"/>
                </a:solidFill>
                <a:latin typeface="Tajawal" pitchFamily="34" charset="0"/>
                <a:ea typeface="Tajawal" pitchFamily="34" charset="-122"/>
                <a:cs typeface="Tajawal" pitchFamily="34" charset="-120"/>
              </a:rPr>
              <a:t>أغلب المشاريع تتوقف إذا انقطعت الشبكة أو انتهى رصيد الخدمة المدفوعة. وهذا يعمل في وسط النفود.</a:t>
            </a:r>
            <a:endParaRPr lang="en-US" sz="1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xmlns:p14="http://schemas.microsoft.com/office/powerpoint/2010/main" spd="slow" p14:dur="90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17"/>
        </a:solidFill>
      </p:bgPr>
    </p:bg>
    <p:spTree>
      <p:nvGrpSpPr>
        <p:cNvPr id="1" name=""/>
        <p:cNvGrpSpPr/>
        <p:nvPr/>
      </p:nvGrpSpPr>
      <p:grpSpPr>
        <a:xfrm>
          <a:off x="0" y="0"/>
          <a:ext cx="0" cy="0"/>
          <a:chOff x="0" y="0"/>
          <a:chExt cx="0" cy="0"/>
        </a:xfrm>
      </p:grpSpPr>
      <p:sp>
        <p:nvSpPr>
          <p:cNvPr id="2" name="!!title"/>
          <p:cNvSpPr/>
          <p:nvPr/>
        </p:nvSpPr>
        <p:spPr>
          <a:xfrm>
            <a:off x="685800" y="502920"/>
            <a:ext cx="10820095" cy="868680"/>
          </a:xfrm>
          <a:prstGeom prst="rect">
            <a:avLst/>
          </a:prstGeom>
          <a:noFill/>
          <a:ln/>
        </p:spPr>
        <p:txBody>
          <a:bodyPr wrap="square" lIns="0" tIns="0" rIns="0" bIns="0" rtlCol="0" anchor="ctr"/>
          <a:lstStyle/>
          <a:p>
            <a:pPr rtl="1" algn="r" indent="0" marL="0">
              <a:buNone/>
            </a:pPr>
            <a:r>
              <a:rPr lang="en-US" sz="3800" b="1" dirty="0">
                <a:solidFill>
                  <a:srgbClr val="E8DCC8"/>
                </a:solidFill>
                <a:latin typeface="Tajawal" pitchFamily="34" charset="0"/>
                <a:ea typeface="Tajawal" pitchFamily="34" charset="-122"/>
                <a:cs typeface="Tajawal" pitchFamily="34" charset="-120"/>
              </a:rPr>
              <a:t>ويتعلّم داخل جهازك</a:t>
            </a:r>
            <a:endParaRPr lang="en-US" sz="3800" dirty="0"/>
          </a:p>
        </p:txBody>
      </p:sp>
      <p:sp>
        <p:nvSpPr>
          <p:cNvPr id="3" name="Text 1"/>
          <p:cNvSpPr/>
          <p:nvPr/>
        </p:nvSpPr>
        <p:spPr>
          <a:xfrm>
            <a:off x="685800" y="1371600"/>
            <a:ext cx="10820095" cy="457200"/>
          </a:xfrm>
          <a:prstGeom prst="rect">
            <a:avLst/>
          </a:prstGeom>
          <a:noFill/>
          <a:ln/>
        </p:spPr>
        <p:txBody>
          <a:bodyPr wrap="square" lIns="0" tIns="0" rIns="0" bIns="0" rtlCol="0" anchor="ctr"/>
          <a:lstStyle/>
          <a:p>
            <a:pPr rtl="1" algn="r" indent="0" marL="0">
              <a:buNone/>
            </a:pPr>
            <a:r>
              <a:rPr lang="en-US" sz="1650" dirty="0">
                <a:solidFill>
                  <a:srgbClr val="A2977F"/>
                </a:solidFill>
                <a:latin typeface="Tajawal" pitchFamily="34" charset="0"/>
                <a:ea typeface="Tajawal" pitchFamily="34" charset="-122"/>
                <a:cs typeface="Tajawal" pitchFamily="34" charset="-120"/>
              </a:rPr>
              <a:t>كل تصحيح من السائح مثال جديد يدخل النموذج، فيتغير قراره فورا.</a:t>
            </a:r>
            <a:endParaRPr lang="en-US" sz="1650" dirty="0"/>
          </a:p>
        </p:txBody>
      </p:sp>
      <p:sp>
        <p:nvSpPr>
          <p:cNvPr id="4" name="Shape 2"/>
          <p:cNvSpPr/>
          <p:nvPr/>
        </p:nvSpPr>
        <p:spPr>
          <a:xfrm>
            <a:off x="8973007" y="2011680"/>
            <a:ext cx="2532888" cy="1463040"/>
          </a:xfrm>
          <a:prstGeom prst="roundRect">
            <a:avLst>
              <a:gd name="adj" fmla="val 6250"/>
            </a:avLst>
          </a:prstGeom>
          <a:solidFill>
            <a:srgbClr val="151D2C"/>
          </a:solidFill>
          <a:ln w="12700">
            <a:solidFill>
              <a:srgbClr val="232D42"/>
            </a:solidFill>
            <a:prstDash val="solid"/>
          </a:ln>
        </p:spPr>
      </p:sp>
      <p:sp>
        <p:nvSpPr>
          <p:cNvPr id="5" name="Text 3"/>
          <p:cNvSpPr/>
          <p:nvPr/>
        </p:nvSpPr>
        <p:spPr>
          <a:xfrm>
            <a:off x="9229039" y="2240280"/>
            <a:ext cx="2020824" cy="411480"/>
          </a:xfrm>
          <a:prstGeom prst="rect">
            <a:avLst/>
          </a:prstGeom>
          <a:noFill/>
          <a:ln/>
        </p:spPr>
        <p:txBody>
          <a:bodyPr wrap="square" lIns="0" tIns="0" rIns="0" bIns="0" rtlCol="0" anchor="ctr"/>
          <a:lstStyle/>
          <a:p>
            <a:pPr rtl="1" algn="r" indent="0" marL="0">
              <a:buNone/>
            </a:pPr>
            <a:r>
              <a:rPr lang="en-US" sz="2000" b="1" dirty="0">
                <a:solidFill>
                  <a:srgbClr val="DD8C58"/>
                </a:solidFill>
                <a:latin typeface="Tajawal" pitchFamily="34" charset="0"/>
                <a:ea typeface="Tajawal" pitchFamily="34" charset="-122"/>
                <a:cs typeface="Tajawal" pitchFamily="34" charset="-120"/>
              </a:rPr>
              <a:t>يمسح</a:t>
            </a:r>
            <a:endParaRPr lang="en-US" sz="2000" dirty="0"/>
          </a:p>
        </p:txBody>
      </p:sp>
      <p:sp>
        <p:nvSpPr>
          <p:cNvPr id="6" name="Text 4"/>
          <p:cNvSpPr/>
          <p:nvPr/>
        </p:nvSpPr>
        <p:spPr>
          <a:xfrm>
            <a:off x="9229039" y="2743200"/>
            <a:ext cx="2020824" cy="548640"/>
          </a:xfrm>
          <a:prstGeom prst="rect">
            <a:avLst/>
          </a:prstGeom>
          <a:noFill/>
          <a:ln/>
        </p:spPr>
        <p:txBody>
          <a:bodyPr wrap="square" lIns="0" tIns="0" rIns="0" bIns="0" rtlCol="0" anchor="ctr"/>
          <a:lstStyle/>
          <a:p>
            <a:pPr rtl="1" algn="r" indent="0" marL="0">
              <a:lnSpc>
                <a:spcPts val="1900"/>
              </a:lnSpc>
              <a:buNone/>
            </a:pPr>
            <a:r>
              <a:rPr lang="en-US" sz="1300" dirty="0">
                <a:solidFill>
                  <a:srgbClr val="A2977F"/>
                </a:solidFill>
                <a:latin typeface="Tajawal" pitchFamily="34" charset="0"/>
                <a:ea typeface="Tajawal" pitchFamily="34" charset="-122"/>
                <a:cs typeface="Tajawal" pitchFamily="34" charset="-120"/>
              </a:rPr>
              <a:t>فيسمي النقش</a:t>
            </a:r>
            <a:endParaRPr lang="en-US" sz="1300" dirty="0"/>
          </a:p>
        </p:txBody>
      </p:sp>
      <p:sp>
        <p:nvSpPr>
          <p:cNvPr id="7" name="Shape 5"/>
          <p:cNvSpPr/>
          <p:nvPr/>
        </p:nvSpPr>
        <p:spPr>
          <a:xfrm>
            <a:off x="6211519" y="2011680"/>
            <a:ext cx="2532888" cy="1463040"/>
          </a:xfrm>
          <a:prstGeom prst="roundRect">
            <a:avLst>
              <a:gd name="adj" fmla="val 6250"/>
            </a:avLst>
          </a:prstGeom>
          <a:solidFill>
            <a:srgbClr val="151D2C"/>
          </a:solidFill>
          <a:ln w="12700">
            <a:solidFill>
              <a:srgbClr val="232D42"/>
            </a:solidFill>
            <a:prstDash val="solid"/>
          </a:ln>
        </p:spPr>
      </p:sp>
      <p:sp>
        <p:nvSpPr>
          <p:cNvPr id="8" name="Text 6"/>
          <p:cNvSpPr/>
          <p:nvPr/>
        </p:nvSpPr>
        <p:spPr>
          <a:xfrm>
            <a:off x="6467551" y="2240280"/>
            <a:ext cx="2020824" cy="411480"/>
          </a:xfrm>
          <a:prstGeom prst="rect">
            <a:avLst/>
          </a:prstGeom>
          <a:noFill/>
          <a:ln/>
        </p:spPr>
        <p:txBody>
          <a:bodyPr wrap="square" lIns="0" tIns="0" rIns="0" bIns="0" rtlCol="0" anchor="ctr"/>
          <a:lstStyle/>
          <a:p>
            <a:pPr rtl="1" algn="r" indent="0" marL="0">
              <a:buNone/>
            </a:pPr>
            <a:r>
              <a:rPr lang="en-US" sz="2000" b="1" dirty="0">
                <a:solidFill>
                  <a:srgbClr val="DD8C58"/>
                </a:solidFill>
                <a:latin typeface="Tajawal" pitchFamily="34" charset="0"/>
                <a:ea typeface="Tajawal" pitchFamily="34" charset="-122"/>
                <a:cs typeface="Tajawal" pitchFamily="34" charset="-120"/>
              </a:rPr>
              <a:t>تصحّح</a:t>
            </a:r>
            <a:endParaRPr lang="en-US" sz="2000" dirty="0"/>
          </a:p>
        </p:txBody>
      </p:sp>
      <p:sp>
        <p:nvSpPr>
          <p:cNvPr id="9" name="Text 7"/>
          <p:cNvSpPr/>
          <p:nvPr/>
        </p:nvSpPr>
        <p:spPr>
          <a:xfrm>
            <a:off x="6467551" y="2743200"/>
            <a:ext cx="2020824" cy="548640"/>
          </a:xfrm>
          <a:prstGeom prst="rect">
            <a:avLst/>
          </a:prstGeom>
          <a:noFill/>
          <a:ln/>
        </p:spPr>
        <p:txBody>
          <a:bodyPr wrap="square" lIns="0" tIns="0" rIns="0" bIns="0" rtlCol="0" anchor="ctr"/>
          <a:lstStyle/>
          <a:p>
            <a:pPr rtl="1" algn="r" indent="0" marL="0">
              <a:lnSpc>
                <a:spcPts val="1900"/>
              </a:lnSpc>
              <a:buNone/>
            </a:pPr>
            <a:r>
              <a:rPr lang="en-US" sz="1300" dirty="0">
                <a:solidFill>
                  <a:srgbClr val="A2977F"/>
                </a:solidFill>
                <a:latin typeface="Tajawal" pitchFamily="34" charset="0"/>
                <a:ea typeface="Tajawal" pitchFamily="34" charset="-122"/>
                <a:cs typeface="Tajawal" pitchFamily="34" charset="-120"/>
              </a:rPr>
              <a:t>تضغط: ليست هذه</a:t>
            </a:r>
            <a:endParaRPr lang="en-US" sz="1300" dirty="0"/>
          </a:p>
        </p:txBody>
      </p:sp>
      <p:sp>
        <p:nvSpPr>
          <p:cNvPr id="10" name="Shape 8"/>
          <p:cNvSpPr/>
          <p:nvPr/>
        </p:nvSpPr>
        <p:spPr>
          <a:xfrm>
            <a:off x="3450031" y="2011680"/>
            <a:ext cx="2532888" cy="1463040"/>
          </a:xfrm>
          <a:prstGeom prst="roundRect">
            <a:avLst>
              <a:gd name="adj" fmla="val 6250"/>
            </a:avLst>
          </a:prstGeom>
          <a:solidFill>
            <a:srgbClr val="151D2C"/>
          </a:solidFill>
          <a:ln w="12700">
            <a:solidFill>
              <a:srgbClr val="232D42"/>
            </a:solidFill>
            <a:prstDash val="solid"/>
          </a:ln>
        </p:spPr>
      </p:sp>
      <p:sp>
        <p:nvSpPr>
          <p:cNvPr id="11" name="Text 9"/>
          <p:cNvSpPr/>
          <p:nvPr/>
        </p:nvSpPr>
        <p:spPr>
          <a:xfrm>
            <a:off x="3706063" y="2240280"/>
            <a:ext cx="2020824" cy="411480"/>
          </a:xfrm>
          <a:prstGeom prst="rect">
            <a:avLst/>
          </a:prstGeom>
          <a:noFill/>
          <a:ln/>
        </p:spPr>
        <p:txBody>
          <a:bodyPr wrap="square" lIns="0" tIns="0" rIns="0" bIns="0" rtlCol="0" anchor="ctr"/>
          <a:lstStyle/>
          <a:p>
            <a:pPr rtl="1" algn="r" indent="0" marL="0">
              <a:buNone/>
            </a:pPr>
            <a:r>
              <a:rPr lang="en-US" sz="2000" b="1" dirty="0">
                <a:solidFill>
                  <a:srgbClr val="DD8C58"/>
                </a:solidFill>
                <a:latin typeface="Tajawal" pitchFamily="34" charset="0"/>
                <a:ea typeface="Tajawal" pitchFamily="34" charset="-122"/>
                <a:cs typeface="Tajawal" pitchFamily="34" charset="-120"/>
              </a:rPr>
              <a:t>يتعلّم</a:t>
            </a:r>
            <a:endParaRPr lang="en-US" sz="2000" dirty="0"/>
          </a:p>
        </p:txBody>
      </p:sp>
      <p:sp>
        <p:nvSpPr>
          <p:cNvPr id="12" name="Text 10"/>
          <p:cNvSpPr/>
          <p:nvPr/>
        </p:nvSpPr>
        <p:spPr>
          <a:xfrm>
            <a:off x="3706063" y="2743200"/>
            <a:ext cx="2020824" cy="548640"/>
          </a:xfrm>
          <a:prstGeom prst="rect">
            <a:avLst/>
          </a:prstGeom>
          <a:noFill/>
          <a:ln/>
        </p:spPr>
        <p:txBody>
          <a:bodyPr wrap="square" lIns="0" tIns="0" rIns="0" bIns="0" rtlCol="0" anchor="ctr"/>
          <a:lstStyle/>
          <a:p>
            <a:pPr rtl="1" algn="r" indent="0" marL="0">
              <a:lnSpc>
                <a:spcPts val="1900"/>
              </a:lnSpc>
              <a:buNone/>
            </a:pPr>
            <a:r>
              <a:rPr lang="en-US" sz="1300" dirty="0">
                <a:solidFill>
                  <a:srgbClr val="A2977F"/>
                </a:solidFill>
                <a:latin typeface="Tajawal" pitchFamily="34" charset="0"/>
                <a:ea typeface="Tajawal" pitchFamily="34" charset="-122"/>
                <a:cs typeface="Tajawal" pitchFamily="34" charset="-120"/>
              </a:rPr>
              <a:t>يبقى في جوالك</a:t>
            </a:r>
            <a:endParaRPr lang="en-US" sz="1300" dirty="0"/>
          </a:p>
        </p:txBody>
      </p:sp>
      <p:sp>
        <p:nvSpPr>
          <p:cNvPr id="13" name="Shape 11"/>
          <p:cNvSpPr/>
          <p:nvPr/>
        </p:nvSpPr>
        <p:spPr>
          <a:xfrm>
            <a:off x="688543" y="2011680"/>
            <a:ext cx="2532888" cy="1463040"/>
          </a:xfrm>
          <a:prstGeom prst="roundRect">
            <a:avLst>
              <a:gd name="adj" fmla="val 6250"/>
            </a:avLst>
          </a:prstGeom>
          <a:solidFill>
            <a:srgbClr val="151D2C"/>
          </a:solidFill>
          <a:ln w="12700">
            <a:solidFill>
              <a:srgbClr val="232D42"/>
            </a:solidFill>
            <a:prstDash val="solid"/>
          </a:ln>
        </p:spPr>
      </p:sp>
      <p:sp>
        <p:nvSpPr>
          <p:cNvPr id="14" name="Text 12"/>
          <p:cNvSpPr/>
          <p:nvPr/>
        </p:nvSpPr>
        <p:spPr>
          <a:xfrm>
            <a:off x="944575" y="2240280"/>
            <a:ext cx="2020824" cy="411480"/>
          </a:xfrm>
          <a:prstGeom prst="rect">
            <a:avLst/>
          </a:prstGeom>
          <a:noFill/>
          <a:ln/>
        </p:spPr>
        <p:txBody>
          <a:bodyPr wrap="square" lIns="0" tIns="0" rIns="0" bIns="0" rtlCol="0" anchor="ctr"/>
          <a:lstStyle/>
          <a:p>
            <a:pPr rtl="1" algn="r" indent="0" marL="0">
              <a:buNone/>
            </a:pPr>
            <a:r>
              <a:rPr lang="en-US" sz="2000" b="1" dirty="0">
                <a:solidFill>
                  <a:srgbClr val="DD8C58"/>
                </a:solidFill>
                <a:latin typeface="Tajawal" pitchFamily="34" charset="0"/>
                <a:ea typeface="Tajawal" pitchFamily="34" charset="-122"/>
                <a:cs typeface="Tajawal" pitchFamily="34" charset="-120"/>
              </a:rPr>
              <a:t>يصيب</a:t>
            </a:r>
            <a:endParaRPr lang="en-US" sz="2000" dirty="0"/>
          </a:p>
        </p:txBody>
      </p:sp>
      <p:sp>
        <p:nvSpPr>
          <p:cNvPr id="15" name="Text 13"/>
          <p:cNvSpPr/>
          <p:nvPr/>
        </p:nvSpPr>
        <p:spPr>
          <a:xfrm>
            <a:off x="944575" y="2743200"/>
            <a:ext cx="2020824" cy="548640"/>
          </a:xfrm>
          <a:prstGeom prst="rect">
            <a:avLst/>
          </a:prstGeom>
          <a:noFill/>
          <a:ln/>
        </p:spPr>
        <p:txBody>
          <a:bodyPr wrap="square" lIns="0" tIns="0" rIns="0" bIns="0" rtlCol="0" anchor="ctr"/>
          <a:lstStyle/>
          <a:p>
            <a:pPr rtl="1" algn="r" indent="0" marL="0">
              <a:lnSpc>
                <a:spcPts val="1900"/>
              </a:lnSpc>
              <a:buNone/>
            </a:pPr>
            <a:r>
              <a:rPr lang="en-US" sz="1300" dirty="0">
                <a:solidFill>
                  <a:srgbClr val="A2977F"/>
                </a:solidFill>
                <a:latin typeface="Tajawal" pitchFamily="34" charset="0"/>
                <a:ea typeface="Tajawal" pitchFamily="34" charset="-122"/>
                <a:cs typeface="Tajawal" pitchFamily="34" charset="-120"/>
              </a:rPr>
              <a:t>في المسح التالي</a:t>
            </a:r>
            <a:endParaRPr lang="en-US" sz="1300" dirty="0"/>
          </a:p>
        </p:txBody>
      </p:sp>
      <p:sp>
        <p:nvSpPr>
          <p:cNvPr id="16" name="Shape 14"/>
          <p:cNvSpPr/>
          <p:nvPr/>
        </p:nvSpPr>
        <p:spPr>
          <a:xfrm>
            <a:off x="6355080" y="3749040"/>
            <a:ext cx="5166360" cy="2103120"/>
          </a:xfrm>
          <a:prstGeom prst="roundRect">
            <a:avLst>
              <a:gd name="adj" fmla="val 4348"/>
            </a:avLst>
          </a:prstGeom>
          <a:solidFill>
            <a:srgbClr val="151D2C"/>
          </a:solidFill>
          <a:ln w="12700">
            <a:solidFill>
              <a:srgbClr val="232D42"/>
            </a:solidFill>
            <a:prstDash val="solid"/>
          </a:ln>
        </p:spPr>
      </p:sp>
      <p:sp>
        <p:nvSpPr>
          <p:cNvPr id="17" name="Text 15"/>
          <p:cNvSpPr/>
          <p:nvPr/>
        </p:nvSpPr>
        <p:spPr>
          <a:xfrm>
            <a:off x="6675120" y="3977640"/>
            <a:ext cx="4526280" cy="411480"/>
          </a:xfrm>
          <a:prstGeom prst="rect">
            <a:avLst/>
          </a:prstGeom>
          <a:noFill/>
          <a:ln/>
        </p:spPr>
        <p:txBody>
          <a:bodyPr wrap="square" lIns="0" tIns="0" rIns="0" bIns="0" rtlCol="0" anchor="ctr"/>
          <a:lstStyle/>
          <a:p>
            <a:pPr rtl="1" algn="r" indent="0" marL="0">
              <a:buNone/>
            </a:pPr>
            <a:r>
              <a:rPr lang="en-US" sz="1900" b="1" dirty="0">
                <a:solidFill>
                  <a:srgbClr val="E8DCC8"/>
                </a:solidFill>
                <a:latin typeface="Tajawal" pitchFamily="34" charset="0"/>
                <a:ea typeface="Tajawal" pitchFamily="34" charset="-122"/>
                <a:cs typeface="Tajawal" pitchFamily="34" charset="-120"/>
              </a:rPr>
              <a:t>لماذا يهم هذا</a:t>
            </a:r>
            <a:endParaRPr lang="en-US" sz="1900" dirty="0"/>
          </a:p>
        </p:txBody>
      </p:sp>
      <p:sp>
        <p:nvSpPr>
          <p:cNvPr id="18" name="Text 16"/>
          <p:cNvSpPr/>
          <p:nvPr/>
        </p:nvSpPr>
        <p:spPr>
          <a:xfrm>
            <a:off x="6675120" y="4480560"/>
            <a:ext cx="4526280" cy="1234440"/>
          </a:xfrm>
          <a:prstGeom prst="rect">
            <a:avLst/>
          </a:prstGeom>
          <a:noFill/>
          <a:ln/>
        </p:spPr>
        <p:txBody>
          <a:bodyPr wrap="square" lIns="0" tIns="0" rIns="0" bIns="0" rtlCol="0" anchor="ctr"/>
          <a:lstStyle/>
          <a:p>
            <a:pPr rtl="1" algn="r" indent="0" marL="0">
              <a:lnSpc>
                <a:spcPts val="2300"/>
              </a:lnSpc>
              <a:buNone/>
            </a:pPr>
            <a:r>
              <a:rPr lang="en-US" sz="1400" dirty="0">
                <a:solidFill>
                  <a:srgbClr val="A2977F"/>
                </a:solidFill>
                <a:latin typeface="Tajawal" pitchFamily="34" charset="0"/>
                <a:ea typeface="Tajawal" pitchFamily="34" charset="-122"/>
                <a:cs typeface="Tajawal" pitchFamily="34" charset="-120"/>
              </a:rPr>
              <a:t>كل صورنا المرجعية من زيارة واحدة: يوم واحد، وجوال واحد، وإضاءة واحدة. وتصحيح السائح صورة من يوم آخر وجهاز آخر، وهذا بالضبط ما ينقص الفهرس.</a:t>
            </a:r>
            <a:endParaRPr lang="en-US" sz="1400" dirty="0"/>
          </a:p>
        </p:txBody>
      </p:sp>
      <p:sp>
        <p:nvSpPr>
          <p:cNvPr id="19" name="Shape 17"/>
          <p:cNvSpPr/>
          <p:nvPr/>
        </p:nvSpPr>
        <p:spPr>
          <a:xfrm>
            <a:off x="685800" y="3749040"/>
            <a:ext cx="5166360" cy="2103120"/>
          </a:xfrm>
          <a:prstGeom prst="roundRect">
            <a:avLst>
              <a:gd name="adj" fmla="val 4348"/>
            </a:avLst>
          </a:prstGeom>
          <a:solidFill>
            <a:srgbClr val="232D42"/>
          </a:solidFill>
          <a:ln w="12700">
            <a:solidFill>
              <a:srgbClr val="232D42"/>
            </a:solidFill>
            <a:prstDash val="solid"/>
          </a:ln>
        </p:spPr>
      </p:sp>
      <p:sp>
        <p:nvSpPr>
          <p:cNvPr id="20" name="Text 18"/>
          <p:cNvSpPr/>
          <p:nvPr/>
        </p:nvSpPr>
        <p:spPr>
          <a:xfrm>
            <a:off x="1005840" y="3977640"/>
            <a:ext cx="4526280" cy="411480"/>
          </a:xfrm>
          <a:prstGeom prst="rect">
            <a:avLst/>
          </a:prstGeom>
          <a:noFill/>
          <a:ln/>
        </p:spPr>
        <p:txBody>
          <a:bodyPr wrap="square" lIns="0" tIns="0" rIns="0" bIns="0" rtlCol="0" anchor="ctr"/>
          <a:lstStyle/>
          <a:p>
            <a:pPr rtl="1" algn="r" indent="0" marL="0">
              <a:buNone/>
            </a:pPr>
            <a:r>
              <a:rPr lang="en-US" sz="1900" b="1" dirty="0">
                <a:solidFill>
                  <a:srgbClr val="EFAE6E"/>
                </a:solidFill>
                <a:latin typeface="Tajawal" pitchFamily="34" charset="0"/>
                <a:ea typeface="Tajawal" pitchFamily="34" charset="-122"/>
                <a:cs typeface="Tajawal" pitchFamily="34" charset="-120"/>
              </a:rPr>
              <a:t>ويتعلّم ما ليس نقشا</a:t>
            </a:r>
            <a:endParaRPr lang="en-US" sz="1900" dirty="0"/>
          </a:p>
        </p:txBody>
      </p:sp>
      <p:sp>
        <p:nvSpPr>
          <p:cNvPr id="21" name="Text 19"/>
          <p:cNvSpPr/>
          <p:nvPr/>
        </p:nvSpPr>
        <p:spPr>
          <a:xfrm>
            <a:off x="1005840" y="4480560"/>
            <a:ext cx="4526280" cy="1234440"/>
          </a:xfrm>
          <a:prstGeom prst="rect">
            <a:avLst/>
          </a:prstGeom>
          <a:noFill/>
          <a:ln/>
        </p:spPr>
        <p:txBody>
          <a:bodyPr wrap="square" lIns="0" tIns="0" rIns="0" bIns="0" rtlCol="0" anchor="ctr"/>
          <a:lstStyle/>
          <a:p>
            <a:pPr rtl="1" algn="r" indent="0" marL="0">
              <a:lnSpc>
                <a:spcPts val="2300"/>
              </a:lnSpc>
              <a:buNone/>
            </a:pPr>
            <a:r>
              <a:rPr lang="en-US" sz="1400" dirty="0">
                <a:solidFill>
                  <a:srgbClr val="A2977F"/>
                </a:solidFill>
                <a:latin typeface="Tajawal" pitchFamily="34" charset="0"/>
                <a:ea typeface="Tajawal" pitchFamily="34" charset="-122"/>
                <a:cs typeface="Tajawal" pitchFamily="34" charset="-120"/>
              </a:rPr>
              <a:t>صوّب الكاميرا على حاسوبك واضغط: ليست نقشا. فيصير الرفض جوابا تعلّمه منك، لا مجرد فشل في المطابقة.</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xmlns:p14="http://schemas.microsoft.com/office/powerpoint/2010/main" spd="slow" p14:dur="90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F17"/>
        </a:solidFill>
      </p:bgPr>
    </p:bg>
    <p:spTree>
      <p:nvGrpSpPr>
        <p:cNvPr id="1" name=""/>
        <p:cNvGrpSpPr/>
        <p:nvPr/>
      </p:nvGrpSpPr>
      <p:grpSpPr>
        <a:xfrm>
          <a:off x="0" y="0"/>
          <a:ext cx="0" cy="0"/>
          <a:chOff x="0" y="0"/>
          <a:chExt cx="0" cy="0"/>
        </a:xfrm>
      </p:grpSpPr>
      <p:sp>
        <p:nvSpPr>
          <p:cNvPr id="2" name="!!title"/>
          <p:cNvSpPr/>
          <p:nvPr/>
        </p:nvSpPr>
        <p:spPr>
          <a:xfrm>
            <a:off x="685800" y="502920"/>
            <a:ext cx="10820095" cy="868680"/>
          </a:xfrm>
          <a:prstGeom prst="rect">
            <a:avLst/>
          </a:prstGeom>
          <a:noFill/>
          <a:ln/>
        </p:spPr>
        <p:txBody>
          <a:bodyPr wrap="square" lIns="0" tIns="0" rIns="0" bIns="0" rtlCol="0" anchor="ctr"/>
          <a:lstStyle/>
          <a:p>
            <a:pPr rtl="1" algn="r" indent="0" marL="0">
              <a:buNone/>
            </a:pPr>
            <a:r>
              <a:rPr lang="en-US" sz="3800" b="1" dirty="0">
                <a:solidFill>
                  <a:srgbClr val="E8DCC8"/>
                </a:solidFill>
                <a:latin typeface="Tajawal" pitchFamily="34" charset="0"/>
                <a:ea typeface="Tajawal" pitchFamily="34" charset="-122"/>
                <a:cs typeface="Tajawal" pitchFamily="34" charset="-120"/>
              </a:rPr>
              <a:t>كيف بنينا أثر</a:t>
            </a:r>
            <a:endParaRPr lang="en-US" sz="3800" dirty="0"/>
          </a:p>
        </p:txBody>
      </p:sp>
      <p:sp>
        <p:nvSpPr>
          <p:cNvPr id="3" name="Text 1"/>
          <p:cNvSpPr/>
          <p:nvPr/>
        </p:nvSpPr>
        <p:spPr>
          <a:xfrm>
            <a:off x="685800" y="1371600"/>
            <a:ext cx="10820095" cy="457200"/>
          </a:xfrm>
          <a:prstGeom prst="rect">
            <a:avLst/>
          </a:prstGeom>
          <a:noFill/>
          <a:ln/>
        </p:spPr>
        <p:txBody>
          <a:bodyPr wrap="square" lIns="0" tIns="0" rIns="0" bIns="0" rtlCol="0" anchor="ctr"/>
          <a:lstStyle/>
          <a:p>
            <a:pPr rtl="1" algn="r" indent="0" marL="0">
              <a:buNone/>
            </a:pPr>
            <a:r>
              <a:rPr lang="en-US" sz="1800" dirty="0">
                <a:solidFill>
                  <a:srgbClr val="A2977F"/>
                </a:solidFill>
                <a:latin typeface="Tajawal" pitchFamily="34" charset="0"/>
                <a:ea typeface="Tajawal" pitchFamily="34" charset="-122"/>
                <a:cs typeface="Tajawal" pitchFamily="34" charset="-120"/>
              </a:rPr>
              <a:t>من زيارة ميدانية إلى تطبيق يعمل في يد السائح</a:t>
            </a:r>
            <a:endParaRPr lang="en-US" sz="1800" dirty="0"/>
          </a:p>
        </p:txBody>
      </p:sp>
      <p:sp>
        <p:nvSpPr>
          <p:cNvPr id="4" name="Shape 2"/>
          <p:cNvSpPr/>
          <p:nvPr/>
        </p:nvSpPr>
        <p:spPr>
          <a:xfrm>
            <a:off x="621792" y="1993392"/>
            <a:ext cx="3419856" cy="2596896"/>
          </a:xfrm>
          <a:prstGeom prst="roundRect">
            <a:avLst>
              <a:gd name="adj" fmla="val 4225"/>
            </a:avLst>
          </a:prstGeom>
          <a:solidFill>
            <a:srgbClr val="2A3244"/>
          </a:solidFill>
          <a:ln w="12700">
            <a:solidFill>
              <a:srgbClr val="333333"/>
            </a:solidFill>
            <a:prstDash val="solid"/>
          </a:ln>
          <a:effectLst>
            <a:outerShdw sx="100000" sy="100000" kx="0" ky="0" algn="bl" rotWithShape="0" blurRad="279400" dist="76200" dir="5400000">
              <a:srgbClr val="000000">
                <a:alpha val="60000"/>
              </a:srgbClr>
            </a:outerShdw>
          </a:effectLst>
        </p:spPr>
      </p:sp>
      <p:pic>
        <p:nvPicPr>
          <p:cNvPr id="5" name="Image 0" descr="preencoded.png">    </p:cNvPr>
          <p:cNvPicPr>
            <a:picLocks noChangeAspect="1"/>
          </p:cNvPicPr>
          <p:nvPr/>
        </p:nvPicPr>
        <p:blipFill>
          <a:blip r:embed="rId1"/>
          <a:stretch>
            <a:fillRect/>
          </a:stretch>
        </p:blipFill>
        <p:spPr>
          <a:xfrm>
            <a:off x="685800" y="2057400"/>
            <a:ext cx="3291840" cy="2468880"/>
          </a:xfrm>
          <a:prstGeom prst="rect">
            <a:avLst/>
          </a:prstGeom>
        </p:spPr>
      </p:pic>
      <p:sp>
        <p:nvSpPr>
          <p:cNvPr id="6" name="Text 3"/>
          <p:cNvSpPr/>
          <p:nvPr/>
        </p:nvSpPr>
        <p:spPr>
          <a:xfrm>
            <a:off x="685800" y="4709160"/>
            <a:ext cx="3291840" cy="365760"/>
          </a:xfrm>
          <a:prstGeom prst="rect">
            <a:avLst/>
          </a:prstGeom>
          <a:noFill/>
          <a:ln/>
        </p:spPr>
        <p:txBody>
          <a:bodyPr wrap="square" lIns="0" tIns="0" rIns="0" bIns="0" rtlCol="0" anchor="ctr"/>
          <a:lstStyle/>
          <a:p>
            <a:pPr rtl="1" algn="ctr" indent="0" marL="0">
              <a:buNone/>
            </a:pPr>
            <a:r>
              <a:rPr lang="en-US" sz="1200" dirty="0">
                <a:solidFill>
                  <a:srgbClr val="6E6757"/>
                </a:solidFill>
                <a:latin typeface="Tajawal" pitchFamily="34" charset="0"/>
                <a:ea typeface="Tajawal" pitchFamily="34" charset="-122"/>
                <a:cs typeface="Tajawal" pitchFamily="34" charset="-120"/>
              </a:rPr>
              <a:t>جبة: من هنا جاءت كل صورة في الفهرس</a:t>
            </a:r>
            <a:endParaRPr lang="en-US" sz="1200" dirty="0"/>
          </a:p>
        </p:txBody>
      </p:sp>
      <p:sp>
        <p:nvSpPr>
          <p:cNvPr id="7" name="Text 4"/>
          <p:cNvSpPr/>
          <p:nvPr/>
        </p:nvSpPr>
        <p:spPr>
          <a:xfrm>
            <a:off x="3063240" y="5166360"/>
            <a:ext cx="914400" cy="329184"/>
          </a:xfrm>
          <a:prstGeom prst="rect">
            <a:avLst/>
          </a:prstGeom>
          <a:noFill/>
          <a:ln/>
        </p:spPr>
        <p:txBody>
          <a:bodyPr wrap="square" lIns="0" tIns="0" rIns="0" bIns="0" rtlCol="0" anchor="ctr"/>
          <a:lstStyle/>
          <a:p>
            <a:pPr rtl="1" algn="r" indent="0" marL="0">
              <a:buNone/>
            </a:pPr>
            <a:r>
              <a:rPr lang="en-US" sz="1600" b="1" dirty="0">
                <a:solidFill>
                  <a:srgbClr val="DD8C58"/>
                </a:solidFill>
                <a:latin typeface="Tajawal" pitchFamily="34" charset="0"/>
                <a:ea typeface="Tajawal" pitchFamily="34" charset="-122"/>
                <a:cs typeface="Tajawal" pitchFamily="34" charset="-120"/>
              </a:rPr>
              <a:t>٢٠١</a:t>
            </a:r>
            <a:endParaRPr lang="en-US" sz="1600" dirty="0"/>
          </a:p>
        </p:txBody>
      </p:sp>
      <p:sp>
        <p:nvSpPr>
          <p:cNvPr id="8" name="Text 5"/>
          <p:cNvSpPr/>
          <p:nvPr/>
        </p:nvSpPr>
        <p:spPr>
          <a:xfrm>
            <a:off x="685800" y="5193792"/>
            <a:ext cx="2286000" cy="292608"/>
          </a:xfrm>
          <a:prstGeom prst="rect">
            <a:avLst/>
          </a:prstGeom>
          <a:noFill/>
          <a:ln/>
        </p:spPr>
        <p:txBody>
          <a:bodyPr wrap="square" lIns="0" tIns="0" rIns="0" bIns="0" rtlCol="0" anchor="ctr"/>
          <a:lstStyle/>
          <a:p>
            <a:pPr rtl="1" algn="r" indent="0" marL="0">
              <a:buNone/>
            </a:pPr>
            <a:r>
              <a:rPr lang="en-US" sz="1250" dirty="0">
                <a:solidFill>
                  <a:srgbClr val="A2977F"/>
                </a:solidFill>
                <a:latin typeface="Tajawal" pitchFamily="34" charset="0"/>
                <a:ea typeface="Tajawal" pitchFamily="34" charset="-122"/>
                <a:cs typeface="Tajawal" pitchFamily="34" charset="-120"/>
              </a:rPr>
              <a:t>صورة مرجعية من الموقع</a:t>
            </a:r>
            <a:endParaRPr lang="en-US" sz="1250" dirty="0"/>
          </a:p>
        </p:txBody>
      </p:sp>
      <p:sp>
        <p:nvSpPr>
          <p:cNvPr id="9" name="Text 6"/>
          <p:cNvSpPr/>
          <p:nvPr/>
        </p:nvSpPr>
        <p:spPr>
          <a:xfrm>
            <a:off x="3063240" y="5550408"/>
            <a:ext cx="914400" cy="329184"/>
          </a:xfrm>
          <a:prstGeom prst="rect">
            <a:avLst/>
          </a:prstGeom>
          <a:noFill/>
          <a:ln/>
        </p:spPr>
        <p:txBody>
          <a:bodyPr wrap="square" lIns="0" tIns="0" rIns="0" bIns="0" rtlCol="0" anchor="ctr"/>
          <a:lstStyle/>
          <a:p>
            <a:pPr rtl="1" algn="r" indent="0" marL="0">
              <a:buNone/>
            </a:pPr>
            <a:r>
              <a:rPr lang="en-US" sz="1600" b="1" dirty="0">
                <a:solidFill>
                  <a:srgbClr val="DD8C58"/>
                </a:solidFill>
                <a:latin typeface="Tajawal" pitchFamily="34" charset="0"/>
                <a:ea typeface="Tajawal" pitchFamily="34" charset="-122"/>
                <a:cs typeface="Tajawal" pitchFamily="34" charset="-120"/>
              </a:rPr>
              <a:t>٦٥٨</a:t>
            </a:r>
            <a:endParaRPr lang="en-US" sz="1600" dirty="0"/>
          </a:p>
        </p:txBody>
      </p:sp>
      <p:sp>
        <p:nvSpPr>
          <p:cNvPr id="10" name="Text 7"/>
          <p:cNvSpPr/>
          <p:nvPr/>
        </p:nvSpPr>
        <p:spPr>
          <a:xfrm>
            <a:off x="685800" y="5577840"/>
            <a:ext cx="2286000" cy="292608"/>
          </a:xfrm>
          <a:prstGeom prst="rect">
            <a:avLst/>
          </a:prstGeom>
          <a:noFill/>
          <a:ln/>
        </p:spPr>
        <p:txBody>
          <a:bodyPr wrap="square" lIns="0" tIns="0" rIns="0" bIns="0" rtlCol="0" anchor="ctr"/>
          <a:lstStyle/>
          <a:p>
            <a:pPr rtl="1" algn="r" indent="0" marL="0">
              <a:buNone/>
            </a:pPr>
            <a:r>
              <a:rPr lang="en-US" sz="1250" dirty="0">
                <a:solidFill>
                  <a:srgbClr val="A2977F"/>
                </a:solidFill>
                <a:latin typeface="Tajawal" pitchFamily="34" charset="0"/>
                <a:ea typeface="Tajawal" pitchFamily="34" charset="-122"/>
                <a:cs typeface="Tajawal" pitchFamily="34" charset="-120"/>
              </a:rPr>
              <a:t>اختبارا آليا يعمل مع كل تعديل</a:t>
            </a:r>
            <a:endParaRPr lang="en-US" sz="1250" dirty="0"/>
          </a:p>
        </p:txBody>
      </p:sp>
      <p:sp>
        <p:nvSpPr>
          <p:cNvPr id="11" name="Text 8"/>
          <p:cNvSpPr/>
          <p:nvPr/>
        </p:nvSpPr>
        <p:spPr>
          <a:xfrm>
            <a:off x="3063240" y="5934456"/>
            <a:ext cx="914400" cy="329184"/>
          </a:xfrm>
          <a:prstGeom prst="rect">
            <a:avLst/>
          </a:prstGeom>
          <a:noFill/>
          <a:ln/>
        </p:spPr>
        <p:txBody>
          <a:bodyPr wrap="square" lIns="0" tIns="0" rIns="0" bIns="0" rtlCol="0" anchor="ctr"/>
          <a:lstStyle/>
          <a:p>
            <a:pPr rtl="1" algn="r" indent="0" marL="0">
              <a:buNone/>
            </a:pPr>
            <a:r>
              <a:rPr lang="en-US" sz="1600" b="1" dirty="0">
                <a:solidFill>
                  <a:srgbClr val="DD8C58"/>
                </a:solidFill>
                <a:latin typeface="Tajawal" pitchFamily="34" charset="0"/>
                <a:ea typeface="Tajawal" pitchFamily="34" charset="-122"/>
                <a:cs typeface="Tajawal" pitchFamily="34" charset="-120"/>
              </a:rPr>
              <a:t>٢٩</a:t>
            </a:r>
            <a:endParaRPr lang="en-US" sz="1600" dirty="0"/>
          </a:p>
        </p:txBody>
      </p:sp>
      <p:sp>
        <p:nvSpPr>
          <p:cNvPr id="12" name="Text 9"/>
          <p:cNvSpPr/>
          <p:nvPr/>
        </p:nvSpPr>
        <p:spPr>
          <a:xfrm>
            <a:off x="685800" y="5961888"/>
            <a:ext cx="2286000" cy="292608"/>
          </a:xfrm>
          <a:prstGeom prst="rect">
            <a:avLst/>
          </a:prstGeom>
          <a:noFill/>
          <a:ln/>
        </p:spPr>
        <p:txBody>
          <a:bodyPr wrap="square" lIns="0" tIns="0" rIns="0" bIns="0" rtlCol="0" anchor="ctr"/>
          <a:lstStyle/>
          <a:p>
            <a:pPr rtl="1" algn="r" indent="0" marL="0">
              <a:buNone/>
            </a:pPr>
            <a:r>
              <a:rPr lang="en-US" sz="1250" dirty="0">
                <a:solidFill>
                  <a:srgbClr val="A2977F"/>
                </a:solidFill>
                <a:latin typeface="Tajawal" pitchFamily="34" charset="0"/>
                <a:ea typeface="Tajawal" pitchFamily="34" charset="-122"/>
                <a:cs typeface="Tajawal" pitchFamily="34" charset="-120"/>
              </a:rPr>
              <a:t>لغة، ولكل لغة صوتها</a:t>
            </a:r>
            <a:endParaRPr lang="en-US" sz="1250" dirty="0"/>
          </a:p>
        </p:txBody>
      </p:sp>
      <p:sp>
        <p:nvSpPr>
          <p:cNvPr id="13" name="Shape 10"/>
          <p:cNvSpPr/>
          <p:nvPr/>
        </p:nvSpPr>
        <p:spPr>
          <a:xfrm>
            <a:off x="4343400" y="2057400"/>
            <a:ext cx="7159752" cy="685800"/>
          </a:xfrm>
          <a:prstGeom prst="roundRect">
            <a:avLst>
              <a:gd name="adj" fmla="val 13333"/>
            </a:avLst>
          </a:prstGeom>
          <a:solidFill>
            <a:srgbClr val="151D2C"/>
          </a:solidFill>
          <a:ln w="12700">
            <a:solidFill>
              <a:srgbClr val="232D42"/>
            </a:solidFill>
            <a:prstDash val="solid"/>
          </a:ln>
        </p:spPr>
      </p:sp>
      <p:sp>
        <p:nvSpPr>
          <p:cNvPr id="14" name="Text 11"/>
          <p:cNvSpPr/>
          <p:nvPr/>
        </p:nvSpPr>
        <p:spPr>
          <a:xfrm>
            <a:off x="9464040" y="2231136"/>
            <a:ext cx="1874520" cy="338328"/>
          </a:xfrm>
          <a:prstGeom prst="rect">
            <a:avLst/>
          </a:prstGeom>
          <a:noFill/>
          <a:ln/>
        </p:spPr>
        <p:txBody>
          <a:bodyPr wrap="square" lIns="0" tIns="0" rIns="0" bIns="0" rtlCol="0" anchor="ctr"/>
          <a:lstStyle/>
          <a:p>
            <a:pPr rtl="1" algn="r" indent="0" marL="0">
              <a:buNone/>
            </a:pPr>
            <a:r>
              <a:rPr lang="en-US" sz="1600" b="1" dirty="0">
                <a:solidFill>
                  <a:srgbClr val="DD8C58"/>
                </a:solidFill>
                <a:latin typeface="Tajawal" pitchFamily="34" charset="0"/>
                <a:ea typeface="Tajawal" pitchFamily="34" charset="-122"/>
                <a:cs typeface="Tajawal" pitchFamily="34" charset="-120"/>
              </a:rPr>
              <a:t>الميدان</a:t>
            </a:r>
            <a:endParaRPr lang="en-US" sz="1600" dirty="0"/>
          </a:p>
        </p:txBody>
      </p:sp>
      <p:sp>
        <p:nvSpPr>
          <p:cNvPr id="15" name="Text 12"/>
          <p:cNvSpPr/>
          <p:nvPr/>
        </p:nvSpPr>
        <p:spPr>
          <a:xfrm>
            <a:off x="4553712" y="2249424"/>
            <a:ext cx="4709160" cy="310896"/>
          </a:xfrm>
          <a:prstGeom prst="rect">
            <a:avLst/>
          </a:prstGeom>
          <a:noFill/>
          <a:ln/>
        </p:spPr>
        <p:txBody>
          <a:bodyPr wrap="square" lIns="0" tIns="0" rIns="0" bIns="0" rtlCol="0" anchor="ctr"/>
          <a:lstStyle/>
          <a:p>
            <a:pPr rtl="1" algn="r" indent="0" marL="0">
              <a:buNone/>
            </a:pPr>
            <a:r>
              <a:rPr lang="en-US" sz="1250" dirty="0">
                <a:solidFill>
                  <a:srgbClr val="A2977F"/>
                </a:solidFill>
                <a:latin typeface="Tajawal" pitchFamily="34" charset="0"/>
                <a:ea typeface="Tajawal" pitchFamily="34" charset="-122"/>
                <a:cs typeface="Tajawal" pitchFamily="34" charset="-120"/>
              </a:rPr>
              <a:t>زرنا جبة، وصوّرنا نقوشها، وكتبنا قصصها.</a:t>
            </a:r>
            <a:endParaRPr lang="en-US" sz="1250" dirty="0"/>
          </a:p>
        </p:txBody>
      </p:sp>
      <p:sp>
        <p:nvSpPr>
          <p:cNvPr id="16" name="Shape 13"/>
          <p:cNvSpPr/>
          <p:nvPr/>
        </p:nvSpPr>
        <p:spPr>
          <a:xfrm>
            <a:off x="4343400" y="2852928"/>
            <a:ext cx="7159752" cy="685800"/>
          </a:xfrm>
          <a:prstGeom prst="roundRect">
            <a:avLst>
              <a:gd name="adj" fmla="val 13333"/>
            </a:avLst>
          </a:prstGeom>
          <a:solidFill>
            <a:srgbClr val="151D2C"/>
          </a:solidFill>
          <a:ln w="12700">
            <a:solidFill>
              <a:srgbClr val="232D42"/>
            </a:solidFill>
            <a:prstDash val="solid"/>
          </a:ln>
        </p:spPr>
      </p:sp>
      <p:sp>
        <p:nvSpPr>
          <p:cNvPr id="17" name="Text 14"/>
          <p:cNvSpPr/>
          <p:nvPr/>
        </p:nvSpPr>
        <p:spPr>
          <a:xfrm>
            <a:off x="9464040" y="3026664"/>
            <a:ext cx="1874520" cy="338328"/>
          </a:xfrm>
          <a:prstGeom prst="rect">
            <a:avLst/>
          </a:prstGeom>
          <a:noFill/>
          <a:ln/>
        </p:spPr>
        <p:txBody>
          <a:bodyPr wrap="square" lIns="0" tIns="0" rIns="0" bIns="0" rtlCol="0" anchor="ctr"/>
          <a:lstStyle/>
          <a:p>
            <a:pPr rtl="1" algn="r" indent="0" marL="0">
              <a:buNone/>
            </a:pPr>
            <a:r>
              <a:rPr lang="en-US" sz="1600" b="1" dirty="0">
                <a:solidFill>
                  <a:srgbClr val="DD8C58"/>
                </a:solidFill>
                <a:latin typeface="Tajawal" pitchFamily="34" charset="0"/>
                <a:ea typeface="Tajawal" pitchFamily="34" charset="-122"/>
                <a:cs typeface="Tajawal" pitchFamily="34" charset="-120"/>
              </a:rPr>
              <a:t>الترجمة</a:t>
            </a:r>
            <a:endParaRPr lang="en-US" sz="1600" dirty="0"/>
          </a:p>
        </p:txBody>
      </p:sp>
      <p:sp>
        <p:nvSpPr>
          <p:cNvPr id="18" name="Text 15"/>
          <p:cNvSpPr/>
          <p:nvPr/>
        </p:nvSpPr>
        <p:spPr>
          <a:xfrm>
            <a:off x="4553712" y="3044952"/>
            <a:ext cx="4709160" cy="310896"/>
          </a:xfrm>
          <a:prstGeom prst="rect">
            <a:avLst/>
          </a:prstGeom>
          <a:noFill/>
          <a:ln/>
        </p:spPr>
        <p:txBody>
          <a:bodyPr wrap="square" lIns="0" tIns="0" rIns="0" bIns="0" rtlCol="0" anchor="ctr"/>
          <a:lstStyle/>
          <a:p>
            <a:pPr rtl="1" algn="r" indent="0" marL="0">
              <a:buNone/>
            </a:pPr>
            <a:r>
              <a:rPr lang="en-US" sz="1250" dirty="0">
                <a:solidFill>
                  <a:srgbClr val="A2977F"/>
                </a:solidFill>
                <a:latin typeface="Tajawal" pitchFamily="34" charset="0"/>
                <a:ea typeface="Tajawal" pitchFamily="34" charset="-122"/>
                <a:cs typeface="Tajawal" pitchFamily="34" charset="-120"/>
              </a:rPr>
              <a:t>نقلنا كل قصة إلى تسع وعشرين لغة.</a:t>
            </a:r>
            <a:endParaRPr lang="en-US" sz="1250" dirty="0"/>
          </a:p>
        </p:txBody>
      </p:sp>
      <p:sp>
        <p:nvSpPr>
          <p:cNvPr id="19" name="Shape 16"/>
          <p:cNvSpPr/>
          <p:nvPr/>
        </p:nvSpPr>
        <p:spPr>
          <a:xfrm>
            <a:off x="4343400" y="3648456"/>
            <a:ext cx="7159752" cy="685800"/>
          </a:xfrm>
          <a:prstGeom prst="roundRect">
            <a:avLst>
              <a:gd name="adj" fmla="val 13333"/>
            </a:avLst>
          </a:prstGeom>
          <a:solidFill>
            <a:srgbClr val="151D2C"/>
          </a:solidFill>
          <a:ln w="12700">
            <a:solidFill>
              <a:srgbClr val="232D42"/>
            </a:solidFill>
            <a:prstDash val="solid"/>
          </a:ln>
        </p:spPr>
      </p:sp>
      <p:sp>
        <p:nvSpPr>
          <p:cNvPr id="20" name="Text 17"/>
          <p:cNvSpPr/>
          <p:nvPr/>
        </p:nvSpPr>
        <p:spPr>
          <a:xfrm>
            <a:off x="9464040" y="3822192"/>
            <a:ext cx="1874520" cy="338328"/>
          </a:xfrm>
          <a:prstGeom prst="rect">
            <a:avLst/>
          </a:prstGeom>
          <a:noFill/>
          <a:ln/>
        </p:spPr>
        <p:txBody>
          <a:bodyPr wrap="square" lIns="0" tIns="0" rIns="0" bIns="0" rtlCol="0" anchor="ctr"/>
          <a:lstStyle/>
          <a:p>
            <a:pPr rtl="1" algn="r" indent="0" marL="0">
              <a:buNone/>
            </a:pPr>
            <a:r>
              <a:rPr lang="en-US" sz="1600" b="1" dirty="0">
                <a:solidFill>
                  <a:srgbClr val="DD8C58"/>
                </a:solidFill>
                <a:latin typeface="Tajawal" pitchFamily="34" charset="0"/>
                <a:ea typeface="Tajawal" pitchFamily="34" charset="-122"/>
                <a:cs typeface="Tajawal" pitchFamily="34" charset="-120"/>
              </a:rPr>
              <a:t>الصوت</a:t>
            </a:r>
            <a:endParaRPr lang="en-US" sz="1600" dirty="0"/>
          </a:p>
        </p:txBody>
      </p:sp>
      <p:sp>
        <p:nvSpPr>
          <p:cNvPr id="21" name="Text 18"/>
          <p:cNvSpPr/>
          <p:nvPr/>
        </p:nvSpPr>
        <p:spPr>
          <a:xfrm>
            <a:off x="4553712" y="3840480"/>
            <a:ext cx="4709160" cy="310896"/>
          </a:xfrm>
          <a:prstGeom prst="rect">
            <a:avLst/>
          </a:prstGeom>
          <a:noFill/>
          <a:ln/>
        </p:spPr>
        <p:txBody>
          <a:bodyPr wrap="square" lIns="0" tIns="0" rIns="0" bIns="0" rtlCol="0" anchor="ctr"/>
          <a:lstStyle/>
          <a:p>
            <a:pPr rtl="1" algn="r" indent="0" marL="0">
              <a:buNone/>
            </a:pPr>
            <a:r>
              <a:rPr lang="en-US" sz="1250" dirty="0">
                <a:solidFill>
                  <a:srgbClr val="A2977F"/>
                </a:solidFill>
                <a:latin typeface="Tajawal" pitchFamily="34" charset="0"/>
                <a:ea typeface="Tajawal" pitchFamily="34" charset="-122"/>
                <a:cs typeface="Tajawal" pitchFamily="34" charset="-120"/>
              </a:rPr>
              <a:t>ولّدنا الرواية المسموعة بنماذج نطق مفتوحة، لكل لغة صوتها.</a:t>
            </a:r>
            <a:endParaRPr lang="en-US" sz="1250" dirty="0"/>
          </a:p>
        </p:txBody>
      </p:sp>
      <p:sp>
        <p:nvSpPr>
          <p:cNvPr id="22" name="Shape 19"/>
          <p:cNvSpPr/>
          <p:nvPr/>
        </p:nvSpPr>
        <p:spPr>
          <a:xfrm>
            <a:off x="4343400" y="4443984"/>
            <a:ext cx="7159752" cy="685800"/>
          </a:xfrm>
          <a:prstGeom prst="roundRect">
            <a:avLst>
              <a:gd name="adj" fmla="val 13333"/>
            </a:avLst>
          </a:prstGeom>
          <a:solidFill>
            <a:srgbClr val="151D2C"/>
          </a:solidFill>
          <a:ln w="12700">
            <a:solidFill>
              <a:srgbClr val="232D42"/>
            </a:solidFill>
            <a:prstDash val="solid"/>
          </a:ln>
        </p:spPr>
      </p:sp>
      <p:sp>
        <p:nvSpPr>
          <p:cNvPr id="23" name="Text 20"/>
          <p:cNvSpPr/>
          <p:nvPr/>
        </p:nvSpPr>
        <p:spPr>
          <a:xfrm>
            <a:off x="9464040" y="4617720"/>
            <a:ext cx="1874520" cy="338328"/>
          </a:xfrm>
          <a:prstGeom prst="rect">
            <a:avLst/>
          </a:prstGeom>
          <a:noFill/>
          <a:ln/>
        </p:spPr>
        <p:txBody>
          <a:bodyPr wrap="square" lIns="0" tIns="0" rIns="0" bIns="0" rtlCol="0" anchor="ctr"/>
          <a:lstStyle/>
          <a:p>
            <a:pPr rtl="1" algn="r" indent="0" marL="0">
              <a:buNone/>
            </a:pPr>
            <a:r>
              <a:rPr lang="en-US" sz="1600" b="1" dirty="0">
                <a:solidFill>
                  <a:srgbClr val="DD8C58"/>
                </a:solidFill>
                <a:latin typeface="Tajawal" pitchFamily="34" charset="0"/>
                <a:ea typeface="Tajawal" pitchFamily="34" charset="-122"/>
                <a:cs typeface="Tajawal" pitchFamily="34" charset="-120"/>
              </a:rPr>
              <a:t>التعرّف</a:t>
            </a:r>
            <a:endParaRPr lang="en-US" sz="1600" dirty="0"/>
          </a:p>
        </p:txBody>
      </p:sp>
      <p:sp>
        <p:nvSpPr>
          <p:cNvPr id="24" name="Text 21"/>
          <p:cNvSpPr/>
          <p:nvPr/>
        </p:nvSpPr>
        <p:spPr>
          <a:xfrm>
            <a:off x="4553712" y="4636008"/>
            <a:ext cx="4709160" cy="310896"/>
          </a:xfrm>
          <a:prstGeom prst="rect">
            <a:avLst/>
          </a:prstGeom>
          <a:noFill/>
          <a:ln/>
        </p:spPr>
        <p:txBody>
          <a:bodyPr wrap="square" lIns="0" tIns="0" rIns="0" bIns="0" rtlCol="0" anchor="ctr"/>
          <a:lstStyle/>
          <a:p>
            <a:pPr rtl="1" algn="r" indent="0" marL="0">
              <a:buNone/>
            </a:pPr>
            <a:r>
              <a:rPr lang="en-US" sz="1250" dirty="0">
                <a:solidFill>
                  <a:srgbClr val="A2977F"/>
                </a:solidFill>
                <a:latin typeface="Tajawal" pitchFamily="34" charset="0"/>
                <a:ea typeface="Tajawal" pitchFamily="34" charset="-122"/>
                <a:cs typeface="Tajawal" pitchFamily="34" charset="-120"/>
              </a:rPr>
              <a:t>شغّلنا المسح داخل المتصفح نفسه: لا خادم ولا إنترنت.</a:t>
            </a:r>
            <a:endParaRPr lang="en-US" sz="1250" dirty="0"/>
          </a:p>
        </p:txBody>
      </p:sp>
      <p:sp>
        <p:nvSpPr>
          <p:cNvPr id="25" name="Shape 22"/>
          <p:cNvSpPr/>
          <p:nvPr/>
        </p:nvSpPr>
        <p:spPr>
          <a:xfrm>
            <a:off x="4343400" y="5239512"/>
            <a:ext cx="7159752" cy="685800"/>
          </a:xfrm>
          <a:prstGeom prst="roundRect">
            <a:avLst>
              <a:gd name="adj" fmla="val 13333"/>
            </a:avLst>
          </a:prstGeom>
          <a:solidFill>
            <a:srgbClr val="151D2C"/>
          </a:solidFill>
          <a:ln w="12700">
            <a:solidFill>
              <a:srgbClr val="232D42"/>
            </a:solidFill>
            <a:prstDash val="solid"/>
          </a:ln>
        </p:spPr>
      </p:sp>
      <p:sp>
        <p:nvSpPr>
          <p:cNvPr id="26" name="Text 23"/>
          <p:cNvSpPr/>
          <p:nvPr/>
        </p:nvSpPr>
        <p:spPr>
          <a:xfrm>
            <a:off x="9464040" y="5413248"/>
            <a:ext cx="1874520" cy="338328"/>
          </a:xfrm>
          <a:prstGeom prst="rect">
            <a:avLst/>
          </a:prstGeom>
          <a:noFill/>
          <a:ln/>
        </p:spPr>
        <p:txBody>
          <a:bodyPr wrap="square" lIns="0" tIns="0" rIns="0" bIns="0" rtlCol="0" anchor="ctr"/>
          <a:lstStyle/>
          <a:p>
            <a:pPr rtl="1" algn="r" indent="0" marL="0">
              <a:buNone/>
            </a:pPr>
            <a:r>
              <a:rPr lang="en-US" sz="1600" b="1" dirty="0">
                <a:solidFill>
                  <a:srgbClr val="DD8C58"/>
                </a:solidFill>
                <a:latin typeface="Tajawal" pitchFamily="34" charset="0"/>
                <a:ea typeface="Tajawal" pitchFamily="34" charset="-122"/>
                <a:cs typeface="Tajawal" pitchFamily="34" charset="-120"/>
              </a:rPr>
              <a:t>التعلّم</a:t>
            </a:r>
            <a:endParaRPr lang="en-US" sz="1600" dirty="0"/>
          </a:p>
        </p:txBody>
      </p:sp>
      <p:sp>
        <p:nvSpPr>
          <p:cNvPr id="27" name="Text 24"/>
          <p:cNvSpPr/>
          <p:nvPr/>
        </p:nvSpPr>
        <p:spPr>
          <a:xfrm>
            <a:off x="4553712" y="5431536"/>
            <a:ext cx="4709160" cy="310896"/>
          </a:xfrm>
          <a:prstGeom prst="rect">
            <a:avLst/>
          </a:prstGeom>
          <a:noFill/>
          <a:ln/>
        </p:spPr>
        <p:txBody>
          <a:bodyPr wrap="square" lIns="0" tIns="0" rIns="0" bIns="0" rtlCol="0" anchor="ctr"/>
          <a:lstStyle/>
          <a:p>
            <a:pPr rtl="1" algn="r" indent="0" marL="0">
              <a:buNone/>
            </a:pPr>
            <a:r>
              <a:rPr lang="en-US" sz="1250" dirty="0">
                <a:solidFill>
                  <a:srgbClr val="A2977F"/>
                </a:solidFill>
                <a:latin typeface="Tajawal" pitchFamily="34" charset="0"/>
                <a:ea typeface="Tajawal" pitchFamily="34" charset="-122"/>
                <a:cs typeface="Tajawal" pitchFamily="34" charset="-120"/>
              </a:rPr>
              <a:t>أضفنا تصحيح السائح، فصار يتحسن كلما استعمله أحد.</a:t>
            </a:r>
            <a:endParaRPr lang="en-US" sz="12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xmlns:p14="http://schemas.microsoft.com/office/powerpoint/2010/main" spd="slow" p14:dur="90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F17"/>
        </a:solidFill>
      </p:bgPr>
    </p:bg>
    <p:spTree>
      <p:nvGrpSpPr>
        <p:cNvPr id="1" name=""/>
        <p:cNvGrpSpPr/>
        <p:nvPr/>
      </p:nvGrpSpPr>
      <p:grpSpPr>
        <a:xfrm>
          <a:off x="0" y="0"/>
          <a:ext cx="0" cy="0"/>
          <a:chOff x="0" y="0"/>
          <a:chExt cx="0" cy="0"/>
        </a:xfrm>
      </p:grpSpPr>
      <p:sp>
        <p:nvSpPr>
          <p:cNvPr id="2" name="!!wordmark"/>
          <p:cNvSpPr/>
          <p:nvPr/>
        </p:nvSpPr>
        <p:spPr>
          <a:xfrm>
            <a:off x="6400800" y="914400"/>
            <a:ext cx="5148072" cy="1463040"/>
          </a:xfrm>
          <a:prstGeom prst="rect">
            <a:avLst/>
          </a:prstGeom>
          <a:noFill/>
          <a:ln/>
        </p:spPr>
        <p:txBody>
          <a:bodyPr wrap="square" lIns="0" tIns="0" rIns="0" bIns="0" rtlCol="0" anchor="ctr"/>
          <a:lstStyle/>
          <a:p>
            <a:pPr rtl="1" algn="r" indent="0" marL="0">
              <a:buNone/>
            </a:pPr>
            <a:r>
              <a:rPr lang="en-US" sz="9200" b="1" dirty="0">
                <a:solidFill>
                  <a:srgbClr val="C97A4A"/>
                </a:solidFill>
                <a:latin typeface="Reem Kufi" pitchFamily="34" charset="0"/>
                <a:ea typeface="Reem Kufi" pitchFamily="34" charset="-122"/>
                <a:cs typeface="Reem Kufi" pitchFamily="34" charset="-120"/>
              </a:rPr>
              <a:t>أثر</a:t>
            </a:r>
            <a:endParaRPr lang="en-US" sz="9200" dirty="0"/>
          </a:p>
        </p:txBody>
      </p:sp>
      <p:sp>
        <p:nvSpPr>
          <p:cNvPr id="3" name="Text 1"/>
          <p:cNvSpPr/>
          <p:nvPr/>
        </p:nvSpPr>
        <p:spPr>
          <a:xfrm>
            <a:off x="4480560" y="2542032"/>
            <a:ext cx="7068312" cy="640080"/>
          </a:xfrm>
          <a:prstGeom prst="rect">
            <a:avLst/>
          </a:prstGeom>
          <a:noFill/>
          <a:ln/>
        </p:spPr>
        <p:txBody>
          <a:bodyPr wrap="square" lIns="0" tIns="0" rIns="0" bIns="0" rtlCol="0" anchor="ctr"/>
          <a:lstStyle/>
          <a:p>
            <a:pPr rtl="1" algn="r" indent="0" marL="0">
              <a:buNone/>
            </a:pPr>
            <a:r>
              <a:rPr lang="en-US" sz="3200" b="1" dirty="0">
                <a:solidFill>
                  <a:srgbClr val="E8DCC8"/>
                </a:solidFill>
                <a:latin typeface="Tajawal" pitchFamily="34" charset="0"/>
                <a:ea typeface="Tajawal" pitchFamily="34" charset="-122"/>
                <a:cs typeface="Tajawal" pitchFamily="34" charset="-120"/>
              </a:rPr>
              <a:t>جرّبه على جوالك</a:t>
            </a:r>
            <a:endParaRPr lang="en-US" sz="3200" dirty="0"/>
          </a:p>
        </p:txBody>
      </p:sp>
      <p:sp>
        <p:nvSpPr>
          <p:cNvPr id="4" name="Text 2"/>
          <p:cNvSpPr/>
          <p:nvPr/>
        </p:nvSpPr>
        <p:spPr>
          <a:xfrm>
            <a:off x="4480560" y="3200400"/>
            <a:ext cx="7068312" cy="502920"/>
          </a:xfrm>
          <a:prstGeom prst="rect">
            <a:avLst/>
          </a:prstGeom>
          <a:noFill/>
          <a:ln/>
        </p:spPr>
        <p:txBody>
          <a:bodyPr wrap="square" lIns="0" tIns="0" rIns="0" bIns="0" rtlCol="0" anchor="ctr"/>
          <a:lstStyle/>
          <a:p>
            <a:pPr algn="r" indent="0" marL="0">
              <a:buNone/>
            </a:pPr>
            <a:r>
              <a:rPr lang="en-US" sz="2000" dirty="0">
                <a:solidFill>
                  <a:srgbClr val="DD8C58"/>
                </a:solidFill>
                <a:latin typeface="Calibri" pitchFamily="34" charset="0"/>
                <a:ea typeface="Calibri" pitchFamily="34" charset="-122"/>
                <a:cs typeface="Calibri" pitchFamily="34" charset="-120"/>
              </a:rPr>
              <a:t>w-electro.github.io/athr</a:t>
            </a:r>
            <a:endParaRPr lang="en-US" sz="2000" dirty="0"/>
          </a:p>
        </p:txBody>
      </p:sp>
      <p:sp>
        <p:nvSpPr>
          <p:cNvPr id="5" name="Text 3"/>
          <p:cNvSpPr/>
          <p:nvPr/>
        </p:nvSpPr>
        <p:spPr>
          <a:xfrm>
            <a:off x="4480560" y="3749040"/>
            <a:ext cx="7068312" cy="457200"/>
          </a:xfrm>
          <a:prstGeom prst="rect">
            <a:avLst/>
          </a:prstGeom>
          <a:noFill/>
          <a:ln/>
        </p:spPr>
        <p:txBody>
          <a:bodyPr wrap="square" lIns="0" tIns="0" rIns="0" bIns="0" rtlCol="0" anchor="ctr"/>
          <a:lstStyle/>
          <a:p>
            <a:pPr rtl="1" algn="r" indent="0" marL="0">
              <a:buNone/>
            </a:pPr>
            <a:r>
              <a:rPr lang="en-US" sz="1400" dirty="0">
                <a:solidFill>
                  <a:srgbClr val="A2977F"/>
                </a:solidFill>
                <a:latin typeface="Tajawal" pitchFamily="34" charset="0"/>
                <a:ea typeface="Tajawal" pitchFamily="34" charset="-122"/>
                <a:cs typeface="Tajawal" pitchFamily="34" charset="-120"/>
              </a:rPr>
              <a:t>افتحه مرة واحدة على الشبكة، ثم يعمل والجوال في وضع الطيران</a:t>
            </a:r>
            <a:endParaRPr lang="en-US" sz="1400" dirty="0"/>
          </a:p>
        </p:txBody>
      </p:sp>
      <p:sp>
        <p:nvSpPr>
          <p:cNvPr id="6" name="Shape 4"/>
          <p:cNvSpPr/>
          <p:nvPr/>
        </p:nvSpPr>
        <p:spPr>
          <a:xfrm>
            <a:off x="9265615" y="4434840"/>
            <a:ext cx="2240280" cy="1234440"/>
          </a:xfrm>
          <a:prstGeom prst="roundRect">
            <a:avLst>
              <a:gd name="adj" fmla="val 7407"/>
            </a:avLst>
          </a:prstGeom>
          <a:solidFill>
            <a:srgbClr val="151D2C"/>
          </a:solidFill>
          <a:ln w="12700">
            <a:solidFill>
              <a:srgbClr val="232D42"/>
            </a:solidFill>
            <a:prstDash val="solid"/>
          </a:ln>
        </p:spPr>
      </p:sp>
      <p:sp>
        <p:nvSpPr>
          <p:cNvPr id="7" name="Text 5"/>
          <p:cNvSpPr/>
          <p:nvPr/>
        </p:nvSpPr>
        <p:spPr>
          <a:xfrm>
            <a:off x="9466783" y="4617720"/>
            <a:ext cx="1828800" cy="384048"/>
          </a:xfrm>
          <a:prstGeom prst="rect">
            <a:avLst/>
          </a:prstGeom>
          <a:noFill/>
          <a:ln/>
        </p:spPr>
        <p:txBody>
          <a:bodyPr wrap="square" lIns="0" tIns="0" rIns="0" bIns="0" rtlCol="0" anchor="ctr"/>
          <a:lstStyle/>
          <a:p>
            <a:pPr rtl="1" algn="r" indent="0" marL="0">
              <a:buNone/>
            </a:pPr>
            <a:r>
              <a:rPr lang="en-US" sz="1600" b="1" dirty="0">
                <a:solidFill>
                  <a:srgbClr val="DD8C58"/>
                </a:solidFill>
                <a:latin typeface="Tajawal" pitchFamily="34" charset="0"/>
                <a:ea typeface="Tajawal" pitchFamily="34" charset="-122"/>
                <a:cs typeface="Tajawal" pitchFamily="34" charset="-120"/>
              </a:rPr>
              <a:t>بدون إنترنت</a:t>
            </a:r>
            <a:endParaRPr lang="en-US" sz="1600" dirty="0"/>
          </a:p>
        </p:txBody>
      </p:sp>
      <p:sp>
        <p:nvSpPr>
          <p:cNvPr id="8" name="Text 6"/>
          <p:cNvSpPr/>
          <p:nvPr/>
        </p:nvSpPr>
        <p:spPr>
          <a:xfrm>
            <a:off x="9466783" y="5038344"/>
            <a:ext cx="1828800" cy="457200"/>
          </a:xfrm>
          <a:prstGeom prst="rect">
            <a:avLst/>
          </a:prstGeom>
          <a:noFill/>
          <a:ln/>
        </p:spPr>
        <p:txBody>
          <a:bodyPr wrap="square" lIns="0" tIns="0" rIns="0" bIns="0" rtlCol="0" anchor="ctr"/>
          <a:lstStyle/>
          <a:p>
            <a:pPr rtl="1" algn="r" indent="0" marL="0">
              <a:lnSpc>
                <a:spcPts val="1600"/>
              </a:lnSpc>
              <a:buNone/>
            </a:pPr>
            <a:r>
              <a:rPr lang="en-US" sz="1200" dirty="0">
                <a:solidFill>
                  <a:srgbClr val="A2977F"/>
                </a:solidFill>
                <a:latin typeface="Tajawal" pitchFamily="34" charset="0"/>
                <a:ea typeface="Tajawal" pitchFamily="34" charset="-122"/>
                <a:cs typeface="Tajawal" pitchFamily="34" charset="-120"/>
              </a:rPr>
              <a:t>النموذج داخل الجوال</a:t>
            </a:r>
            <a:endParaRPr lang="en-US" sz="1200" dirty="0"/>
          </a:p>
        </p:txBody>
      </p:sp>
      <p:sp>
        <p:nvSpPr>
          <p:cNvPr id="9" name="Shape 7"/>
          <p:cNvSpPr/>
          <p:nvPr/>
        </p:nvSpPr>
        <p:spPr>
          <a:xfrm>
            <a:off x="6851599" y="4434840"/>
            <a:ext cx="2240280" cy="1234440"/>
          </a:xfrm>
          <a:prstGeom prst="roundRect">
            <a:avLst>
              <a:gd name="adj" fmla="val 7407"/>
            </a:avLst>
          </a:prstGeom>
          <a:solidFill>
            <a:srgbClr val="151D2C"/>
          </a:solidFill>
          <a:ln w="12700">
            <a:solidFill>
              <a:srgbClr val="232D42"/>
            </a:solidFill>
            <a:prstDash val="solid"/>
          </a:ln>
        </p:spPr>
      </p:sp>
      <p:sp>
        <p:nvSpPr>
          <p:cNvPr id="10" name="Text 8"/>
          <p:cNvSpPr/>
          <p:nvPr/>
        </p:nvSpPr>
        <p:spPr>
          <a:xfrm>
            <a:off x="7052767" y="4617720"/>
            <a:ext cx="1828800" cy="384048"/>
          </a:xfrm>
          <a:prstGeom prst="rect">
            <a:avLst/>
          </a:prstGeom>
          <a:noFill/>
          <a:ln/>
        </p:spPr>
        <p:txBody>
          <a:bodyPr wrap="square" lIns="0" tIns="0" rIns="0" bIns="0" rtlCol="0" anchor="ctr"/>
          <a:lstStyle/>
          <a:p>
            <a:pPr rtl="1" algn="r" indent="0" marL="0">
              <a:buNone/>
            </a:pPr>
            <a:r>
              <a:rPr lang="en-US" sz="1600" b="1" dirty="0">
                <a:solidFill>
                  <a:srgbClr val="DD8C58"/>
                </a:solidFill>
                <a:latin typeface="Tajawal" pitchFamily="34" charset="0"/>
                <a:ea typeface="Tajawal" pitchFamily="34" charset="-122"/>
                <a:cs typeface="Tajawal" pitchFamily="34" charset="-120"/>
              </a:rPr>
              <a:t>٢٩ لغة</a:t>
            </a:r>
            <a:endParaRPr lang="en-US" sz="1600" dirty="0"/>
          </a:p>
        </p:txBody>
      </p:sp>
      <p:sp>
        <p:nvSpPr>
          <p:cNvPr id="11" name="Text 9"/>
          <p:cNvSpPr/>
          <p:nvPr/>
        </p:nvSpPr>
        <p:spPr>
          <a:xfrm>
            <a:off x="7052767" y="5038344"/>
            <a:ext cx="1828800" cy="457200"/>
          </a:xfrm>
          <a:prstGeom prst="rect">
            <a:avLst/>
          </a:prstGeom>
          <a:noFill/>
          <a:ln/>
        </p:spPr>
        <p:txBody>
          <a:bodyPr wrap="square" lIns="0" tIns="0" rIns="0" bIns="0" rtlCol="0" anchor="ctr"/>
          <a:lstStyle/>
          <a:p>
            <a:pPr rtl="1" algn="r" indent="0" marL="0">
              <a:lnSpc>
                <a:spcPts val="1600"/>
              </a:lnSpc>
              <a:buNone/>
            </a:pPr>
            <a:r>
              <a:rPr lang="en-US" sz="1200" dirty="0">
                <a:solidFill>
                  <a:srgbClr val="A2977F"/>
                </a:solidFill>
                <a:latin typeface="Tajawal" pitchFamily="34" charset="0"/>
                <a:ea typeface="Tajawal" pitchFamily="34" charset="-122"/>
                <a:cs typeface="Tajawal" pitchFamily="34" charset="-120"/>
              </a:rPr>
              <a:t>لكل سائح لغته</a:t>
            </a:r>
            <a:endParaRPr lang="en-US" sz="1200" dirty="0"/>
          </a:p>
        </p:txBody>
      </p:sp>
      <p:sp>
        <p:nvSpPr>
          <p:cNvPr id="12" name="Shape 10"/>
          <p:cNvSpPr/>
          <p:nvPr/>
        </p:nvSpPr>
        <p:spPr>
          <a:xfrm>
            <a:off x="4437583" y="4434840"/>
            <a:ext cx="2240280" cy="1234440"/>
          </a:xfrm>
          <a:prstGeom prst="roundRect">
            <a:avLst>
              <a:gd name="adj" fmla="val 7407"/>
            </a:avLst>
          </a:prstGeom>
          <a:solidFill>
            <a:srgbClr val="151D2C"/>
          </a:solidFill>
          <a:ln w="12700">
            <a:solidFill>
              <a:srgbClr val="232D42"/>
            </a:solidFill>
            <a:prstDash val="solid"/>
          </a:ln>
        </p:spPr>
      </p:sp>
      <p:sp>
        <p:nvSpPr>
          <p:cNvPr id="13" name="Text 11"/>
          <p:cNvSpPr/>
          <p:nvPr/>
        </p:nvSpPr>
        <p:spPr>
          <a:xfrm>
            <a:off x="4638751" y="4617720"/>
            <a:ext cx="1828800" cy="384048"/>
          </a:xfrm>
          <a:prstGeom prst="rect">
            <a:avLst/>
          </a:prstGeom>
          <a:noFill/>
          <a:ln/>
        </p:spPr>
        <p:txBody>
          <a:bodyPr wrap="square" lIns="0" tIns="0" rIns="0" bIns="0" rtlCol="0" anchor="ctr"/>
          <a:lstStyle/>
          <a:p>
            <a:pPr rtl="1" algn="r" indent="0" marL="0">
              <a:buNone/>
            </a:pPr>
            <a:r>
              <a:rPr lang="en-US" sz="1600" b="1" dirty="0">
                <a:solidFill>
                  <a:srgbClr val="DD8C58"/>
                </a:solidFill>
                <a:latin typeface="Tajawal" pitchFamily="34" charset="0"/>
                <a:ea typeface="Tajawal" pitchFamily="34" charset="-122"/>
                <a:cs typeface="Tajawal" pitchFamily="34" charset="-120"/>
              </a:rPr>
              <a:t>يتعلّم</a:t>
            </a:r>
            <a:endParaRPr lang="en-US" sz="1600" dirty="0"/>
          </a:p>
        </p:txBody>
      </p:sp>
      <p:sp>
        <p:nvSpPr>
          <p:cNvPr id="14" name="Text 12"/>
          <p:cNvSpPr/>
          <p:nvPr/>
        </p:nvSpPr>
        <p:spPr>
          <a:xfrm>
            <a:off x="4638751" y="5038344"/>
            <a:ext cx="1828800" cy="457200"/>
          </a:xfrm>
          <a:prstGeom prst="rect">
            <a:avLst/>
          </a:prstGeom>
          <a:noFill/>
          <a:ln/>
        </p:spPr>
        <p:txBody>
          <a:bodyPr wrap="square" lIns="0" tIns="0" rIns="0" bIns="0" rtlCol="0" anchor="ctr"/>
          <a:lstStyle/>
          <a:p>
            <a:pPr rtl="1" algn="r" indent="0" marL="0">
              <a:lnSpc>
                <a:spcPts val="1600"/>
              </a:lnSpc>
              <a:buNone/>
            </a:pPr>
            <a:r>
              <a:rPr lang="en-US" sz="1200" dirty="0">
                <a:solidFill>
                  <a:srgbClr val="A2977F"/>
                </a:solidFill>
                <a:latin typeface="Tajawal" pitchFamily="34" charset="0"/>
                <a:ea typeface="Tajawal" pitchFamily="34" charset="-122"/>
                <a:cs typeface="Tajawal" pitchFamily="34" charset="-120"/>
              </a:rPr>
              <a:t>يقوى بكل تصحيح</a:t>
            </a:r>
            <a:endParaRPr lang="en-US" sz="1200" dirty="0"/>
          </a:p>
        </p:txBody>
      </p:sp>
      <p:sp>
        <p:nvSpPr>
          <p:cNvPr id="15" name="Shape 13"/>
          <p:cNvSpPr/>
          <p:nvPr/>
        </p:nvSpPr>
        <p:spPr>
          <a:xfrm>
            <a:off x="685800" y="1371600"/>
            <a:ext cx="3383280" cy="3383280"/>
          </a:xfrm>
          <a:prstGeom prst="roundRect">
            <a:avLst>
              <a:gd name="adj" fmla="val 2703"/>
            </a:avLst>
          </a:prstGeom>
          <a:solidFill>
            <a:srgbClr val="FFFFFF"/>
          </a:solidFill>
          <a:ln w="12700">
            <a:solidFill>
              <a:srgbClr val="232D42"/>
            </a:solidFill>
            <a:prstDash val="solid"/>
          </a:ln>
        </p:spPr>
      </p:sp>
      <p:pic>
        <p:nvPicPr>
          <p:cNvPr id="16" name="Image 0" descr="preencoded.png">    </p:cNvPr>
          <p:cNvPicPr>
            <a:picLocks noChangeAspect="1"/>
          </p:cNvPicPr>
          <p:nvPr/>
        </p:nvPicPr>
        <p:blipFill>
          <a:blip r:embed="rId1"/>
          <a:stretch>
            <a:fillRect/>
          </a:stretch>
        </p:blipFill>
        <p:spPr>
          <a:xfrm>
            <a:off x="1005840" y="1691640"/>
            <a:ext cx="2743200" cy="2743200"/>
          </a:xfrm>
          <a:prstGeom prst="rect">
            <a:avLst/>
          </a:prstGeom>
        </p:spPr>
      </p:pic>
      <p:sp>
        <p:nvSpPr>
          <p:cNvPr id="17" name="Text 14"/>
          <p:cNvSpPr/>
          <p:nvPr/>
        </p:nvSpPr>
        <p:spPr>
          <a:xfrm>
            <a:off x="685800" y="4846320"/>
            <a:ext cx="3383280" cy="365760"/>
          </a:xfrm>
          <a:prstGeom prst="rect">
            <a:avLst/>
          </a:prstGeom>
          <a:noFill/>
          <a:ln/>
        </p:spPr>
        <p:txBody>
          <a:bodyPr wrap="square" lIns="0" tIns="0" rIns="0" bIns="0" rtlCol="0" anchor="ctr"/>
          <a:lstStyle/>
          <a:p>
            <a:pPr rtl="1" algn="ctr" indent="0" marL="0">
              <a:buNone/>
            </a:pPr>
            <a:r>
              <a:rPr lang="en-US" sz="1400" dirty="0">
                <a:solidFill>
                  <a:srgbClr val="A2977F"/>
                </a:solidFill>
                <a:latin typeface="Tajawal" pitchFamily="34" charset="0"/>
                <a:ea typeface="Tajawal" pitchFamily="34" charset="-122"/>
                <a:cs typeface="Tajawal" pitchFamily="34" charset="-120"/>
              </a:rPr>
              <a:t>امسح الرمز</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xmlns:p14="http://schemas.microsoft.com/office/powerpoint/2010/main" spd="slow" p14:dur="900">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أثر</dc:title>
  <dc:subject>PptxGenJS Presentation</dc:subject>
  <dc:creator>أثر</dc:creator>
  <cp:lastModifiedBy>أثر</cp:lastModifiedBy>
  <cp:revision>1</cp:revision>
  <dcterms:created xsi:type="dcterms:W3CDTF">2026-09-30T06:12:17Z</dcterms:created>
  <dcterms:modified xsi:type="dcterms:W3CDTF">2026-09-30T06:12:17Z</dcterms:modified>
</cp:coreProperties>
</file>