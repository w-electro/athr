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جبة على بعد ساعة من حائل، وفيها نقوشٌ يبلغ 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ثبّت القيد مبكرًا: لا شبكة. عندها يبدو اختيار العمل بلا إنترنت ضرورةً لا استعراضًا.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مباشرةً على جوّالك.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سُئلت: لم نُدرّب الشبكة ولم نضبطها. نستعمل تمثيلات نموذجٍ أساسيّ ونبحث فيها — وهو ما تفعله محرّكات البحث البصريّ.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هي نقطة التميّز. قُلها بوضوح وامضِ — لا تُطِل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حيًّا: امسح، صحّح، امسح ثانيةً. عشر ثوانٍ يرون فيها التعلّم يقع. وإن سُئلت: النموذج غير بارامتري (k-NN)، وأوزان الشبكة لا تتغيّر — الذي يتغيّر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تكسب الثقة. أكثر الفرق تعرض الرقم الجميل وحده، وقولُ «قياسنا كذب وهكذا كشفناه» أثقل في الميزان.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المحكّمين جوّالك،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5394960" y="1417320"/>
            <a:ext cx="6126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C9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206240" y="3200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دليلٌ تراثيّ يعمل حيث يقع التراث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206240" y="3931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إنترنت · داخل الجوّال · بتسعٍ وعشرين لغة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2062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E6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هاكاثون أجا للذكاء الاصطناعي   ·   حائل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0280"/>
            <a:ext cx="4206240" cy="26700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زائرٌ يقف أمام نقش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شيء يقول له ما هو.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939735" y="2240280"/>
            <a:ext cx="3566160" cy="2514600"/>
          </a:xfrm>
          <a:prstGeom prst="roundRect">
            <a:avLst>
              <a:gd name="adj" fmla="val 3636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05495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لافتة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05495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اللوحات بلا تعريف، والصخرة لا تشرح نفسها.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236415" y="2240280"/>
            <a:ext cx="3566160" cy="2514600"/>
          </a:xfrm>
          <a:prstGeom prst="roundRect">
            <a:avLst>
              <a:gd name="adj" fmla="val 3636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175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مرشد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02175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المرشدون قليل، ولا أحد منهم يتكلّم لغة كلّ زائر.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3095" y="2240280"/>
            <a:ext cx="3566160" cy="2514600"/>
          </a:xfrm>
          <a:prstGeom prst="roundRect">
            <a:avLst>
              <a:gd name="adj" fmla="val 3636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8855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شبكة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98855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الموقع في الصحراء المفتوحة، فكلّ ما يعتمد على السحابة يسقط.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85800" y="52578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الحلّ السحابيّ هو الجواب البديهيّ — وهو الجواب الذي لا يعمل هنا.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 الكاميرا. واسمع القصّة.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2179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993179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99923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00200"/>
            <a:ext cx="1993179" cy="4160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60720" y="16459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760720" y="2066544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الكاميرا تمسح باستمرار وأنت تحرّك يدك — لا تحتاج لقطةً مثالية.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760720" y="27249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يتعرّف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760720" y="3145536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يسمّي اللوحة التي أمامك بعينها، لا «نقوشًا صخرية» فحسب.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760720" y="380390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اسمع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760720" y="422452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تُروى القصّة بلغتك، مسموعةً، ومعها تاريخ الموقع.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760720" y="489204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024128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٢٩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9006840" y="528523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77240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</a:t>
            </a:r>
            <a:endParaRPr lang="en-US" sz="3800" dirty="0"/>
          </a:p>
        </p:txBody>
      </p:sp>
      <p:sp>
        <p:nvSpPr>
          <p:cNvPr id="17" name="Text 13"/>
          <p:cNvSpPr/>
          <p:nvPr/>
        </p:nvSpPr>
        <p:spPr>
          <a:xfrm>
            <a:off x="6035040" y="52852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لوحات موثّقة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النموذج: DINOv3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349240" y="1600200"/>
            <a:ext cx="6172200" cy="4160520"/>
          </a:xfrm>
          <a:prstGeom prst="roundRect">
            <a:avLst>
              <a:gd name="adj" fmla="val 2198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715000" y="1920240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715000" y="256032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محوّلٌ بصريّ من Meta، دُرّب تدريبًا ذاتيَّ الإشراف على نحو مليارٍ وسبعمئة مليون صورة — بلا تسميةٍ بشرية واحدة.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5715000" y="361188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ويحوّل أيّ صورة إلى ٣٨٤ رقمًا — بصمةٌ عددية تتقارب فيها المتشابهات.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715000" y="448056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ونحن نستعمل تمثيلاته كما هي: نخزّن بصمات ٢٠١ صورةٍ مرجعية من تصويرنا الميداني، ونبحث عن أقربها.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1600200"/>
            <a:ext cx="4434840" cy="950976"/>
          </a:xfrm>
          <a:prstGeom prst="roundRect">
            <a:avLst>
              <a:gd name="adj" fmla="val 96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71907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يميّز الأمثلة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60120" y="2121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الصخرة بعينها لا صخرةً ما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2679192"/>
            <a:ext cx="4434840" cy="950976"/>
          </a:xfrm>
          <a:prstGeom prst="roundRect">
            <a:avLst>
              <a:gd name="adj" fmla="val 96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9806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تسميات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60120" y="320040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تعلّم الشكل والملمس دون معلّم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758184"/>
            <a:ext cx="4434840" cy="950976"/>
          </a:xfrm>
          <a:prstGeom prst="roundRect">
            <a:avLst>
              <a:gd name="adj" fmla="val 96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7705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٢١ مليون معامل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60120" y="42793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و٢٢ ميغابايت بعد التكميم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4837176"/>
            <a:ext cx="4434840" cy="950976"/>
          </a:xfrm>
          <a:prstGeom prst="roundRect">
            <a:avLst>
              <a:gd name="adj" fmla="val 961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9560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بلا ضبط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60120" y="53583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يرَ جبة قطّ، ويعرف لوحاتها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داخل الجوّال. كلّه.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خادم، ولا مفتاح واجهة، ولا إنترنت بعد أوّل تحميل.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835847" y="2286000"/>
            <a:ext cx="2670048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5847" y="2542032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٢٢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018727" y="345643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ميغابايت — النموذج كلّه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65215" y="2286000"/>
            <a:ext cx="2670048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65215" y="2542032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248095" y="345643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خوادم تُدار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4583" y="2286000"/>
            <a:ext cx="2670048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4583" y="2542032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477463" y="345643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تكلفة لكلّ زائر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3951" y="2286000"/>
            <a:ext cx="2670048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951" y="2542032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١٠٠٪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06831" y="345643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بلا اتّصال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4526280"/>
            <a:ext cx="10820095" cy="1325880"/>
          </a:xfrm>
          <a:prstGeom prst="roundRect">
            <a:avLst>
              <a:gd name="adj" fmla="val 6897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80060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المشاريع تتوقّف حين تتوقّف الشبكة، أو حين ينفد رصيد الواجهة. وهذا يعمل في وسط النفود — وتكلفته لزائرٍ واحد كتكلفته لمليون.</a:t>
            </a:r>
            <a:endParaRPr lang="en-US" sz="16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ويتعلّم — داخل الجهاز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تعلُّمٌ إشرافيّ بالأمثلة: كلّ تصحيحٍ مثالٌ مُعنون يدخل النموذج فيتغيّر قراره فورًا.</a:t>
            </a:r>
            <a:endParaRPr lang="en-US" sz="16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10512"/>
            <a:ext cx="1106424" cy="1682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40277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394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يمسح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60394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فيسمّي اللوحة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16249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6366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تصحّح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36366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تضغط «ليست هذه»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92221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338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512338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يُحفظ في جوّالك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681935" y="1965960"/>
            <a:ext cx="2103120" cy="1417320"/>
          </a:xfrm>
          <a:prstGeom prst="roundRect">
            <a:avLst>
              <a:gd name="adj" fmla="val 6452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83103" y="217627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يصيب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2883103" y="2670048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المسح التالي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355080" y="3657600"/>
            <a:ext cx="5166360" cy="2148840"/>
          </a:xfrm>
          <a:prstGeom prst="roundRect">
            <a:avLst>
              <a:gd name="adj" fmla="val 425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3886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يهمّ هذا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38912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كلّ الصور المرجعية من زيارةٍ ميدانية واحدة: يومٌ وجوّالٌ وإضاءةٌ واحدة. وتصحيحُ الزائر صورةٌ من يومٍ آخر وجهازٍ آخر — وهو ما ينقص الفهرس.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85800" y="3657600"/>
            <a:ext cx="5166360" cy="2148840"/>
          </a:xfrm>
          <a:prstGeom prst="roundRect">
            <a:avLst>
              <a:gd name="adj" fmla="val 425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5840" y="38862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ويتعلّم السلبيّ أيضًا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1005840" y="438912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صوّب على حاسوبك واضغط «ليست نقشًا أصلًا». فيصير الرفضُ جوابًا تعلّمه النظام من إنسان، لا عجزًا عن بلوغ عتبة.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قياسنا الأوّل كذب علينا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قال ٩٦٫٥٪، والصادق ٧٩٫٣٪ — وكشفُ السبب أثمنُ ما أنجزناه.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349240" y="2148840"/>
            <a:ext cx="6172200" cy="3017520"/>
          </a:xfrm>
          <a:prstGeom prst="roundRect">
            <a:avLst>
              <a:gd name="adj" fmla="val 303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15000" y="237744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قِيس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589520" y="2971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بترك واحدة — قياسٌ متساهل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15000" y="3355848"/>
            <a:ext cx="5074920" cy="310896"/>
          </a:xfrm>
          <a:prstGeom prst="roundRect">
            <a:avLst>
              <a:gd name="adj" fmla="val 20588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2622" y="3355848"/>
            <a:ext cx="4897298" cy="310896"/>
          </a:xfrm>
          <a:prstGeom prst="roundRect">
            <a:avLst>
              <a:gd name="adj" fmla="val 20588"/>
            </a:avLst>
          </a:prstGeom>
          <a:solidFill>
            <a:srgbClr val="6E67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9718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6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٩٦٫٥٪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89520" y="40233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صورةٌ جديدة — قياسٌ أمين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15000" y="4407408"/>
            <a:ext cx="5074920" cy="310896"/>
          </a:xfrm>
          <a:prstGeom prst="roundRect">
            <a:avLst>
              <a:gd name="adj" fmla="val 20588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5508" y="4407408"/>
            <a:ext cx="4024412" cy="310896"/>
          </a:xfrm>
          <a:prstGeom prst="roundRect">
            <a:avLst>
              <a:gd name="adj" fmla="val 20588"/>
            </a:avLst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40233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٧٩٫٣٪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2148840"/>
            <a:ext cx="4434840" cy="3017520"/>
          </a:xfrm>
          <a:prstGeom prst="roundRect">
            <a:avLst>
              <a:gd name="adj" fmla="val 3030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3774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العلّة التي وجدناها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60120" y="2880360"/>
            <a:ext cx="3886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الصور المرجعية كلّها من زيارةٍ واحدة، فالمتتابعتان شبه متطابقتين. فكان الاختبار يسأل: هل تطابق الصورةُ أختَها الملتقطة قبل ثانيتين؟</a:t>
            </a:r>
            <a:endParaRPr lang="en-US" sz="1350" dirty="0"/>
          </a:p>
          <a:p>
            <a:pPr rtl="1" algn="r" indent="0" marL="0">
              <a:lnSpc>
                <a:spcPts val="2200"/>
              </a:lnSpc>
              <a:buNone/>
            </a:pPr>
            <a:endParaRPr lang="en-US" sz="13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وذاك تسرّبُ بيانات. فأعدنا بناء طبقة القرار على الرقم الصادق.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85800" y="5440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i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 إجابة خاطئة على ٥٣ صورة رملٍ وسماء، و١٢٢ صورة مستقلّة لنقوشٍ أخرى في جبة.</a:t>
            </a:r>
            <a:endParaRPr lang="en-US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6400800" y="1051560"/>
            <a:ext cx="5148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800" b="1" dirty="0">
                <a:solidFill>
                  <a:srgbClr val="C9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</a:t>
            </a:r>
            <a:endParaRPr lang="en-US" sz="6800" dirty="0"/>
          </a:p>
        </p:txBody>
      </p:sp>
      <p:sp>
        <p:nvSpPr>
          <p:cNvPr id="3" name="Text 1"/>
          <p:cNvSpPr/>
          <p:nvPr/>
        </p:nvSpPr>
        <p:spPr>
          <a:xfrm>
            <a:off x="4480560" y="2377440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جرّبه على جوّالك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480560" y="3108960"/>
            <a:ext cx="7068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80560" y="365760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افتحه مرّةً على الشبكة، ثم يعمل والجوّال في وضع الطيران.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265615" y="438912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66783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إنترنت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66783" y="4992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 داخل الجوّال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1599" y="438912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2767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٢٩ لغة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2767" y="4992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لكلّ زائرٍ لسانه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7583" y="438912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8751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38751" y="4992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يقوى بكلّ تصحيح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137160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2743200" cy="2743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85800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امسح الرمز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480560" y="5852160"/>
            <a:ext cx="7068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E6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بُني لهاكاثون أجا للذكاء الاصطناعي  ·  حائل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هاكاثون أجا للذكاء الاصطناعي</dc:title>
  <dc:subject>PptxGenJS Presentation</dc:subject>
  <dc:creator>أثر</dc:creator>
  <cp:lastModifiedBy>أثر</cp:lastModifiedBy>
  <cp:revision>1</cp:revision>
  <dcterms:created xsi:type="dcterms:W3CDTF">2026-09-20T08:59:50Z</dcterms:created>
  <dcterms:modified xsi:type="dcterms:W3CDTF">2026-09-20T08:59:50Z</dcterms:modified>
</cp:coreProperties>
</file>